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7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943600" cy="5943600"/>
          </a:xfrm>
          <a:prstGeom prst="ellipse">
            <a:avLst/>
          </a:prstGeom>
          <a:solidFill>
            <a:srgbClr val="2F445B"/>
          </a:solidFill>
          <a:ln w="12700">
            <a:solidFill>
              <a:srgbClr val="2F44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566160"/>
            <a:ext cx="3840480" cy="3840480"/>
          </a:xfrm>
          <a:prstGeom prst="ellipse">
            <a:avLst/>
          </a:prstGeom>
          <a:solidFill>
            <a:srgbClr val="334A63"/>
          </a:solidFill>
          <a:ln w="12700">
            <a:solidFill>
              <a:srgbClr val="334A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920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C4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Red Hat OpenShift 백업 구축 ]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백업 정책안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3832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E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OpenShift Virtualization(OVE) VM · Container · eXperDB / eXperDB-Management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303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NetBackup Appliance 5270  |  NetBackup 11.0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85216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503920" y="64739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NetBackup Appliance 5270 · NetBackup 11.0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6002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39A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6733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백업 대상 및 기본 원칙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2103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자원 정의, 등급(RPO/RTO) 기준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16002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39A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7543800" y="16733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백업 아키텍처 및 사전 요구사항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2103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5270 Appliance · NKO · Data Mover · CSI Snapshot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297180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31546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39A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1965960" y="32278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리소스별 백업 방안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965960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OVE VM / Container / eXperDB / eXperDB-Management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297180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0" y="31546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39A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360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32278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백업 스케줄 및 보존 정책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543800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 표, 백업 윈도우, MSDP · 2차 복제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1520" y="45262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05840" y="47091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39A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1965960" y="47823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방안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1965960" y="5212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유형별 복구 시나리오 및 절차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09360" y="45262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0" y="47091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39A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3600" dirty="0"/>
          </a:p>
        </p:txBody>
      </p:sp>
      <p:sp>
        <p:nvSpPr>
          <p:cNvPr id="27" name="Text 25"/>
          <p:cNvSpPr txBox="1"/>
          <p:nvPr/>
        </p:nvSpPr>
        <p:spPr>
          <a:xfrm>
            <a:off x="7543800" y="47823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· 보안 및 검토 사항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7543800" y="5212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모니터링, 복구 훈련, 구축 전 확인 항목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백업 대상 및 기본 원칙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➢  백업 대상 자원 정의와 업무 등급별 목표 수준(RPO/RTO)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64739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NetBackup Appliance 5270 · NetBackup 11.0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749040"/>
                <a:gridCol w="2743200"/>
                <a:gridCol w="3410712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백업 단위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보호 방식(NetBackup 11.0)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OVE VM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OpenShift Virtualization 위의 VM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(Linux/Windows 업무 VM, eXperDB VM 포함)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VM이 속한 Namespace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(VM 리소스 + DataVolume/PVC)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Kubernetes 보호계획(Protection Plan)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CSI Snapshot → Backup from Snapshot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Container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 애플리케이션 Namespace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(Deployment, StatefulSet, Service, ConfigMap, Secret 등)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Namespace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(리소스 메타데이터 + PVC 데이터)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Kubernetes 보호계획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Label 기반 Intelligent Group 자동 보호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eXperDB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PostgreSQL 기반 eXperDB DBMS (VM 내 설치)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DB 클러스터(Base Backup) + WAL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VM 백업 + DB 레벨 백업 병행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(pg_basebackup/WAL → Standard 정책)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eXperDB-MS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eXperDB-Management (WebConsole · Agent · Repository DB)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Repository DB + 설정/설치 디렉터리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pg_dump + 파일 백업 (Standard 정책)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인프라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OCP etcd, NetBackup 카탈로그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etcd 스냅샷, NBU Catalog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etcd: 파일 백업 / Catalog: NBU Catalog 정책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572000"/>
            <a:ext cx="3630168" cy="1280160"/>
          </a:xfrm>
          <a:prstGeom prst="roundRect">
            <a:avLst>
              <a:gd name="adj" fmla="val 5714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475488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E39A14"/>
          </a:solidFill>
          <a:ln w="12700">
            <a:solidFill>
              <a:srgbClr val="E39A1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4754880"/>
            <a:ext cx="10058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Gold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783080" y="47548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DB · 대외 서비스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51937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RPO 1시간 / RTO 4시간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54864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eXperDB 운영, 핵심 업무 VM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279392" y="4572000"/>
            <a:ext cx="3630168" cy="1280160"/>
          </a:xfrm>
          <a:prstGeom prst="roundRect">
            <a:avLst>
              <a:gd name="adj" fmla="val 5714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62272" y="475488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4A5B6D"/>
          </a:solidFill>
          <a:ln w="12700">
            <a:solidFill>
              <a:srgbClr val="4A5B6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62272" y="4754880"/>
            <a:ext cx="10058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Silver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605272" y="47548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업무 VM · 컨테이너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4462272" y="51937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RPO 24시간 / RTO 8시간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462272" y="54864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업무 VM, Stateful 컨테이너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101584" y="4572000"/>
            <a:ext cx="3630168" cy="1280160"/>
          </a:xfrm>
          <a:prstGeom prst="roundRect">
            <a:avLst>
              <a:gd name="adj" fmla="val 5714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84464" y="475488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8A97A6"/>
          </a:solidFill>
          <a:ln w="12700">
            <a:solidFill>
              <a:srgbClr val="8A97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84464" y="4754880"/>
            <a:ext cx="10058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Bronze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9427464" y="47548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· 테스트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8284464" y="51937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RPO 24시간 / RTO 24시간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284464" y="54864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개발 VM, Stateless 컨테이너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등급별 RPO/RTO는 권고안이며 고객 협의 후 확정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백업 아키텍처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➢  NetBackup Appliance 5270(Primary/Media · MSDP) 중심의 통합 백업 구성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64739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NetBackup Appliance 5270 · NetBackup 11.0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852160" cy="4434840"/>
          </a:xfrm>
          <a:prstGeom prst="roundRect">
            <a:avLst>
              <a:gd name="adj" fmla="val 2062"/>
            </a:avLst>
          </a:prstGeom>
          <a:solidFill>
            <a:srgbClr val="FBEDEB"/>
          </a:solidFill>
          <a:ln w="12700">
            <a:solidFill>
              <a:srgbClr val="E4B3A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45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 Hat OpenShift Cluster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874520"/>
            <a:ext cx="23317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5875">
            <a:solidFill>
              <a:srgbClr val="E39A1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938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9A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netbackup namespace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68680" y="228600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FCF1DC"/>
          </a:solidFill>
          <a:ln w="12700">
            <a:solidFill>
              <a:srgbClr val="FCF1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2286000"/>
            <a:ext cx="19659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NetBackup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Kubernetes Operator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68680" y="2990088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FCF1DC"/>
          </a:solidFill>
          <a:ln w="12700">
            <a:solidFill>
              <a:srgbClr val="FCF1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2990088"/>
            <a:ext cx="19659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 Mover Pod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(백업 시 동적 생성)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1874520"/>
            <a:ext cx="2834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9D1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37560" y="1938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namespace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01568" y="2286000"/>
            <a:ext cx="1234440" cy="566928"/>
          </a:xfrm>
          <a:prstGeom prst="roundRect">
            <a:avLst>
              <a:gd name="adj" fmla="val 12903"/>
            </a:avLst>
          </a:prstGeom>
          <a:solidFill>
            <a:srgbClr val="E4ECF5"/>
          </a:solidFill>
          <a:ln w="12700">
            <a:solidFill>
              <a:srgbClr val="E4EC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01568" y="2286000"/>
            <a:ext cx="12344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OVE VM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(KubeVirt)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2286000"/>
            <a:ext cx="1234440" cy="566928"/>
          </a:xfrm>
          <a:prstGeom prst="roundRect">
            <a:avLst>
              <a:gd name="adj" fmla="val 12903"/>
            </a:avLst>
          </a:prstGeom>
          <a:solidFill>
            <a:srgbClr val="E4ECF5"/>
          </a:solidFill>
          <a:ln w="12700">
            <a:solidFill>
              <a:srgbClr val="E4EC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09160" y="2286000"/>
            <a:ext cx="12344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eXperDB VM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NBU Client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01568" y="2990088"/>
            <a:ext cx="1234440" cy="566928"/>
          </a:xfrm>
          <a:prstGeom prst="roundRect">
            <a:avLst>
              <a:gd name="adj" fmla="val 12903"/>
            </a:avLst>
          </a:prstGeom>
          <a:solidFill>
            <a:srgbClr val="E4ECF5"/>
          </a:solidFill>
          <a:ln w="12700">
            <a:solidFill>
              <a:srgbClr val="E4EC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01568" y="2990088"/>
            <a:ext cx="12344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Container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990088"/>
            <a:ext cx="1234440" cy="566928"/>
          </a:xfrm>
          <a:prstGeom prst="roundRect">
            <a:avLst>
              <a:gd name="adj" fmla="val 12903"/>
            </a:avLst>
          </a:prstGeom>
          <a:solidFill>
            <a:srgbClr val="E4ECF5"/>
          </a:solidFill>
          <a:ln w="12700">
            <a:solidFill>
              <a:srgbClr val="E4EC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09160" y="2990088"/>
            <a:ext cx="12344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eXperDB-MS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NBU Client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" y="4069080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E9E4F2"/>
          </a:solidFill>
          <a:ln w="12700">
            <a:solidFill>
              <a:srgbClr val="E9E4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4069080"/>
            <a:ext cx="53949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CSI 스토리지 (VolumeSnapshotClass) — PVC / DataVolume / VolumeSnapshot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5800" y="489204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4892040"/>
            <a:ext cx="2606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openshift-cnv (OpenShift Virtualization)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74720" y="489204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474720" y="4892040"/>
            <a:ext cx="2606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etcd 백업 (Bastion 서버 경유)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178040" y="1371600"/>
            <a:ext cx="2514600" cy="4434840"/>
          </a:xfrm>
          <a:prstGeom prst="roundRect">
            <a:avLst>
              <a:gd name="adj" fmla="val 3636"/>
            </a:avLst>
          </a:prstGeom>
          <a:solidFill>
            <a:srgbClr val="26374A"/>
          </a:solidFill>
          <a:ln w="12700">
            <a:solidFill>
              <a:srgbClr val="2637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269480" y="1508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NetBackup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Appliance 5270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360920" y="2286000"/>
            <a:ext cx="2148840" cy="685800"/>
          </a:xfrm>
          <a:prstGeom prst="roundRect">
            <a:avLst>
              <a:gd name="adj" fmla="val 10667"/>
            </a:avLst>
          </a:prstGeom>
          <a:solidFill>
            <a:srgbClr val="3A4F66"/>
          </a:solidFill>
          <a:ln w="12700">
            <a:solidFill>
              <a:srgbClr val="3A4F6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60920" y="2286000"/>
            <a:ext cx="21488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Primary Server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(카탈로그 · 정책 · Web UI)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60920" y="3136392"/>
            <a:ext cx="2148840" cy="685800"/>
          </a:xfrm>
          <a:prstGeom prst="roundRect">
            <a:avLst>
              <a:gd name="adj" fmla="val 10667"/>
            </a:avLst>
          </a:prstGeom>
          <a:solidFill>
            <a:srgbClr val="3A4F66"/>
          </a:solidFill>
          <a:ln w="12700">
            <a:solidFill>
              <a:srgbClr val="3A4F6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60920" y="3136392"/>
            <a:ext cx="21488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Media Server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60920" y="3986784"/>
            <a:ext cx="2148840" cy="685800"/>
          </a:xfrm>
          <a:prstGeom prst="roundRect">
            <a:avLst>
              <a:gd name="adj" fmla="val 10667"/>
            </a:avLst>
          </a:prstGeom>
          <a:solidFill>
            <a:srgbClr val="3A4F66"/>
          </a:solidFill>
          <a:ln w="12700">
            <a:solidFill>
              <a:srgbClr val="3A4F6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360920" y="3986784"/>
            <a:ext cx="21488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MSDP 스토리지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(중복제거 · 불변 스토리지)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360920" y="4837176"/>
            <a:ext cx="2148840" cy="685800"/>
          </a:xfrm>
          <a:prstGeom prst="roundRect">
            <a:avLst>
              <a:gd name="adj" fmla="val 10667"/>
            </a:avLst>
          </a:prstGeom>
          <a:solidFill>
            <a:srgbClr val="E39A14"/>
          </a:solidFill>
          <a:ln w="12700">
            <a:solidFill>
              <a:srgbClr val="E39A1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360920" y="4837176"/>
            <a:ext cx="21488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NetBackup 11.0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149840" y="2148840"/>
            <a:ext cx="1600200" cy="2834640"/>
          </a:xfrm>
          <a:prstGeom prst="roundRect">
            <a:avLst>
              <a:gd name="adj" fmla="val 4571"/>
            </a:avLst>
          </a:prstGeom>
          <a:solidFill>
            <a:srgbClr val="F6F8FA"/>
          </a:solidFill>
          <a:ln w="12700">
            <a:solidFill>
              <a:srgbClr val="C9D1DA"/>
            </a:solidFill>
            <a:prstDash val="dash"/>
          </a:ln>
        </p:spPr>
      </p:sp>
      <p:sp>
        <p:nvSpPr>
          <p:cNvPr id="41" name="Text 39"/>
          <p:cNvSpPr txBox="1"/>
          <p:nvPr/>
        </p:nvSpPr>
        <p:spPr>
          <a:xfrm>
            <a:off x="10195560" y="22402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사본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(선택)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10287000" y="283464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DR Appliance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(A.I.R 복제)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Tape / Cloud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(장기보존)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80760" y="2560320"/>
            <a:ext cx="1097280" cy="914"/>
          </a:xfrm>
          <a:prstGeom prst="line">
            <a:avLst/>
          </a:prstGeom>
          <a:noFill/>
          <a:ln w="22225">
            <a:solidFill>
              <a:srgbClr val="26374A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080760" y="3273552"/>
            <a:ext cx="1097280" cy="914"/>
          </a:xfrm>
          <a:prstGeom prst="line">
            <a:avLst/>
          </a:prstGeom>
          <a:noFill/>
          <a:ln w="22225">
            <a:solidFill>
              <a:srgbClr val="26374A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V="1">
            <a:off x="6080760" y="4754880"/>
            <a:ext cx="1097280" cy="411480"/>
          </a:xfrm>
          <a:prstGeom prst="line">
            <a:avLst/>
          </a:prstGeom>
          <a:noFill/>
          <a:ln w="22225">
            <a:solidFill>
              <a:srgbClr val="4A5B6D"/>
            </a:solidFill>
            <a:prstDash val="dash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9692640" y="3566160"/>
            <a:ext cx="457200" cy="914"/>
          </a:xfrm>
          <a:prstGeom prst="line">
            <a:avLst/>
          </a:prstGeom>
          <a:noFill/>
          <a:ln w="22225">
            <a:solidFill>
              <a:srgbClr val="4A5B6D"/>
            </a:solidFill>
            <a:prstDash val="dash"/>
            <a:tailEnd type="triangle"/>
          </a:ln>
        </p:spPr>
      </p:sp>
      <p:sp>
        <p:nvSpPr>
          <p:cNvPr id="47" name="Text 45"/>
          <p:cNvSpPr txBox="1"/>
          <p:nvPr/>
        </p:nvSpPr>
        <p:spPr>
          <a:xfrm>
            <a:off x="6144768" y="184708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3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K8s 백업 데이터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63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(Data Mover)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6144768" y="336499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3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Client 백업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63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(DB · 파일)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3246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SLP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57200" y="5989320"/>
            <a:ext cx="11274552" cy="384048"/>
          </a:xfrm>
          <a:prstGeom prst="roundRect">
            <a:avLst>
              <a:gd name="adj" fmla="val 14286"/>
            </a:avLst>
          </a:prstGeom>
          <a:solidFill>
            <a:srgbClr val="FCF1DC"/>
          </a:solidFill>
          <a:ln w="12700">
            <a:solidFill>
              <a:srgbClr val="FCF1D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94360" y="59893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백업 흐름: ① NKO가 PVC의 CSI 스냅샷 생성  ② Data Mover Pod가 스냅샷 데이터를 5270 MSDP로 전송  ③ SLP로 2차 사본 복제  ④ 보존기간 경과 시 자동 만료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 요소 및 사전 요구사항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➢  보호 대상별 NetBackup 구성 요소와 구축 전 준비 항목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64739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NetBackup Appliance 5270 · NetBackup 11.0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5788152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구성 요소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사전 요구사항 / 설정 항목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NetBackup Appliance 5270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Primary + Media 서버, MSDP 스토리지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NetBackup 11.0 기반 Appliance 소프트웨어 적용, MSDP 풀 구성, 불변(Immutable) 스토리지 설정 검토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NetBackup Kubernetes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Operator (NKO)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클러스터 자산 검색, 스냅샷 생성, 백업/복구 오케스트레이션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NetBackup 11.0과 동일 버전 NKO를 Helm/Operator로 배포, Primary 서버 인증서·토큰 등록, OCP 버전의 호환성 목록(SCL) 확인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Data Mover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스냅샷 데이터를 MSDP로 전송하는 임시 Pod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Data Mover 이미지 레지스트리 등록, OCP 노드 → 5270 통신 허용 (TCP 1556, 443, 13724 등)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CSI 스토리지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PVC / DataVolume 스냅샷 제공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CSI 드라이버의 스냅샷 지원, VolumeSnapshotClass 생성 및 StorageClass 매핑 (예: ODF, 스토리지 벤더 CSI)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OpenShift Virtualization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KubeVirt 기반 VM 실행 (openshift-cnv)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VM에 qemu-guest-agent 설치 → 스냅샷 시 파일시스템 freeze로 일관성 확보, VM은 백업 등급별 namespace 배치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NetBackup Client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eXperDB / eXperDB-MS 파일·DB 백업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VM 내 Linux Client 11.0 이하 버전 설치, bpstart_notify 스크립트 배치, 백업 스테이징 영역 확보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Bastion 서버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etcd 백업 수집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cluster-backup.sh 실행 후 산출물을 NetBackup Client로 백업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리소스별 백업 방안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➢  보호 대상별 백업 방안 · 목적 · 방법 · 보존 · 복구 요약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64739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NetBackup Appliance 5270 · NetBackup 11.0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532888"/>
                <a:gridCol w="2532888"/>
                <a:gridCol w="2532888"/>
                <a:gridCol w="2532888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OVE VM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Container 환경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eXperDB (DBMS)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eXperDB-Management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방안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Namespace 단위 VM 백업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(스냅샷 기반)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Namespace 단위 리소스 + PVC 백업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VM 백업 + DB 온라인 백업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(Base Backup + WAL)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Repository DB 논리 백업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설정 파일 백업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목적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VM OS · 디스크 전체 복구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애플리케이션 구성 및 영구 데이터 복구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DB 정합성 보장 및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시점 복구(PITR)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 서버 설정 · 이력 복구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백업 방법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· Kubernetes 보호계획 적용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· CSI 스냅샷 → Backup from Snapshot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· Label 기반 Intelligent Group으로 신규 VM 자동 보호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· Kubernetes 보호계획 적용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· 리소스 메타데이터 + PVC 데이터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· Stateless는 메타데이터 위주 백업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· pg_basebackup 일 1회 Full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· WAL 아카이브 1시간 주기 백업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· NBU Standard 정책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(bpstart_notify 연계)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· pg_dump 일 1회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· WebConsole/Agent 설정 디렉터리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· NBU Standard 정책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보존 주기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 일 35일 / 월 1년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개발 7일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 일 35일 / 월 1년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개발 7일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 35일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월말 Full 5년 (장기)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 35일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월말 1년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복구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동일/대체 namespace로 VM 전체 복구, PVC 단위 선택 복구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Namespace 전체, 리소스 · PVC 선택 복구, 대체 클러스터 복구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Base Backup 복원 후 WAL 재적용으로 지정 시점 복구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pg_restore로 Repository 복구, 설정 파일 원위치 복원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532120"/>
            <a:ext cx="11274552" cy="384048"/>
          </a:xfrm>
          <a:prstGeom prst="roundRect">
            <a:avLst>
              <a:gd name="adj" fmla="val 14286"/>
            </a:avLst>
          </a:prstGeom>
          <a:solidFill>
            <a:srgbClr val="FCF1DC"/>
          </a:solidFill>
          <a:ln w="12700">
            <a:solidFill>
              <a:srgbClr val="FCF1D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5532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eXperDB VM은 VM 백업(OS 복구용)과 DB 레벨 백업(데이터 정합성 · PITR용)을 반드시 병행 — VM 스냅샷만으로는 트랜잭션 정합성과 시점 복구를 보장할 수 없음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OVE VM 백업 정책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➢  Kubernetes 보호계획 기반 VM 백업 — Namespace 단위 보호, 스냅샷 후 MSDP 전송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64739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NetBackup Appliance 5270 · NetBackup 11.0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84048" cy="384048"/>
          </a:xfrm>
          <a:prstGeom prst="ellipse">
            <a:avLst/>
          </a:prstGeom>
          <a:solidFill>
            <a:srgbClr val="26374A"/>
          </a:solidFill>
          <a:ln w="12700">
            <a:solidFill>
              <a:srgbClr val="2637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371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클러스터 등록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700784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 UI &gt; Workloads &gt; Kubernetes에 OCP 클러스터 추가, NKO 연결 확인 및 자산 자동 검색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384048" cy="384048"/>
          </a:xfrm>
          <a:prstGeom prst="ellipse">
            <a:avLst/>
          </a:prstGeom>
          <a:solidFill>
            <a:srgbClr val="26374A"/>
          </a:solidFill>
          <a:ln w="12700">
            <a:solidFill>
              <a:srgbClr val="2637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2677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Namespace 설계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596896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VM을 백업 등급별 namespace에 배치 (예: vm-gold, vm-silver), label: backup-tier=gold 부여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273552"/>
            <a:ext cx="384048" cy="384048"/>
          </a:xfrm>
          <a:prstGeom prst="ellipse">
            <a:avLst/>
          </a:prstGeom>
          <a:solidFill>
            <a:srgbClr val="26374A"/>
          </a:solidFill>
          <a:ln w="12700">
            <a:solidFill>
              <a:srgbClr val="2637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16382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Intelligent Group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49300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label 조건으로 그룹 생성 → 신규 VM/namespace가 자동으로 보호 대상에 포함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384048" cy="384048"/>
          </a:xfrm>
          <a:prstGeom prst="ellipse">
            <a:avLst/>
          </a:prstGeom>
          <a:solidFill>
            <a:srgbClr val="26374A"/>
          </a:solidFill>
          <a:ln w="12700">
            <a:solidFill>
              <a:srgbClr val="2637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05993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보호계획 적용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438912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백업 유형 "Backup from Snapshot", 스케줄 · 보존 · 저장소(MSDP) 지정, Accelerator 적용 검토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5065776"/>
            <a:ext cx="384048" cy="384048"/>
          </a:xfrm>
          <a:prstGeom prst="ellipse">
            <a:avLst/>
          </a:prstGeom>
          <a:solidFill>
            <a:srgbClr val="E39A14"/>
          </a:solidFill>
          <a:ln w="12700">
            <a:solidFill>
              <a:srgbClr val="E39A1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5065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49560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정합성 확보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528523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VM에 qemu-guest-agent 설치 → 스냅샷 시 fs freeze/thaw, DB VM은 DB 레벨 백업 병행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13258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보호계획(Protection Plan) 설정안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737360"/>
          <a:ext cx="533095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267712"/>
                <a:gridCol w="182880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 (Gold/Silver)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개발 (Bronze)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보호 단위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Namespace (VM + DV/PVC)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Namespace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백업 유형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Backup from Snapshot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Backup from Snapshot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 백업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매일 22:00, 보존 35일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매일 22:00, 보존 7일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백업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월말 1회, 보존 1년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스냅샷 보존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최근 1개 (신속 복구용)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백업 후 삭제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저장소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5270 MSDP → SLP 2차 복제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5270 MSDP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제외 대상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임시 PVC, 스크래치 디스크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457200" y="5989320"/>
            <a:ext cx="11274552" cy="384048"/>
          </a:xfrm>
          <a:prstGeom prst="roundRect">
            <a:avLst>
              <a:gd name="adj" fmla="val 14286"/>
            </a:avLst>
          </a:prstGeom>
          <a:solidFill>
            <a:srgbClr val="FCF1DC"/>
          </a:solidFill>
          <a:ln w="12700">
            <a:solidFill>
              <a:srgbClr val="FCF1D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94360" y="59893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VM 보호는 VM이 속한 Namespace 단위로 수행되므로, 백업 등급 · 보존기간이 다른 VM은 서로 다른 namespace에 배치하는 것을 권장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Container 환경 백업 정책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➢  업무 Namespace 단위 리소스 + PVC 데이터 보호, Label 기반 자동 보호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64739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NetBackup Appliance 5270 · NetBackup 11.0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630168" cy="2743200"/>
          </a:xfrm>
          <a:prstGeom prst="roundRect">
            <a:avLst>
              <a:gd name="adj" fmla="val 2667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rgbClr val="26374A"/>
          </a:solidFill>
          <a:ln w="12700">
            <a:solidFill>
              <a:srgbClr val="2637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6002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Stateful 애플리케이션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194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PVC를 사용하는 StatefulSet, 메시지큐, 파일 저장소 등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74320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리소스 메타데이터 + PVC 데이터 백업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Backup from Snapshot, 일 1회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컨테이너는 앱 일관성 위해 사전 hook(덤프) 검토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79392" y="1371600"/>
            <a:ext cx="3630168" cy="2743200"/>
          </a:xfrm>
          <a:prstGeom prst="roundRect">
            <a:avLst>
              <a:gd name="adj" fmla="val 2667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07992" y="1600200"/>
            <a:ext cx="457200" cy="457200"/>
          </a:xfrm>
          <a:prstGeom prst="ellipse">
            <a:avLst/>
          </a:prstGeom>
          <a:solidFill>
            <a:srgbClr val="4A5B6D"/>
          </a:solidFill>
          <a:ln w="12700">
            <a:solidFill>
              <a:srgbClr val="4A5B6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07992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102352" y="16002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Stateless 애플리케이션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07992" y="2194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Deployment · Service · Route · ConfigMap · Secret 중심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07992" y="274320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리소스 메타데이터 위주 백업 (용량 작음)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1회 · 변경 배포 전 수동 백업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GitOps 사용 시 Git 저장소와 병행 관리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01584" y="1371600"/>
            <a:ext cx="3630168" cy="2743200"/>
          </a:xfrm>
          <a:prstGeom prst="roundRect">
            <a:avLst>
              <a:gd name="adj" fmla="val 2667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30184" y="1600200"/>
            <a:ext cx="457200" cy="457200"/>
          </a:xfrm>
          <a:prstGeom prst="ellipse">
            <a:avLst/>
          </a:prstGeom>
          <a:solidFill>
            <a:srgbClr val="E39A14"/>
          </a:solidFill>
          <a:ln w="12700">
            <a:solidFill>
              <a:srgbClr val="E39A1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30184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924544" y="16002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클러스터 구성 (etcd)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330184" y="2194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OCP 클러스터 상태 전체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330184" y="274320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Bastion에서 cluster-backup.sh 일 1회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산출물(snapshot · static pod 리소스)을 NBU Standard 정책으로 백업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보존 35일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43400"/>
          <a:ext cx="1127455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81151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설정안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 보호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namespace label "backup-policy=daily-35d" 기준 Intelligent Group → 신규 namespace 자동 편입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제외 설정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openshift-*, kube-* 등 시스템 namespace 제외 (etcd 백업으로 대체), 임시 PVC 제외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복구 옵션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Namespace 전체 / 특정 리소스 · PVC 선택 / 대체 namespace · 대체 클러스터 복구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eXperDB 백업 정책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➢  VM 백업(OS 복구) + DB 레벨 온라인 백업(Base Backup · WAL) 이중 보호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64739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NetBackup Appliance 5270 · NetBackup 11.0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E4ECF5"/>
          </a:solidFill>
          <a:ln w="12700">
            <a:solidFill>
              <a:srgbClr val="E4EC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00200"/>
            <a:ext cx="21488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eXperDB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(archive_mode=on)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37160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26374A"/>
          </a:solidFill>
          <a:ln w="12700">
            <a:solidFill>
              <a:srgbClr val="2637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0" y="1371600"/>
            <a:ext cx="23774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pg_basebackup (Full)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01:00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210312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4A5B6D"/>
          </a:solidFill>
          <a:ln w="12700">
            <a:solidFill>
              <a:srgbClr val="4A5B6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0" y="2103120"/>
            <a:ext cx="23774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archive_command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WAL 아카이브 (상시)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60020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1600200"/>
            <a:ext cx="21945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백업 스테이징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/backup/base, /backup/wal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961120" y="1600200"/>
            <a:ext cx="2770632" cy="868680"/>
          </a:xfrm>
          <a:prstGeom prst="roundRect">
            <a:avLst>
              <a:gd name="adj" fmla="val 8421"/>
            </a:avLst>
          </a:prstGeom>
          <a:solidFill>
            <a:srgbClr val="E39A14"/>
          </a:solidFill>
          <a:ln w="12700">
            <a:solidFill>
              <a:srgbClr val="E39A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61120" y="1600200"/>
            <a:ext cx="2770632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NBU Standard 정책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5270 MSDP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flipV="1">
            <a:off x="2606040" y="1691640"/>
            <a:ext cx="594360" cy="182880"/>
          </a:xfrm>
          <a:prstGeom prst="line">
            <a:avLst/>
          </a:prstGeom>
          <a:noFill/>
          <a:ln w="22225">
            <a:solidFill>
              <a:srgbClr val="4A5B6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606040" y="2194560"/>
            <a:ext cx="594360" cy="228600"/>
          </a:xfrm>
          <a:prstGeom prst="line">
            <a:avLst/>
          </a:prstGeom>
          <a:noFill/>
          <a:ln w="22225">
            <a:solidFill>
              <a:srgbClr val="4A5B6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577840" y="1691640"/>
            <a:ext cx="594360" cy="228600"/>
          </a:xfrm>
          <a:prstGeom prst="line">
            <a:avLst/>
          </a:prstGeom>
          <a:noFill/>
          <a:ln w="22225">
            <a:solidFill>
              <a:srgbClr val="4A5B6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V="1">
            <a:off x="5577840" y="2194560"/>
            <a:ext cx="594360" cy="228600"/>
          </a:xfrm>
          <a:prstGeom prst="line">
            <a:avLst/>
          </a:prstGeom>
          <a:noFill/>
          <a:ln w="22225">
            <a:solidFill>
              <a:srgbClr val="4A5B6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366760" y="2034540"/>
            <a:ext cx="594360" cy="914"/>
          </a:xfrm>
          <a:prstGeom prst="line">
            <a:avLst/>
          </a:prstGeom>
          <a:noFill/>
          <a:ln w="22225">
            <a:solidFill>
              <a:srgbClr val="4A5B6D"/>
            </a:solidFill>
            <a:prstDash val="solid"/>
            <a:tailEnd type="triangle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1127455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291840"/>
                <a:gridCol w="1325880"/>
                <a:gridCol w="1097280"/>
                <a:gridCol w="4279392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백업 방식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주기 / 시간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DB Full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pg_basebackup (tar, 비압축)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bpstart_notify로 실행 후 파일 백업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매일 01:00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MSDP 중복제거 효율을 위해 DB측 압축 비활성 권장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WAL 아카이브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archive_command로 스테이징 적재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→ NBU 증분 백업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1시간 주기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RPO 1시간 확보, 백업 후 스테이징 정리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장기 보존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월말 Full 백업본 별도 스케줄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매월 말일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감사 · 규정 대응, 2차 사본(테이프/클라우드) 보관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VM 백업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Kubernetes 보호계획 (OVE VM 정책 적용)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매일 22:00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OS · 엔진 · 설정 복구용 (crash-consistent)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수동 백업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패치 · 스키마 변경 전 즉시 백업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작업 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작업 후 30일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DBA 요청 시 Web UI 수동 실행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457200" y="5989320"/>
            <a:ext cx="11274552" cy="384048"/>
          </a:xfrm>
          <a:prstGeom prst="roundRect">
            <a:avLst>
              <a:gd name="adj" fmla="val 14286"/>
            </a:avLst>
          </a:prstGeom>
          <a:solidFill>
            <a:srgbClr val="FCF1DC"/>
          </a:solidFill>
          <a:ln w="12700">
            <a:solidFill>
              <a:srgbClr val="FCF1D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4360" y="59893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NetBackup 11.0 PostgreSQL 에이전트 정책은 eXperDB 공식 지원 여부 확인 후 적용 검토 (미지원 시 위 스크립트 연계 방식이 기본안)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eXperDB-Management 백업 정책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➢  통합 관리 서버의 Repository DB · WebConsole · Agent 설정 보호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64739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NetBackup Appliance 5270 · NetBackup 11.0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6583680" cy="1005840"/>
          </a:xfrm>
          <a:prstGeom prst="roundRect">
            <a:avLst>
              <a:gd name="adj" fmla="val 7273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82496"/>
            <a:ext cx="384048" cy="384048"/>
          </a:xfrm>
          <a:prstGeom prst="ellipse">
            <a:avLst/>
          </a:prstGeom>
          <a:solidFill>
            <a:srgbClr val="26374A"/>
          </a:solidFill>
          <a:ln w="12700">
            <a:solidFill>
              <a:srgbClr val="2637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4813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Repository DB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8288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백업 스케줄 · 접근제어 · 암호화 · 이력 정보를 저장하는 PostgreSQL DB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0" y="1371600"/>
            <a:ext cx="4416552" cy="1005840"/>
          </a:xfrm>
          <a:prstGeom prst="roundRect">
            <a:avLst>
              <a:gd name="adj" fmla="val 7273"/>
            </a:avLst>
          </a:prstGeom>
          <a:solidFill>
            <a:srgbClr val="E4ECF5"/>
          </a:solidFill>
          <a:ln w="12700">
            <a:solidFill>
              <a:srgbClr val="E4EC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0" y="1371600"/>
            <a:ext cx="4416552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pg_dump -Fc (논리 백업)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03:30 · 보존 35일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6583680" cy="1005840"/>
          </a:xfrm>
          <a:prstGeom prst="roundRect">
            <a:avLst>
              <a:gd name="adj" fmla="val 7273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71216"/>
            <a:ext cx="384048" cy="384048"/>
          </a:xfrm>
          <a:prstGeom prst="ellipse">
            <a:avLst/>
          </a:prstGeom>
          <a:solidFill>
            <a:srgbClr val="26374A"/>
          </a:solidFill>
          <a:ln w="12700">
            <a:solidFill>
              <a:srgbClr val="2637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6700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WebConsole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0175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Tomcat 기반 관리 웹 콘솔 (설치 디렉터리 · 설정 파일)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0" y="2560320"/>
            <a:ext cx="4416552" cy="1005840"/>
          </a:xfrm>
          <a:prstGeom prst="roundRect">
            <a:avLst>
              <a:gd name="adj" fmla="val 7273"/>
            </a:avLst>
          </a:prstGeom>
          <a:solidFill>
            <a:srgbClr val="E4ECF5"/>
          </a:solidFill>
          <a:ln w="12700">
            <a:solidFill>
              <a:srgbClr val="E4EC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0" y="2560320"/>
            <a:ext cx="4416552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백업 (Standard 정책)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· 보존 35일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6583680" cy="1005840"/>
          </a:xfrm>
          <a:prstGeom prst="roundRect">
            <a:avLst>
              <a:gd name="adj" fmla="val 7273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059936"/>
            <a:ext cx="384048" cy="384048"/>
          </a:xfrm>
          <a:prstGeom prst="ellipse">
            <a:avLst/>
          </a:prstGeom>
          <a:solidFill>
            <a:srgbClr val="26374A"/>
          </a:solidFill>
          <a:ln w="12700">
            <a:solidFill>
              <a:srgbClr val="2637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8587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 / 암호화 설정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2062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DB 서버 Agent 설정, 암호화 키 관련 설정 파일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0" y="3749040"/>
            <a:ext cx="4416552" cy="1005840"/>
          </a:xfrm>
          <a:prstGeom prst="roundRect">
            <a:avLst>
              <a:gd name="adj" fmla="val 7273"/>
            </a:avLst>
          </a:prstGeom>
          <a:solidFill>
            <a:srgbClr val="FCF1DC"/>
          </a:solidFill>
          <a:ln w="12700">
            <a:solidFill>
              <a:srgbClr val="FCF1D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0" y="3749040"/>
            <a:ext cx="4416552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백업 + 키 파일 별도 보관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시 수동 백업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029200"/>
          <a:ext cx="112745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4599432"/>
                <a:gridCol w="228600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정책명(예)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백업 대상(Backup Selection)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스케줄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EXPDB-MS-DAILY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Standard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/backup/mgmt_dump, WebConsole 설치 경로, Agent conf 경로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Full 주 1회 + 증분 일 1회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EXPDB-MS-MONTH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Standard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월말 Full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백업 스케줄 및 보존 정책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➢  고객과 협의된 백업 정책을 NetBackup 11.0 보호계획 · 정책으로 적용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64739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NetBackup Appliance 5270 · NetBackup 11.0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22960"/>
                <a:gridCol w="1371600"/>
                <a:gridCol w="3017520"/>
                <a:gridCol w="4599432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정책 유형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주기 / 보존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</a:tr>
              <a:tr h="502920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OVE VM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Kubernetes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운영: 일 1회, 35일 보존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개발: 일 1회, 7일 보존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Backup from Snapshot, Intelligent Group 자동 보호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Kubernetes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1회, 1년 보존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장기 보존용, SLP로 2차 사본 복제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Container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Kubernetes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운영: 일 1회, 35일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개발: 일 1회, 7일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 namespace 제외, 변경 배포 전 수동 백업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eXperDB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Standard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Full 일 1회 · WAL 1시간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35일 보존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bpstart_notify로 pg_basebackup 실행, PITR 지원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Standard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1회, 5년 보존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장기 보존용 (테이프/클라우드 2차 사본)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수동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Standard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임의 시점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패치 · 변경 작업 전 DBA 수동 백업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eXperDB-MS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Standard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 1회 35일 / 월 1회 1년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Repository DB pg_dump + 설정 파일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OCP etcd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Standard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 1회, 35일 보존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Bastion 서버에서 cluster-backup.sh 수행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NBU Catalog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NBU-Catalog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 1회, 35일 보존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DR 패키지 · 암호 보관, 2차 사본 필수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백업 윈도우 (일일 스케줄)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➢  업무 시간대 영향 최소화를 위한 야간 백업 작업 배치 (20:00 ~ 08:00)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64739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NetBackup Appliance 5270 · NetBackup 11.0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20:00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1691640"/>
            <a:ext cx="914" cy="3886200"/>
          </a:xfrm>
          <a:prstGeom prst="line">
            <a:avLst/>
          </a:prstGeom>
          <a:noFill/>
          <a:ln w="9525">
            <a:solidFill>
              <a:srgbClr val="E1E6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3568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22:00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01440" y="1691640"/>
            <a:ext cx="914" cy="3886200"/>
          </a:xfrm>
          <a:prstGeom prst="line">
            <a:avLst/>
          </a:prstGeom>
          <a:noFill/>
          <a:ln w="9525">
            <a:solidFill>
              <a:srgbClr val="E1E6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5968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00:00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25440" y="1691640"/>
            <a:ext cx="914" cy="3886200"/>
          </a:xfrm>
          <a:prstGeom prst="line">
            <a:avLst/>
          </a:prstGeom>
          <a:noFill/>
          <a:ln w="9525">
            <a:solidFill>
              <a:srgbClr val="E1E6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02:00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49440" y="1691640"/>
            <a:ext cx="914" cy="3886200"/>
          </a:xfrm>
          <a:prstGeom prst="line">
            <a:avLst/>
          </a:prstGeom>
          <a:noFill/>
          <a:ln w="9525">
            <a:solidFill>
              <a:srgbClr val="E1E6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0768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04:00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473440" y="1691640"/>
            <a:ext cx="914" cy="3886200"/>
          </a:xfrm>
          <a:prstGeom prst="line">
            <a:avLst/>
          </a:prstGeom>
          <a:noFill/>
          <a:ln w="9525">
            <a:solidFill>
              <a:srgbClr val="E1E6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3168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06:00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997440" y="1691640"/>
            <a:ext cx="914" cy="3886200"/>
          </a:xfrm>
          <a:prstGeom prst="line">
            <a:avLst/>
          </a:prstGeom>
          <a:noFill/>
          <a:ln w="9525">
            <a:solidFill>
              <a:srgbClr val="E1E6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15568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08:00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1521440" y="1691640"/>
            <a:ext cx="914" cy="3886200"/>
          </a:xfrm>
          <a:prstGeom prst="line">
            <a:avLst/>
          </a:prstGeom>
          <a:noFill/>
          <a:ln w="9525">
            <a:solidFill>
              <a:srgbClr val="E1E6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Container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58440" y="1810512"/>
            <a:ext cx="1143000" cy="310896"/>
          </a:xfrm>
          <a:prstGeom prst="roundRect">
            <a:avLst>
              <a:gd name="adj" fmla="val 17647"/>
            </a:avLst>
          </a:prstGeom>
          <a:solidFill>
            <a:srgbClr val="4A5B6D"/>
          </a:solidFill>
          <a:ln w="12700">
            <a:solidFill>
              <a:srgbClr val="4A5B6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758440" y="181051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Namespace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22585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OVE VM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901440" y="2286000"/>
            <a:ext cx="3048000" cy="310896"/>
          </a:xfrm>
          <a:prstGeom prst="roundRect">
            <a:avLst>
              <a:gd name="adj" fmla="val 17647"/>
            </a:avLst>
          </a:prstGeom>
          <a:solidFill>
            <a:srgbClr val="26374A"/>
          </a:solidFill>
          <a:ln w="12700">
            <a:solidFill>
              <a:srgbClr val="2637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901440" y="2286000"/>
            <a:ext cx="304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VM 스냅샷 → MSDP 전송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27340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eXperDB Full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87440" y="2761488"/>
            <a:ext cx="1524000" cy="310896"/>
          </a:xfrm>
          <a:prstGeom prst="roundRect">
            <a:avLst>
              <a:gd name="adj" fmla="val 17647"/>
            </a:avLst>
          </a:prstGeom>
          <a:solidFill>
            <a:srgbClr val="E39A14"/>
          </a:solidFill>
          <a:ln w="12700">
            <a:solidFill>
              <a:srgbClr val="E39A1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87440" y="2761488"/>
            <a:ext cx="152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pg_basebackup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32095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eXperDB WAL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377440" y="3236976"/>
            <a:ext cx="9144000" cy="310896"/>
          </a:xfrm>
          <a:prstGeom prst="roundRect">
            <a:avLst>
              <a:gd name="adj" fmla="val 17647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377440" y="3236976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1시간 주기 WAL 백업 (24시간 상시)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3685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eXperDB-MS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92440" y="3712464"/>
            <a:ext cx="609600" cy="310896"/>
          </a:xfrm>
          <a:prstGeom prst="roundRect">
            <a:avLst>
              <a:gd name="adj" fmla="val 17647"/>
            </a:avLst>
          </a:prstGeom>
          <a:solidFill>
            <a:srgbClr val="4A5B6D"/>
          </a:solidFill>
          <a:ln w="12700">
            <a:solidFill>
              <a:srgbClr val="4A5B6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92440" y="3712464"/>
            <a:ext cx="60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dump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OCP etcd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473440" y="4187952"/>
            <a:ext cx="609600" cy="310896"/>
          </a:xfrm>
          <a:prstGeom prst="roundRect">
            <a:avLst>
              <a:gd name="adj" fmla="val 17647"/>
            </a:avLst>
          </a:prstGeom>
          <a:solidFill>
            <a:srgbClr val="4A5B6D"/>
          </a:solidFill>
          <a:ln w="12700">
            <a:solidFill>
              <a:srgbClr val="4A5B6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473440" y="4187952"/>
            <a:ext cx="60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etcd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46360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NBU Catalog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235440" y="4663440"/>
            <a:ext cx="762000" cy="310896"/>
          </a:xfrm>
          <a:prstGeom prst="roundRect">
            <a:avLst>
              <a:gd name="adj" fmla="val 17647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235440" y="4663440"/>
            <a:ext cx="76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Catalog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51114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SLP 2차 복제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997440" y="5138928"/>
            <a:ext cx="1524000" cy="310896"/>
          </a:xfrm>
          <a:prstGeom prst="roundRect">
            <a:avLst>
              <a:gd name="adj" fmla="val 17647"/>
            </a:avLst>
          </a:prstGeom>
          <a:solidFill>
            <a:srgbClr val="8A97A6"/>
          </a:solidFill>
          <a:ln w="12700">
            <a:solidFill>
              <a:srgbClr val="8A97A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997440" y="5138928"/>
            <a:ext cx="152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DR/Tape 복제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5760720"/>
            <a:ext cx="11274552" cy="384048"/>
          </a:xfrm>
          <a:prstGeom prst="roundRect">
            <a:avLst>
              <a:gd name="adj" fmla="val 14286"/>
            </a:avLst>
          </a:prstGeom>
          <a:solidFill>
            <a:srgbClr val="FCF1DC"/>
          </a:solidFill>
          <a:ln w="12700">
            <a:solidFill>
              <a:srgbClr val="FCF1D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94360" y="57607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월 백업은 월말 일일 백업 대체로 수행 · 스케줄 시작 시각은 초기 백업 소요시간 측정 후 조정 · 동시 작업 수(Max Jobs)는 5270 및 스토리지 성능 기준으로 제한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백업 스토리지 및 보존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➢  5270 MSDP 중복제거 저장 · SLP 기반 2차 사본 · 불변 스토리지로 랜섬웨어 대응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64739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NetBackup Appliance 5270 · NetBackup 11.0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26374A"/>
          </a:solidFill>
          <a:ln w="12700">
            <a:solidFill>
              <a:srgbClr val="2637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91640"/>
            <a:ext cx="23774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Backup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5270 MSDP (1차)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16916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4A5B6D"/>
          </a:solidFill>
          <a:ln w="12700">
            <a:solidFill>
              <a:srgbClr val="4A5B6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691640"/>
            <a:ext cx="23774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Replication (A.I.R)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DR 사이트 Appliance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6916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8A97A6"/>
          </a:solidFill>
          <a:ln w="12700">
            <a:solidFill>
              <a:srgbClr val="8A97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691640"/>
            <a:ext cx="23774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Duplication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Tape / Cloud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372600" y="1691640"/>
            <a:ext cx="2359152" cy="9144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72600" y="1691640"/>
            <a:ext cx="2359152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만료 · 정리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보존기간 경과 자동 삭제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34640" y="2148840"/>
            <a:ext cx="594360" cy="914"/>
          </a:xfrm>
          <a:prstGeom prst="line">
            <a:avLst/>
          </a:prstGeom>
          <a:noFill/>
          <a:ln w="22225">
            <a:solidFill>
              <a:srgbClr val="4A5B6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806440" y="2148840"/>
            <a:ext cx="594360" cy="914"/>
          </a:xfrm>
          <a:prstGeom prst="line">
            <a:avLst/>
          </a:prstGeom>
          <a:noFill/>
          <a:ln w="22225">
            <a:solidFill>
              <a:srgbClr val="4A5B6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778240" y="2148840"/>
            <a:ext cx="594360" cy="914"/>
          </a:xfrm>
          <a:prstGeom prst="line">
            <a:avLst/>
          </a:prstGeom>
          <a:noFill/>
          <a:ln w="22225">
            <a:solidFill>
              <a:srgbClr val="4A5B6D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57200" y="12984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Storage Lifecycle Policy(SLP) 구성안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17520"/>
          <a:ext cx="6035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737360"/>
                <a:gridCol w="201168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저장 위치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5270 MSDP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백업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 7~35일 / 월 1년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DR Appliance (A.I.R)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 VM · eXperDB · Catalog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1차와 동일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Tape 또는 Cloud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월말 백업본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1년 ~ 5년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6812280" y="3017520"/>
            <a:ext cx="4919472" cy="2926080"/>
          </a:xfrm>
          <a:prstGeom prst="roundRect">
            <a:avLst>
              <a:gd name="adj" fmla="val 2500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040880" y="31546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용량 산정 기준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352044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 용량 ≈ (Full 원본 × 보존 Full 수 + 일 변경량 × 보존 일수) ÷ 중복제거율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040880" y="4160520"/>
            <a:ext cx="4526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MSDP 사용률 70% 경고 / 80% 임계로 관리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백업은 비압축 · 비암호화 원본으로 전송해 중복제거 효율 확보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불변(Immutable) · WORM 저장 적용 검토 (랜섬웨어 대응)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1개월 실측 후 중복제거율 · 증가율 재산정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47548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2차 사본 구성은 DR 사이트 · 테이프 장비 보유 여부에 따라 선택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유형별 복구 방안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➢  장애 범위에 따라 복구 단위 · 방법 · 목표 시간을 사전 정의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64739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NetBackup Appliance 5270 · NetBackup 11.0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737360"/>
                <a:gridCol w="6428232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장애 유형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복구 단위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복구 방법 (NetBackup 11.0)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목표 RTO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VM 삭제 · OS 손상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VM (Namespace 내)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Web UI &gt; Kubernetes &gt; 복구 지점 선택 → VM 리소스 + DataVolume/PVC를 원래 또는 대체 namespace로 복구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4시간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VM 내 파일 손상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PVC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해당 PVC만 대체 namespace로 복구 → 임시 VM/Pod에 마운트 후 필요한 파일 복사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4시간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애플리케이션 삭제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Namespace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Namespace 전체 복구 (리소스 + PVC), 필요 시 특정 리소스만 선택 복구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2시간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클러스터 전체 장애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클러스터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etcd 스냅샷으로 클러스터 복원 또는 신규 클러스터 구축 → NKO 재배포 → 대체 클러스터로 namespace 복구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24시간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eXperDB 논리 오류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DB 클러스터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Base Backup 복원 → 필요 WAL 복원 → recovery_target_time 설정 후 기동 (PITR)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4시간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eXperDB 서버 장애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VM + DB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VM 복구 후 최신 Base Backup + WAL 적용으로 최종 시점까지 복구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4시간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eXperDB-MS 장애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서버 · Repository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설정 파일 원위치 복원 → pg_restore로 Repository DB 복구 → 서비스 기동 · Agent 연결 확인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8시간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5270 장애 · 랜섬웨어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백업 인프라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DR Appliance(A.I.R 사본) 또는 테이프 사본에서 Catalog 복구 후 대상 복원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복구 절차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➢  OVE VM 복구와 eXperDB 시점 복구(PITR) 표준 절차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64739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NetBackup Appliance 5270 · NetBackup 11.0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554480"/>
            <a:ext cx="4983480" cy="457200"/>
          </a:xfrm>
          <a:prstGeom prst="roundRect">
            <a:avLst>
              <a:gd name="adj" fmla="val 16000"/>
            </a:avLst>
          </a:prstGeom>
          <a:solidFill>
            <a:srgbClr val="26374A"/>
          </a:solidFill>
          <a:ln w="12700">
            <a:solidFill>
              <a:srgbClr val="2637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54480"/>
            <a:ext cx="49834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OVE VM 복구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313432"/>
            <a:ext cx="384048" cy="384048"/>
          </a:xfrm>
          <a:prstGeom prst="ellipse">
            <a:avLst/>
          </a:prstGeom>
          <a:solidFill>
            <a:srgbClr val="26374A"/>
          </a:solidFill>
          <a:ln w="12700">
            <a:solidFill>
              <a:srgbClr val="2637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2402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지점 선택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5146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 UI &gt; Kubernetes &gt; 클러스터 &gt; namespace &gt; Recovery points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3026664"/>
            <a:ext cx="384048" cy="384048"/>
          </a:xfrm>
          <a:prstGeom prst="ellipse">
            <a:avLst/>
          </a:prstGeom>
          <a:solidFill>
            <a:srgbClr val="26374A"/>
          </a:solidFill>
          <a:ln w="12700">
            <a:solidFill>
              <a:srgbClr val="2637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9535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대상 선택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22783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VM(VirtualMachine) 및 연관 DataVolume/PVC 선택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3739896"/>
            <a:ext cx="384048" cy="384048"/>
          </a:xfrm>
          <a:prstGeom prst="ellipse">
            <a:avLst/>
          </a:prstGeom>
          <a:solidFill>
            <a:srgbClr val="26374A"/>
          </a:solidFill>
          <a:ln w="12700">
            <a:solidFill>
              <a:srgbClr val="2637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66674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위치 지정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9410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원래 namespace(덮어쓰기) 또는 대체 namespace / 대체 클러스터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4453128"/>
            <a:ext cx="384048" cy="384048"/>
          </a:xfrm>
          <a:prstGeom prst="ellipse">
            <a:avLst/>
          </a:prstGeom>
          <a:solidFill>
            <a:srgbClr val="26374A"/>
          </a:solidFill>
          <a:ln w="12700">
            <a:solidFill>
              <a:srgbClr val="2637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437997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실행 · 모니터링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465429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Activity monitor에서 작업 상태 확인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1520" y="5166360"/>
            <a:ext cx="384048" cy="384048"/>
          </a:xfrm>
          <a:prstGeom prst="ellipse">
            <a:avLst/>
          </a:prstGeom>
          <a:solidFill>
            <a:srgbClr val="26374A"/>
          </a:solidFill>
          <a:ln w="12700">
            <a:solidFill>
              <a:srgbClr val="2637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509320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기동 · 검증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536752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VM 기동, 네트워크 · 서비스 정상 여부 확인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91072" y="1371600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19672" y="1554480"/>
            <a:ext cx="4983480" cy="457200"/>
          </a:xfrm>
          <a:prstGeom prst="roundRect">
            <a:avLst>
              <a:gd name="adj" fmla="val 16000"/>
            </a:avLst>
          </a:prstGeom>
          <a:solidFill>
            <a:srgbClr val="E39A14"/>
          </a:solidFill>
          <a:ln w="12700">
            <a:solidFill>
              <a:srgbClr val="E39A1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19672" y="1554480"/>
            <a:ext cx="49834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eXperDB 시점 복구 (PITR)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565392" y="2313432"/>
            <a:ext cx="384048" cy="384048"/>
          </a:xfrm>
          <a:prstGeom prst="ellipse">
            <a:avLst/>
          </a:prstGeom>
          <a:solidFill>
            <a:srgbClr val="E39A14"/>
          </a:solidFill>
          <a:ln w="12700">
            <a:solidFill>
              <a:srgbClr val="E39A1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65392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114032" y="22402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중지 · 현 상태 보존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7114032" y="25146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중지, 기존 data 디렉터리 이동 보관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565392" y="3026664"/>
            <a:ext cx="384048" cy="384048"/>
          </a:xfrm>
          <a:prstGeom prst="ellipse">
            <a:avLst/>
          </a:prstGeom>
          <a:solidFill>
            <a:srgbClr val="E39A14"/>
          </a:solidFill>
          <a:ln w="12700">
            <a:solidFill>
              <a:srgbClr val="E39A1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65392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114032" y="29535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Base Backup 복원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7114032" y="322783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NBU에서 목표 시점 직전 Full 백업본 복원 (bprestore / Web UI)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565392" y="3739896"/>
            <a:ext cx="384048" cy="384048"/>
          </a:xfrm>
          <a:prstGeom prst="ellipse">
            <a:avLst/>
          </a:prstGeom>
          <a:solidFill>
            <a:srgbClr val="E39A14"/>
          </a:solidFill>
          <a:ln w="12700">
            <a:solidFill>
              <a:srgbClr val="E39A1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565392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7114032" y="366674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WAL 복원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7114032" y="39410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구간 WAL 파일을 복원 경로로 복원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565392" y="4453128"/>
            <a:ext cx="384048" cy="384048"/>
          </a:xfrm>
          <a:prstGeom prst="ellipse">
            <a:avLst/>
          </a:prstGeom>
          <a:solidFill>
            <a:srgbClr val="E39A14"/>
          </a:solidFill>
          <a:ln w="12700">
            <a:solidFill>
              <a:srgbClr val="E39A1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565392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7114032" y="437997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설정 · 기동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7114032" y="465429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restore_command, recovery_target_time 설정, recovery.signal 생성 후 기동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565392" y="5166360"/>
            <a:ext cx="384048" cy="384048"/>
          </a:xfrm>
          <a:prstGeom prst="ellipse">
            <a:avLst/>
          </a:prstGeom>
          <a:solidFill>
            <a:srgbClr val="E39A14"/>
          </a:solidFill>
          <a:ln w="12700">
            <a:solidFill>
              <a:srgbClr val="E39A1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565392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7114032" y="509320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정합성 검증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7114032" y="536752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확인 후 promote, 즉시 신규 Full 백업 수행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관리 및 보안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➢  백업 성공률 관리 · 정기 복구 훈련 · 백업 데이터 보호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64739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NetBackup Appliance 5270 · NetBackup 11.0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45920"/>
            <a:ext cx="384048" cy="384048"/>
          </a:xfrm>
          <a:prstGeom prst="ellipse">
            <a:avLst/>
          </a:prstGeom>
          <a:solidFill>
            <a:srgbClr val="26374A"/>
          </a:solidFill>
          <a:ln w="12700">
            <a:solidFill>
              <a:srgbClr val="2637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62763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모니터링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1945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일일 백업 결과 확인 (Activity monitor · 보고서)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작업 자동 재시도 및 이메일 알림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MSDP 용량 · 중복제거율 주간 점검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645920"/>
            <a:ext cx="384048" cy="384048"/>
          </a:xfrm>
          <a:prstGeom prst="ellipse">
            <a:avLst/>
          </a:prstGeom>
          <a:solidFill>
            <a:srgbClr val="E39A14"/>
          </a:solidFill>
          <a:ln w="12700">
            <a:solidFill>
              <a:srgbClr val="E39A1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162763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훈련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1945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1회 VM · Namespace 대체 위치 복구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반기 1회 eXperDB PITR 복구 훈련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훈련 결과로 RTO 실측 · 절차서 갱신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931920"/>
            <a:ext cx="384048" cy="384048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391363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4805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 UI RBAC · MFA 적용, 역할 분리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불변 스토리지 · 다중 승인(Multi-person auth) 검토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악성코드 스캔 · 이상 징후 탐지 기능 활용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26480" y="365760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3931920"/>
            <a:ext cx="384048" cy="384048"/>
          </a:xfrm>
          <a:prstGeom prst="ellipse">
            <a:avLst/>
          </a:prstGeom>
          <a:solidFill>
            <a:srgbClr val="4A5B6D"/>
          </a:solidFill>
          <a:ln w="12700">
            <a:solidFill>
              <a:srgbClr val="4A5B6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995160" y="391363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관리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44805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VM · namespace 생성 시 label 부여 의무화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NKO · Client는 NBU 서버 버전 이하 유지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정책 변경 이력 관리 및 월간 검토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 전 확인 사항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➢  호환성 · 환경 조건 사전 검증 항목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64739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NetBackup Appliance 5270 · NetBackup 11.0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377440"/>
                <a:gridCol w="6519672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항목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내용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Appliance 소프트웨어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5270 하드웨어에서 NetBackup 11.0 기반 Appliance 소프트웨어 지원 여부 및 업그레이드 경로 확인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백업 벤더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OCP · Virtualization 버전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 중인 OpenShift / OpenShift Virtualization 버전이 NetBackup 11.0 호환성 목록(SCL)에 포함되는지 확인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백업 벤더 · 인프라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CSI 스냅샷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 스토리지의 CSI 드라이버 스냅샷 지원, VolumeSnapshotClass 동작 및 스냅샷 공간 확보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스토리지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eXperDB 연계 방식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eXperDB 버전(기반 PostgreSQL 버전) 확인, NBU PostgreSQL 에이전트 지원 여부 → 미지원 시 스크립트 연계안 적용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DBA · 백업 벤더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네트워크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OCP 워커 노드 · Data Mover · VM Client ↔ 5270 간 방화벽 (1556, 443, 13724 등) 및 대역폭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네트워크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백업 윈도우 · 용량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Full 백업 소요시간 측정, 대상 용량 · 일 변경률 기반 MSDP 용량 산정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백업 수행사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보존 정책 확정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 · 월 · 장기 보존 기간 및 2차 사본(DR/Tape/Cloud) 여부 고객 협의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OpenShift 환경 백업 정책안 (NetBackup 11.0)</dc:title>
  <dc:subject>PptxGenJS Presentation</dc:subject>
  <dc:creator>PptxGenJS</dc:creator>
  <cp:lastModifiedBy>PptxGenJS</cp:lastModifiedBy>
  <cp:revision>1</cp:revision>
  <dcterms:created xsi:type="dcterms:W3CDTF">2026-09-29T16:11:57Z</dcterms:created>
  <dcterms:modified xsi:type="dcterms:W3CDTF">2026-09-29T16:11:57Z</dcterms:modified>
</cp:coreProperties>
</file>