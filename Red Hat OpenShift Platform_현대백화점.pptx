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C04F1C-73F7-93AD-9AA3-0435374CB041}" v="31" dt="2025-03-27T01:23:00.8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7774" y="99"/>
            <a:ext cx="0" cy="887094"/>
          </a:xfrm>
          <a:custGeom>
            <a:avLst/>
            <a:gdLst/>
            <a:ahLst/>
            <a:cxnLst/>
            <a:rect l="l" t="t" r="r" b="b"/>
            <a:pathLst>
              <a:path h="887094">
                <a:moveTo>
                  <a:pt x="0" y="886498"/>
                </a:moveTo>
                <a:lnTo>
                  <a:pt x="0" y="0"/>
                </a:lnTo>
              </a:path>
            </a:pathLst>
          </a:custGeom>
          <a:ln w="9524">
            <a:solidFill>
              <a:srgbClr val="ED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47766" y="6401387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6599"/>
                </a:moveTo>
                <a:lnTo>
                  <a:pt x="0" y="0"/>
                </a:lnTo>
              </a:path>
            </a:pathLst>
          </a:custGeom>
          <a:ln w="9524">
            <a:solidFill>
              <a:srgbClr val="ED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11253" y="6313241"/>
            <a:ext cx="975847" cy="2281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56963" y="354481"/>
            <a:ext cx="3278072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83041" y="1134441"/>
            <a:ext cx="9425917" cy="1412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9181" y="6170821"/>
            <a:ext cx="150522" cy="16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Batang"/>
                <a:cs typeface="Batang"/>
              </a:defRPr>
            </a:lvl1pPr>
          </a:lstStyle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Kim(chunhkim@redhat.com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penshift.com/container-platform/4.10/scalability_and_performance/planning-your-environment-according-to-object-maximums.html#planning-your-environment-according-to-object-maximums" TargetMode="External"/><Relationship Id="rId5" Type="http://schemas.openxmlformats.org/officeDocument/2006/relationships/hyperlink" Target="https://docs.openshift.com/container-platform/4.10/scalability_and_performance/recommended-host-practices.html" TargetMode="External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penshift.com/container-platform/4.10/scalability_and_performance/optimizing-storage.html" TargetMode="External"/><Relationship Id="rId5" Type="http://schemas.openxmlformats.org/officeDocument/2006/relationships/hyperlink" Target="https://docs.openshift.com/container-platform/4.10/scalability_and_performance/recommended-host-practices.html" TargetMode="Externa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635" cy="6863080"/>
            <a:chOff x="0" y="0"/>
            <a:chExt cx="12192635" cy="6863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75" cy="58531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617155" y="5878863"/>
              <a:ext cx="2574925" cy="979805"/>
            </a:xfrm>
            <a:custGeom>
              <a:avLst/>
              <a:gdLst/>
              <a:ahLst/>
              <a:cxnLst/>
              <a:rect l="l" t="t" r="r" b="b"/>
              <a:pathLst>
                <a:path w="2574925" h="979804">
                  <a:moveTo>
                    <a:pt x="2574894" y="979198"/>
                  </a:moveTo>
                  <a:lnTo>
                    <a:pt x="0" y="979198"/>
                  </a:lnTo>
                  <a:lnTo>
                    <a:pt x="0" y="0"/>
                  </a:lnTo>
                  <a:lnTo>
                    <a:pt x="2574894" y="0"/>
                  </a:lnTo>
                  <a:lnTo>
                    <a:pt x="2574894" y="9791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6829" y="6203970"/>
              <a:ext cx="1580271" cy="3727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7766" y="6401387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4565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ED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56900" y="2593379"/>
            <a:ext cx="7258684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sz="46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600" dirty="0">
                <a:solidFill>
                  <a:srgbClr val="FFFFFF"/>
                </a:solidFill>
                <a:latin typeface="Arial"/>
                <a:cs typeface="Arial"/>
              </a:rPr>
              <a:t>Hat</a:t>
            </a:r>
            <a:r>
              <a:rPr sz="46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600" dirty="0">
                <a:solidFill>
                  <a:srgbClr val="FFFFFF"/>
                </a:solidFill>
                <a:latin typeface="Arial"/>
                <a:cs typeface="Arial"/>
              </a:rPr>
              <a:t>OpenShift</a:t>
            </a:r>
            <a:r>
              <a:rPr sz="46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600" spc="-10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endParaRPr sz="4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5097" y="929668"/>
            <a:ext cx="2095495" cy="7121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71175" y="4263914"/>
            <a:ext cx="303212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Chun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Ho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  <a:hlinkClick r:id="rId5"/>
              </a:rPr>
              <a:t>Kim(chunhkim@redhat.com)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Solution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Architect,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Hat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2025.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03.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spc="-50" dirty="0">
                <a:latin typeface="Arial"/>
                <a:cs typeface="Arial"/>
              </a:rPr>
              <a:t>1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1472" y="2659044"/>
            <a:ext cx="2371090" cy="2237105"/>
            <a:chOff x="1081472" y="2659044"/>
            <a:chExt cx="2371090" cy="2237105"/>
          </a:xfrm>
        </p:grpSpPr>
        <p:sp>
          <p:nvSpPr>
            <p:cNvPr id="3" name="object 3"/>
            <p:cNvSpPr/>
            <p:nvPr/>
          </p:nvSpPr>
          <p:spPr>
            <a:xfrm>
              <a:off x="1090997" y="2668569"/>
              <a:ext cx="2352040" cy="2218055"/>
            </a:xfrm>
            <a:custGeom>
              <a:avLst/>
              <a:gdLst/>
              <a:ahLst/>
              <a:cxnLst/>
              <a:rect l="l" t="t" r="r" b="b"/>
              <a:pathLst>
                <a:path w="2352040" h="2218054">
                  <a:moveTo>
                    <a:pt x="0" y="0"/>
                  </a:moveTo>
                  <a:lnTo>
                    <a:pt x="2351995" y="0"/>
                  </a:lnTo>
                  <a:lnTo>
                    <a:pt x="2351995" y="2217595"/>
                  </a:lnTo>
                  <a:lnTo>
                    <a:pt x="0" y="2217595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9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92438" y="4172691"/>
              <a:ext cx="969644" cy="413384"/>
            </a:xfrm>
            <a:custGeom>
              <a:avLst/>
              <a:gdLst/>
              <a:ahLst/>
              <a:cxnLst/>
              <a:rect l="l" t="t" r="r" b="b"/>
              <a:pathLst>
                <a:path w="969644" h="413385">
                  <a:moveTo>
                    <a:pt x="0" y="68849"/>
                  </a:moveTo>
                  <a:lnTo>
                    <a:pt x="5410" y="42050"/>
                  </a:lnTo>
                  <a:lnTo>
                    <a:pt x="20165" y="20165"/>
                  </a:lnTo>
                  <a:lnTo>
                    <a:pt x="42051" y="5410"/>
                  </a:lnTo>
                  <a:lnTo>
                    <a:pt x="68852" y="0"/>
                  </a:lnTo>
                  <a:lnTo>
                    <a:pt x="900455" y="0"/>
                  </a:lnTo>
                  <a:lnTo>
                    <a:pt x="938649" y="11569"/>
                  </a:lnTo>
                  <a:lnTo>
                    <a:pt x="964064" y="42506"/>
                  </a:lnTo>
                  <a:lnTo>
                    <a:pt x="969305" y="68849"/>
                  </a:lnTo>
                  <a:lnTo>
                    <a:pt x="969305" y="344249"/>
                  </a:lnTo>
                  <a:lnTo>
                    <a:pt x="963895" y="371048"/>
                  </a:lnTo>
                  <a:lnTo>
                    <a:pt x="949139" y="392933"/>
                  </a:lnTo>
                  <a:lnTo>
                    <a:pt x="927255" y="407688"/>
                  </a:lnTo>
                  <a:lnTo>
                    <a:pt x="900455" y="413099"/>
                  </a:lnTo>
                  <a:lnTo>
                    <a:pt x="68852" y="413099"/>
                  </a:lnTo>
                  <a:lnTo>
                    <a:pt x="42051" y="407688"/>
                  </a:lnTo>
                  <a:lnTo>
                    <a:pt x="20165" y="392933"/>
                  </a:lnTo>
                  <a:lnTo>
                    <a:pt x="5410" y="371048"/>
                  </a:lnTo>
                  <a:lnTo>
                    <a:pt x="0" y="344249"/>
                  </a:lnTo>
                  <a:lnTo>
                    <a:pt x="0" y="688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372830" y="4202966"/>
            <a:ext cx="6096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666666"/>
                </a:solidFill>
                <a:latin typeface="Arial"/>
                <a:cs typeface="Arial"/>
              </a:rPr>
              <a:t>EXISTING</a:t>
            </a:r>
            <a:r>
              <a:rPr sz="700" spc="5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66666"/>
                </a:solidFill>
                <a:latin typeface="Arial"/>
                <a:cs typeface="Arial"/>
              </a:rPr>
              <a:t>AUTOMATION</a:t>
            </a:r>
            <a:r>
              <a:rPr sz="700" spc="5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66666"/>
                </a:solidFill>
                <a:latin typeface="Arial"/>
                <a:cs typeface="Arial"/>
              </a:rPr>
              <a:t>TOOLSETS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87678" y="2797106"/>
            <a:ext cx="1223645" cy="1598295"/>
            <a:chOff x="2187678" y="2797106"/>
            <a:chExt cx="1223645" cy="1598295"/>
          </a:xfrm>
        </p:grpSpPr>
        <p:sp>
          <p:nvSpPr>
            <p:cNvPr id="7" name="object 7"/>
            <p:cNvSpPr/>
            <p:nvPr/>
          </p:nvSpPr>
          <p:spPr>
            <a:xfrm>
              <a:off x="3159993" y="4379341"/>
              <a:ext cx="227965" cy="0"/>
            </a:xfrm>
            <a:custGeom>
              <a:avLst/>
              <a:gdLst/>
              <a:ahLst/>
              <a:cxnLst/>
              <a:rect l="l" t="t" r="r" b="b"/>
              <a:pathLst>
                <a:path w="227964">
                  <a:moveTo>
                    <a:pt x="0" y="0"/>
                  </a:moveTo>
                  <a:lnTo>
                    <a:pt x="227774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77043" y="4368641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4"/>
                  </a:moveTo>
                  <a:lnTo>
                    <a:pt x="10724" y="10699"/>
                  </a:lnTo>
                  <a:lnTo>
                    <a:pt x="0" y="0"/>
                  </a:lnTo>
                  <a:lnTo>
                    <a:pt x="29449" y="10699"/>
                  </a:lnTo>
                  <a:lnTo>
                    <a:pt x="0" y="214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77043" y="4368641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724" y="10699"/>
                  </a:moveTo>
                  <a:lnTo>
                    <a:pt x="0" y="21424"/>
                  </a:lnTo>
                  <a:lnTo>
                    <a:pt x="29449" y="10699"/>
                  </a:lnTo>
                  <a:lnTo>
                    <a:pt x="0" y="0"/>
                  </a:lnTo>
                  <a:lnTo>
                    <a:pt x="10724" y="106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92440" y="2801869"/>
              <a:ext cx="969644" cy="364490"/>
            </a:xfrm>
            <a:custGeom>
              <a:avLst/>
              <a:gdLst/>
              <a:ahLst/>
              <a:cxnLst/>
              <a:rect l="l" t="t" r="r" b="b"/>
              <a:pathLst>
                <a:path w="969644" h="364489">
                  <a:moveTo>
                    <a:pt x="0" y="60674"/>
                  </a:moveTo>
                  <a:lnTo>
                    <a:pt x="4766" y="37061"/>
                  </a:lnTo>
                  <a:lnTo>
                    <a:pt x="17764" y="17774"/>
                  </a:lnTo>
                  <a:lnTo>
                    <a:pt x="37043" y="4769"/>
                  </a:lnTo>
                  <a:lnTo>
                    <a:pt x="60652" y="0"/>
                  </a:lnTo>
                  <a:lnTo>
                    <a:pt x="908653" y="0"/>
                  </a:lnTo>
                  <a:lnTo>
                    <a:pt x="951528" y="17774"/>
                  </a:lnTo>
                  <a:lnTo>
                    <a:pt x="969303" y="60674"/>
                  </a:lnTo>
                  <a:lnTo>
                    <a:pt x="969303" y="303249"/>
                  </a:lnTo>
                  <a:lnTo>
                    <a:pt x="964537" y="326858"/>
                  </a:lnTo>
                  <a:lnTo>
                    <a:pt x="951540" y="346136"/>
                  </a:lnTo>
                  <a:lnTo>
                    <a:pt x="932262" y="359133"/>
                  </a:lnTo>
                  <a:lnTo>
                    <a:pt x="908653" y="363899"/>
                  </a:lnTo>
                  <a:lnTo>
                    <a:pt x="60652" y="363899"/>
                  </a:lnTo>
                  <a:lnTo>
                    <a:pt x="37043" y="359133"/>
                  </a:lnTo>
                  <a:lnTo>
                    <a:pt x="17764" y="346136"/>
                  </a:lnTo>
                  <a:lnTo>
                    <a:pt x="4766" y="326858"/>
                  </a:lnTo>
                  <a:lnTo>
                    <a:pt x="0" y="303249"/>
                  </a:lnTo>
                  <a:lnTo>
                    <a:pt x="0" y="60674"/>
                  </a:lnTo>
                  <a:close/>
                </a:path>
              </a:pathLst>
            </a:custGeom>
            <a:ln w="9524">
              <a:solidFill>
                <a:srgbClr val="66666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554837" y="2860892"/>
            <a:ext cx="24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95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666666"/>
                </a:solidFill>
                <a:latin typeface="Arial"/>
                <a:cs typeface="Arial"/>
              </a:rPr>
              <a:t>SCM</a:t>
            </a:r>
            <a:r>
              <a:rPr sz="700" spc="50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66666"/>
                </a:solidFill>
                <a:latin typeface="Arial"/>
                <a:cs typeface="Arial"/>
              </a:rPr>
              <a:t>(GIT)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92440" y="3404042"/>
            <a:ext cx="969644" cy="364490"/>
          </a:xfrm>
          <a:custGeom>
            <a:avLst/>
            <a:gdLst/>
            <a:ahLst/>
            <a:cxnLst/>
            <a:rect l="l" t="t" r="r" b="b"/>
            <a:pathLst>
              <a:path w="969644" h="364489">
                <a:moveTo>
                  <a:pt x="0" y="60649"/>
                </a:moveTo>
                <a:lnTo>
                  <a:pt x="4766" y="37040"/>
                </a:lnTo>
                <a:lnTo>
                  <a:pt x="17764" y="17762"/>
                </a:lnTo>
                <a:lnTo>
                  <a:pt x="37043" y="4765"/>
                </a:lnTo>
                <a:lnTo>
                  <a:pt x="60652" y="0"/>
                </a:lnTo>
                <a:lnTo>
                  <a:pt x="908653" y="0"/>
                </a:lnTo>
                <a:lnTo>
                  <a:pt x="951528" y="17749"/>
                </a:lnTo>
                <a:lnTo>
                  <a:pt x="969303" y="60649"/>
                </a:lnTo>
                <a:lnTo>
                  <a:pt x="969303" y="303249"/>
                </a:lnTo>
                <a:lnTo>
                  <a:pt x="964537" y="326858"/>
                </a:lnTo>
                <a:lnTo>
                  <a:pt x="951540" y="346136"/>
                </a:lnTo>
                <a:lnTo>
                  <a:pt x="932262" y="359133"/>
                </a:lnTo>
                <a:lnTo>
                  <a:pt x="908653" y="363899"/>
                </a:lnTo>
                <a:lnTo>
                  <a:pt x="60652" y="363899"/>
                </a:lnTo>
                <a:lnTo>
                  <a:pt x="37043" y="359133"/>
                </a:lnTo>
                <a:lnTo>
                  <a:pt x="17764" y="346136"/>
                </a:lnTo>
                <a:lnTo>
                  <a:pt x="4766" y="326858"/>
                </a:lnTo>
                <a:lnTo>
                  <a:pt x="0" y="303249"/>
                </a:lnTo>
                <a:lnTo>
                  <a:pt x="0" y="60649"/>
                </a:lnTo>
                <a:close/>
              </a:path>
            </a:pathLst>
          </a:custGeom>
          <a:ln w="9524">
            <a:solidFill>
              <a:srgbClr val="666666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37379" y="3516391"/>
            <a:ext cx="28003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666666"/>
                </a:solidFill>
                <a:latin typeface="Arial"/>
                <a:cs typeface="Arial"/>
              </a:rPr>
              <a:t>CI/CD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56607" y="1809163"/>
            <a:ext cx="8319134" cy="4360545"/>
            <a:chOff x="2656607" y="1809163"/>
            <a:chExt cx="8319134" cy="4360545"/>
          </a:xfrm>
        </p:grpSpPr>
        <p:sp>
          <p:nvSpPr>
            <p:cNvPr id="15" name="object 15"/>
            <p:cNvSpPr/>
            <p:nvPr/>
          </p:nvSpPr>
          <p:spPr>
            <a:xfrm>
              <a:off x="2677094" y="3165768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10">
                  <a:moveTo>
                    <a:pt x="0" y="0"/>
                  </a:moveTo>
                  <a:lnTo>
                    <a:pt x="0" y="1810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61369" y="33468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49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61369" y="33468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49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60018" y="2983868"/>
              <a:ext cx="227965" cy="1270"/>
            </a:xfrm>
            <a:custGeom>
              <a:avLst/>
              <a:gdLst/>
              <a:ahLst/>
              <a:cxnLst/>
              <a:rect l="l" t="t" r="r" b="b"/>
              <a:pathLst>
                <a:path w="227964" h="1269">
                  <a:moveTo>
                    <a:pt x="0" y="0"/>
                  </a:moveTo>
                  <a:lnTo>
                    <a:pt x="130199" y="0"/>
                  </a:lnTo>
                  <a:lnTo>
                    <a:pt x="130199" y="899"/>
                  </a:lnTo>
                  <a:lnTo>
                    <a:pt x="227749" y="8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77043" y="2974068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4"/>
                  </a:moveTo>
                  <a:lnTo>
                    <a:pt x="10724" y="10699"/>
                  </a:lnTo>
                  <a:lnTo>
                    <a:pt x="0" y="0"/>
                  </a:lnTo>
                  <a:lnTo>
                    <a:pt x="29449" y="10699"/>
                  </a:lnTo>
                  <a:lnTo>
                    <a:pt x="0" y="214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77043" y="2974068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724" y="10699"/>
                  </a:moveTo>
                  <a:lnTo>
                    <a:pt x="0" y="21424"/>
                  </a:lnTo>
                  <a:lnTo>
                    <a:pt x="29449" y="10699"/>
                  </a:lnTo>
                  <a:lnTo>
                    <a:pt x="0" y="0"/>
                  </a:lnTo>
                  <a:lnTo>
                    <a:pt x="10724" y="1069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60018" y="3586017"/>
              <a:ext cx="227965" cy="1270"/>
            </a:xfrm>
            <a:custGeom>
              <a:avLst/>
              <a:gdLst/>
              <a:ahLst/>
              <a:cxnLst/>
              <a:rect l="l" t="t" r="r" b="b"/>
              <a:pathLst>
                <a:path w="227964" h="1270">
                  <a:moveTo>
                    <a:pt x="0" y="0"/>
                  </a:moveTo>
                  <a:lnTo>
                    <a:pt x="227749" y="79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77018" y="3576067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4"/>
                  </a:moveTo>
                  <a:lnTo>
                    <a:pt x="10749" y="10749"/>
                  </a:lnTo>
                  <a:lnTo>
                    <a:pt x="74" y="0"/>
                  </a:lnTo>
                  <a:lnTo>
                    <a:pt x="29474" y="10824"/>
                  </a:lnTo>
                  <a:lnTo>
                    <a:pt x="0" y="214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77018" y="3576067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749" y="10749"/>
                  </a:moveTo>
                  <a:lnTo>
                    <a:pt x="0" y="21424"/>
                  </a:lnTo>
                  <a:lnTo>
                    <a:pt x="29474" y="10824"/>
                  </a:lnTo>
                  <a:lnTo>
                    <a:pt x="74" y="0"/>
                  </a:lnTo>
                  <a:lnTo>
                    <a:pt x="10749" y="10749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96067" y="1809163"/>
              <a:ext cx="7479665" cy="4360545"/>
            </a:xfrm>
            <a:custGeom>
              <a:avLst/>
              <a:gdLst/>
              <a:ahLst/>
              <a:cxnLst/>
              <a:rect l="l" t="t" r="r" b="b"/>
              <a:pathLst>
                <a:path w="7479665" h="4360545">
                  <a:moveTo>
                    <a:pt x="7479284" y="4360498"/>
                  </a:moveTo>
                  <a:lnTo>
                    <a:pt x="0" y="4360498"/>
                  </a:lnTo>
                  <a:lnTo>
                    <a:pt x="0" y="0"/>
                  </a:lnTo>
                  <a:lnTo>
                    <a:pt x="7479284" y="0"/>
                  </a:lnTo>
                  <a:lnTo>
                    <a:pt x="7479284" y="4360498"/>
                  </a:lnTo>
                  <a:close/>
                </a:path>
              </a:pathLst>
            </a:custGeom>
            <a:solidFill>
              <a:srgbClr val="B6B6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05837" y="2113960"/>
              <a:ext cx="2216785" cy="3089910"/>
            </a:xfrm>
            <a:custGeom>
              <a:avLst/>
              <a:gdLst/>
              <a:ahLst/>
              <a:cxnLst/>
              <a:rect l="l" t="t" r="r" b="b"/>
              <a:pathLst>
                <a:path w="2216784" h="3089910">
                  <a:moveTo>
                    <a:pt x="2216395" y="3089703"/>
                  </a:moveTo>
                  <a:lnTo>
                    <a:pt x="0" y="3089703"/>
                  </a:lnTo>
                  <a:lnTo>
                    <a:pt x="0" y="0"/>
                  </a:lnTo>
                  <a:lnTo>
                    <a:pt x="2216395" y="0"/>
                  </a:lnTo>
                  <a:lnTo>
                    <a:pt x="2216395" y="3089703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05837" y="2113960"/>
              <a:ext cx="2216785" cy="3089910"/>
            </a:xfrm>
            <a:custGeom>
              <a:avLst/>
              <a:gdLst/>
              <a:ahLst/>
              <a:cxnLst/>
              <a:rect l="l" t="t" r="r" b="b"/>
              <a:pathLst>
                <a:path w="2216784" h="3089910">
                  <a:moveTo>
                    <a:pt x="0" y="0"/>
                  </a:moveTo>
                  <a:lnTo>
                    <a:pt x="2216395" y="0"/>
                  </a:lnTo>
                  <a:lnTo>
                    <a:pt x="2216395" y="3089703"/>
                  </a:lnTo>
                  <a:lnTo>
                    <a:pt x="0" y="308970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30988" y="2026720"/>
              <a:ext cx="2216785" cy="3089910"/>
            </a:xfrm>
            <a:custGeom>
              <a:avLst/>
              <a:gdLst/>
              <a:ahLst/>
              <a:cxnLst/>
              <a:rect l="l" t="t" r="r" b="b"/>
              <a:pathLst>
                <a:path w="2216784" h="3089910">
                  <a:moveTo>
                    <a:pt x="2216395" y="3089693"/>
                  </a:moveTo>
                  <a:lnTo>
                    <a:pt x="0" y="3089693"/>
                  </a:lnTo>
                  <a:lnTo>
                    <a:pt x="0" y="0"/>
                  </a:lnTo>
                  <a:lnTo>
                    <a:pt x="2216395" y="0"/>
                  </a:lnTo>
                  <a:lnTo>
                    <a:pt x="2216395" y="3089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04023" y="4907749"/>
            <a:ext cx="3994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30" dirty="0">
                <a:latin typeface="Arial"/>
                <a:cs typeface="Arial"/>
              </a:rPr>
              <a:t>WORKER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712817" y="2026695"/>
            <a:ext cx="2152015" cy="3268979"/>
            <a:chOff x="3712817" y="2026695"/>
            <a:chExt cx="2152015" cy="3268979"/>
          </a:xfrm>
        </p:grpSpPr>
        <p:sp>
          <p:nvSpPr>
            <p:cNvPr id="30" name="object 30"/>
            <p:cNvSpPr/>
            <p:nvPr/>
          </p:nvSpPr>
          <p:spPr>
            <a:xfrm>
              <a:off x="3872517" y="2201203"/>
              <a:ext cx="1987550" cy="3089910"/>
            </a:xfrm>
            <a:custGeom>
              <a:avLst/>
              <a:gdLst/>
              <a:ahLst/>
              <a:cxnLst/>
              <a:rect l="l" t="t" r="r" b="b"/>
              <a:pathLst>
                <a:path w="1987550" h="3089910">
                  <a:moveTo>
                    <a:pt x="1987495" y="3089686"/>
                  </a:moveTo>
                  <a:lnTo>
                    <a:pt x="0" y="3089686"/>
                  </a:lnTo>
                  <a:lnTo>
                    <a:pt x="0" y="0"/>
                  </a:lnTo>
                  <a:lnTo>
                    <a:pt x="1987495" y="0"/>
                  </a:lnTo>
                  <a:lnTo>
                    <a:pt x="1987495" y="3089686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72517" y="2201203"/>
              <a:ext cx="1987550" cy="3089910"/>
            </a:xfrm>
            <a:custGeom>
              <a:avLst/>
              <a:gdLst/>
              <a:ahLst/>
              <a:cxnLst/>
              <a:rect l="l" t="t" r="r" b="b"/>
              <a:pathLst>
                <a:path w="1987550" h="3089910">
                  <a:moveTo>
                    <a:pt x="0" y="0"/>
                  </a:moveTo>
                  <a:lnTo>
                    <a:pt x="1987495" y="0"/>
                  </a:lnTo>
                  <a:lnTo>
                    <a:pt x="1987495" y="3089686"/>
                  </a:lnTo>
                  <a:lnTo>
                    <a:pt x="0" y="308968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94342" y="2113948"/>
              <a:ext cx="1987550" cy="3089910"/>
            </a:xfrm>
            <a:custGeom>
              <a:avLst/>
              <a:gdLst/>
              <a:ahLst/>
              <a:cxnLst/>
              <a:rect l="l" t="t" r="r" b="b"/>
              <a:pathLst>
                <a:path w="1987550" h="3089910">
                  <a:moveTo>
                    <a:pt x="1987495" y="3089691"/>
                  </a:moveTo>
                  <a:lnTo>
                    <a:pt x="0" y="3089691"/>
                  </a:lnTo>
                  <a:lnTo>
                    <a:pt x="0" y="0"/>
                  </a:lnTo>
                  <a:lnTo>
                    <a:pt x="1987495" y="0"/>
                  </a:lnTo>
                  <a:lnTo>
                    <a:pt x="1987495" y="3089691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94342" y="2113948"/>
              <a:ext cx="1987550" cy="3089910"/>
            </a:xfrm>
            <a:custGeom>
              <a:avLst/>
              <a:gdLst/>
              <a:ahLst/>
              <a:cxnLst/>
              <a:rect l="l" t="t" r="r" b="b"/>
              <a:pathLst>
                <a:path w="1987550" h="3089910">
                  <a:moveTo>
                    <a:pt x="0" y="0"/>
                  </a:moveTo>
                  <a:lnTo>
                    <a:pt x="1987495" y="0"/>
                  </a:lnTo>
                  <a:lnTo>
                    <a:pt x="1987495" y="3089691"/>
                  </a:lnTo>
                  <a:lnTo>
                    <a:pt x="0" y="308969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12817" y="2026695"/>
              <a:ext cx="1987550" cy="3089910"/>
            </a:xfrm>
            <a:custGeom>
              <a:avLst/>
              <a:gdLst/>
              <a:ahLst/>
              <a:cxnLst/>
              <a:rect l="l" t="t" r="r" b="b"/>
              <a:pathLst>
                <a:path w="1987550" h="3089910">
                  <a:moveTo>
                    <a:pt x="1987495" y="3089693"/>
                  </a:moveTo>
                  <a:lnTo>
                    <a:pt x="0" y="3089693"/>
                  </a:lnTo>
                  <a:lnTo>
                    <a:pt x="0" y="0"/>
                  </a:lnTo>
                  <a:lnTo>
                    <a:pt x="1987495" y="0"/>
                  </a:lnTo>
                  <a:lnTo>
                    <a:pt x="1987495" y="3089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785853" y="4907730"/>
            <a:ext cx="38354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latin typeface="Arial"/>
                <a:cs typeface="Arial"/>
              </a:rPr>
              <a:t>MASTER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712817" y="5409714"/>
            <a:ext cx="7038975" cy="532130"/>
          </a:xfrm>
          <a:custGeom>
            <a:avLst/>
            <a:gdLst/>
            <a:ahLst/>
            <a:cxnLst/>
            <a:rect l="l" t="t" r="r" b="b"/>
            <a:pathLst>
              <a:path w="7038975" h="532129">
                <a:moveTo>
                  <a:pt x="7038885" y="531598"/>
                </a:moveTo>
                <a:lnTo>
                  <a:pt x="0" y="531598"/>
                </a:lnTo>
                <a:lnTo>
                  <a:pt x="0" y="0"/>
                </a:lnTo>
                <a:lnTo>
                  <a:pt x="7038885" y="0"/>
                </a:lnTo>
                <a:lnTo>
                  <a:pt x="7038885" y="5315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17541" y="2144900"/>
            <a:ext cx="1176655" cy="568960"/>
          </a:xfrm>
          <a:custGeom>
            <a:avLst/>
            <a:gdLst/>
            <a:ahLst/>
            <a:cxnLst/>
            <a:rect l="l" t="t" r="r" b="b"/>
            <a:pathLst>
              <a:path w="1176654" h="568960">
                <a:moveTo>
                  <a:pt x="1176297" y="568793"/>
                </a:moveTo>
                <a:lnTo>
                  <a:pt x="0" y="568793"/>
                </a:lnTo>
                <a:lnTo>
                  <a:pt x="0" y="0"/>
                </a:lnTo>
                <a:lnTo>
                  <a:pt x="1176297" y="0"/>
                </a:lnTo>
                <a:lnTo>
                  <a:pt x="1176297" y="568793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442933" y="2343449"/>
            <a:ext cx="101726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OpenShift</a:t>
            </a:r>
            <a:r>
              <a:rPr sz="900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47957" y="5503788"/>
            <a:ext cx="2216785" cy="3562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1047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900" spc="-10" dirty="0">
                <a:solidFill>
                  <a:srgbClr val="3F9C34"/>
                </a:solidFill>
                <a:latin typeface="Arial"/>
                <a:cs typeface="Arial"/>
              </a:rPr>
              <a:t>STORAGE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417541" y="3362993"/>
            <a:ext cx="1176655" cy="568960"/>
          </a:xfrm>
          <a:custGeom>
            <a:avLst/>
            <a:gdLst/>
            <a:ahLst/>
            <a:cxnLst/>
            <a:rect l="l" t="t" r="r" b="b"/>
            <a:pathLst>
              <a:path w="1176654" h="568960">
                <a:moveTo>
                  <a:pt x="1176297" y="568798"/>
                </a:moveTo>
                <a:lnTo>
                  <a:pt x="0" y="568798"/>
                </a:lnTo>
                <a:lnTo>
                  <a:pt x="0" y="0"/>
                </a:lnTo>
                <a:lnTo>
                  <a:pt x="1176297" y="0"/>
                </a:lnTo>
                <a:lnTo>
                  <a:pt x="1176297" y="568798"/>
                </a:lnTo>
                <a:close/>
              </a:path>
            </a:pathLst>
          </a:custGeom>
          <a:solidFill>
            <a:srgbClr val="489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442933" y="3492962"/>
            <a:ext cx="608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Kubernetes services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9237" y="4370766"/>
            <a:ext cx="1979946" cy="515648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446989" y="4371866"/>
            <a:ext cx="1498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Monitoring</a:t>
            </a:r>
            <a:r>
              <a:rPr sz="9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Logging</a:t>
            </a:r>
            <a:r>
              <a:rPr sz="9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Tuned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SDN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DNS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8667" y="2794472"/>
            <a:ext cx="1745171" cy="568798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4442933" y="2882697"/>
            <a:ext cx="718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Infrastructure services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417541" y="3973241"/>
            <a:ext cx="1176655" cy="565785"/>
          </a:xfrm>
          <a:custGeom>
            <a:avLst/>
            <a:gdLst/>
            <a:ahLst/>
            <a:cxnLst/>
            <a:rect l="l" t="t" r="r" b="b"/>
            <a:pathLst>
              <a:path w="1176654" h="565785">
                <a:moveTo>
                  <a:pt x="1176297" y="565498"/>
                </a:moveTo>
                <a:lnTo>
                  <a:pt x="0" y="565498"/>
                </a:lnTo>
                <a:lnTo>
                  <a:pt x="0" y="0"/>
                </a:lnTo>
                <a:lnTo>
                  <a:pt x="1176297" y="0"/>
                </a:lnTo>
                <a:lnTo>
                  <a:pt x="1176297" y="565498"/>
                </a:lnTo>
                <a:close/>
              </a:path>
            </a:pathLst>
          </a:custGeom>
          <a:solidFill>
            <a:srgbClr val="489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442933" y="4170138"/>
            <a:ext cx="2533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124012" y="5503788"/>
            <a:ext cx="2216785" cy="3562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1047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900" spc="-10" dirty="0">
                <a:solidFill>
                  <a:srgbClr val="3F9C34"/>
                </a:solidFill>
                <a:latin typeface="Arial"/>
                <a:cs typeface="Arial"/>
              </a:rPr>
              <a:t>NETWORK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800067" y="5503788"/>
            <a:ext cx="2216785" cy="356235"/>
          </a:xfrm>
          <a:prstGeom prst="rect">
            <a:avLst/>
          </a:prstGeom>
          <a:solidFill>
            <a:srgbClr val="D8D8D8"/>
          </a:solidFill>
        </p:spPr>
        <p:txBody>
          <a:bodyPr vert="horz" wrap="square" lIns="0" tIns="1047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900" spc="-10" dirty="0">
                <a:solidFill>
                  <a:srgbClr val="3F9C34"/>
                </a:solidFill>
                <a:latin typeface="Arial"/>
                <a:cs typeface="Arial"/>
              </a:rPr>
              <a:t>COMPUTE</a:t>
            </a:r>
            <a:endParaRPr sz="9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848667" y="2146870"/>
            <a:ext cx="568960" cy="565785"/>
          </a:xfrm>
          <a:custGeom>
            <a:avLst/>
            <a:gdLst/>
            <a:ahLst/>
            <a:cxnLst/>
            <a:rect l="l" t="t" r="r" b="b"/>
            <a:pathLst>
              <a:path w="568960" h="565785">
                <a:moveTo>
                  <a:pt x="568798" y="565498"/>
                </a:moveTo>
                <a:lnTo>
                  <a:pt x="0" y="565498"/>
                </a:lnTo>
                <a:lnTo>
                  <a:pt x="0" y="0"/>
                </a:lnTo>
                <a:lnTo>
                  <a:pt x="568798" y="0"/>
                </a:lnTo>
                <a:lnTo>
                  <a:pt x="568798" y="565498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7467" y="2306090"/>
            <a:ext cx="251274" cy="250429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3848667" y="3973241"/>
            <a:ext cx="568960" cy="565785"/>
          </a:xfrm>
          <a:custGeom>
            <a:avLst/>
            <a:gdLst/>
            <a:ahLst/>
            <a:cxnLst/>
            <a:rect l="l" t="t" r="r" b="b"/>
            <a:pathLst>
              <a:path w="568960" h="565785">
                <a:moveTo>
                  <a:pt x="568798" y="565498"/>
                </a:moveTo>
                <a:lnTo>
                  <a:pt x="0" y="565498"/>
                </a:lnTo>
                <a:lnTo>
                  <a:pt x="0" y="0"/>
                </a:lnTo>
                <a:lnTo>
                  <a:pt x="568798" y="0"/>
                </a:lnTo>
                <a:lnTo>
                  <a:pt x="568798" y="565498"/>
                </a:lnTo>
                <a:close/>
              </a:path>
            </a:pathLst>
          </a:custGeom>
          <a:solidFill>
            <a:srgbClr val="489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01167" y="4121718"/>
            <a:ext cx="263856" cy="230322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3848667" y="3362993"/>
            <a:ext cx="568960" cy="568960"/>
          </a:xfrm>
          <a:custGeom>
            <a:avLst/>
            <a:gdLst/>
            <a:ahLst/>
            <a:cxnLst/>
            <a:rect l="l" t="t" r="r" b="b"/>
            <a:pathLst>
              <a:path w="568960" h="568960">
                <a:moveTo>
                  <a:pt x="568798" y="568798"/>
                </a:moveTo>
                <a:lnTo>
                  <a:pt x="0" y="568798"/>
                </a:lnTo>
                <a:lnTo>
                  <a:pt x="0" y="0"/>
                </a:lnTo>
                <a:lnTo>
                  <a:pt x="568798" y="0"/>
                </a:lnTo>
                <a:lnTo>
                  <a:pt x="568798" y="568798"/>
                </a:lnTo>
                <a:close/>
              </a:path>
            </a:pathLst>
          </a:custGeom>
          <a:solidFill>
            <a:srgbClr val="489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7" name="object 5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07467" y="3506600"/>
            <a:ext cx="251274" cy="281666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6424437" y="2698844"/>
            <a:ext cx="1708150" cy="514984"/>
          </a:xfrm>
          <a:custGeom>
            <a:avLst/>
            <a:gdLst/>
            <a:ahLst/>
            <a:cxnLst/>
            <a:rect l="l" t="t" r="r" b="b"/>
            <a:pathLst>
              <a:path w="1708150" h="514985">
                <a:moveTo>
                  <a:pt x="1707596" y="514498"/>
                </a:moveTo>
                <a:lnTo>
                  <a:pt x="0" y="514498"/>
                </a:lnTo>
                <a:lnTo>
                  <a:pt x="0" y="0"/>
                </a:lnTo>
                <a:lnTo>
                  <a:pt x="1707596" y="0"/>
                </a:lnTo>
                <a:lnTo>
                  <a:pt x="1707596" y="514498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151362" y="2870234"/>
            <a:ext cx="198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Registry</a:t>
            </a:r>
            <a:endParaRPr sz="9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151359" y="2698279"/>
            <a:ext cx="1978025" cy="1630045"/>
          </a:xfrm>
          <a:custGeom>
            <a:avLst/>
            <a:gdLst/>
            <a:ahLst/>
            <a:cxnLst/>
            <a:rect l="l" t="t" r="r" b="b"/>
            <a:pathLst>
              <a:path w="1978025" h="1630045">
                <a:moveTo>
                  <a:pt x="272097" y="0"/>
                </a:moveTo>
                <a:lnTo>
                  <a:pt x="0" y="0"/>
                </a:lnTo>
                <a:lnTo>
                  <a:pt x="0" y="514489"/>
                </a:lnTo>
                <a:lnTo>
                  <a:pt x="272097" y="514489"/>
                </a:lnTo>
                <a:lnTo>
                  <a:pt x="272097" y="0"/>
                </a:lnTo>
                <a:close/>
              </a:path>
              <a:path w="1978025" h="1630045">
                <a:moveTo>
                  <a:pt x="1977669" y="1115199"/>
                </a:moveTo>
                <a:lnTo>
                  <a:pt x="270065" y="1115199"/>
                </a:lnTo>
                <a:lnTo>
                  <a:pt x="270065" y="1629689"/>
                </a:lnTo>
                <a:lnTo>
                  <a:pt x="1977669" y="1629689"/>
                </a:lnTo>
                <a:lnTo>
                  <a:pt x="1977669" y="1115199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6149362" y="3813467"/>
            <a:ext cx="1979930" cy="514984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09880" marR="542290">
              <a:lnSpc>
                <a:spcPct val="100000"/>
              </a:lnSpc>
              <a:spcBef>
                <a:spcPts val="91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Prometheus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Grafana Alertmanager</a:t>
            </a:r>
            <a:endParaRPr sz="9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149352" y="2141511"/>
            <a:ext cx="1983105" cy="2186940"/>
          </a:xfrm>
          <a:custGeom>
            <a:avLst/>
            <a:gdLst/>
            <a:ahLst/>
            <a:cxnLst/>
            <a:rect l="l" t="t" r="r" b="b"/>
            <a:pathLst>
              <a:path w="1983104" h="2186940">
                <a:moveTo>
                  <a:pt x="272097" y="1671967"/>
                </a:moveTo>
                <a:lnTo>
                  <a:pt x="0" y="1671967"/>
                </a:lnTo>
                <a:lnTo>
                  <a:pt x="0" y="2186457"/>
                </a:lnTo>
                <a:lnTo>
                  <a:pt x="272097" y="2186457"/>
                </a:lnTo>
                <a:lnTo>
                  <a:pt x="272097" y="1671967"/>
                </a:lnTo>
                <a:close/>
              </a:path>
              <a:path w="1983104" h="2186940">
                <a:moveTo>
                  <a:pt x="1982673" y="0"/>
                </a:moveTo>
                <a:lnTo>
                  <a:pt x="275082" y="0"/>
                </a:lnTo>
                <a:lnTo>
                  <a:pt x="275082" y="514489"/>
                </a:lnTo>
                <a:lnTo>
                  <a:pt x="1982673" y="514489"/>
                </a:lnTo>
                <a:lnTo>
                  <a:pt x="1982673" y="0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151362" y="2312899"/>
            <a:ext cx="198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Kibana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Elasticsearch</a:t>
            </a:r>
            <a:endParaRPr sz="9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151359" y="2142184"/>
            <a:ext cx="1980564" cy="1628775"/>
          </a:xfrm>
          <a:custGeom>
            <a:avLst/>
            <a:gdLst/>
            <a:ahLst/>
            <a:cxnLst/>
            <a:rect l="l" t="t" r="r" b="b"/>
            <a:pathLst>
              <a:path w="1980565" h="1628775">
                <a:moveTo>
                  <a:pt x="272097" y="0"/>
                </a:moveTo>
                <a:lnTo>
                  <a:pt x="0" y="0"/>
                </a:lnTo>
                <a:lnTo>
                  <a:pt x="0" y="514489"/>
                </a:lnTo>
                <a:lnTo>
                  <a:pt x="272097" y="514489"/>
                </a:lnTo>
                <a:lnTo>
                  <a:pt x="272097" y="0"/>
                </a:lnTo>
                <a:close/>
              </a:path>
              <a:path w="1980565" h="1628775">
                <a:moveTo>
                  <a:pt x="1980069" y="1113942"/>
                </a:moveTo>
                <a:lnTo>
                  <a:pt x="272465" y="1113942"/>
                </a:lnTo>
                <a:lnTo>
                  <a:pt x="272465" y="1628444"/>
                </a:lnTo>
                <a:lnTo>
                  <a:pt x="1980069" y="1628444"/>
                </a:lnTo>
                <a:lnTo>
                  <a:pt x="1980069" y="1113942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151762" y="3256118"/>
            <a:ext cx="1979930" cy="51498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sz="90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Router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151762" y="3256118"/>
            <a:ext cx="272415" cy="514984"/>
          </a:xfrm>
          <a:custGeom>
            <a:avLst/>
            <a:gdLst/>
            <a:ahLst/>
            <a:cxnLst/>
            <a:rect l="l" t="t" r="r" b="b"/>
            <a:pathLst>
              <a:path w="272414" h="514985">
                <a:moveTo>
                  <a:pt x="272099" y="514498"/>
                </a:moveTo>
                <a:lnTo>
                  <a:pt x="0" y="514498"/>
                </a:lnTo>
                <a:lnTo>
                  <a:pt x="0" y="0"/>
                </a:lnTo>
                <a:lnTo>
                  <a:pt x="272099" y="0"/>
                </a:lnTo>
                <a:lnTo>
                  <a:pt x="272099" y="514498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322829" y="3027919"/>
            <a:ext cx="514984" cy="514984"/>
          </a:xfrm>
          <a:custGeom>
            <a:avLst/>
            <a:gdLst/>
            <a:ahLst/>
            <a:cxnLst/>
            <a:rect l="l" t="t" r="r" b="b"/>
            <a:pathLst>
              <a:path w="514985" h="514985">
                <a:moveTo>
                  <a:pt x="257249" y="514498"/>
                </a:moveTo>
                <a:lnTo>
                  <a:pt x="211008" y="510354"/>
                </a:lnTo>
                <a:lnTo>
                  <a:pt x="167486" y="498404"/>
                </a:lnTo>
                <a:lnTo>
                  <a:pt x="127410" y="479376"/>
                </a:lnTo>
                <a:lnTo>
                  <a:pt x="91507" y="453997"/>
                </a:lnTo>
                <a:lnTo>
                  <a:pt x="60501" y="422991"/>
                </a:lnTo>
                <a:lnTo>
                  <a:pt x="35122" y="387088"/>
                </a:lnTo>
                <a:lnTo>
                  <a:pt x="16094" y="347012"/>
                </a:lnTo>
                <a:lnTo>
                  <a:pt x="4144" y="303490"/>
                </a:lnTo>
                <a:lnTo>
                  <a:pt x="0" y="257249"/>
                </a:lnTo>
                <a:lnTo>
                  <a:pt x="4144" y="211008"/>
                </a:lnTo>
                <a:lnTo>
                  <a:pt x="16094" y="167486"/>
                </a:lnTo>
                <a:lnTo>
                  <a:pt x="35122" y="127410"/>
                </a:lnTo>
                <a:lnTo>
                  <a:pt x="60501" y="91507"/>
                </a:lnTo>
                <a:lnTo>
                  <a:pt x="91507" y="60501"/>
                </a:lnTo>
                <a:lnTo>
                  <a:pt x="127410" y="35122"/>
                </a:lnTo>
                <a:lnTo>
                  <a:pt x="167486" y="16094"/>
                </a:lnTo>
                <a:lnTo>
                  <a:pt x="211008" y="4144"/>
                </a:lnTo>
                <a:lnTo>
                  <a:pt x="257249" y="0"/>
                </a:lnTo>
                <a:lnTo>
                  <a:pt x="307671" y="4988"/>
                </a:lnTo>
                <a:lnTo>
                  <a:pt x="355694" y="19581"/>
                </a:lnTo>
                <a:lnTo>
                  <a:pt x="399971" y="43221"/>
                </a:lnTo>
                <a:lnTo>
                  <a:pt x="439151" y="75349"/>
                </a:lnTo>
                <a:lnTo>
                  <a:pt x="471277" y="114532"/>
                </a:lnTo>
                <a:lnTo>
                  <a:pt x="494917" y="158809"/>
                </a:lnTo>
                <a:lnTo>
                  <a:pt x="509510" y="206830"/>
                </a:lnTo>
                <a:lnTo>
                  <a:pt x="514498" y="257249"/>
                </a:lnTo>
                <a:lnTo>
                  <a:pt x="510354" y="303490"/>
                </a:lnTo>
                <a:lnTo>
                  <a:pt x="498404" y="347012"/>
                </a:lnTo>
                <a:lnTo>
                  <a:pt x="479376" y="387088"/>
                </a:lnTo>
                <a:lnTo>
                  <a:pt x="453997" y="422991"/>
                </a:lnTo>
                <a:lnTo>
                  <a:pt x="422991" y="453997"/>
                </a:lnTo>
                <a:lnTo>
                  <a:pt x="387088" y="479376"/>
                </a:lnTo>
                <a:lnTo>
                  <a:pt x="347012" y="498404"/>
                </a:lnTo>
                <a:lnTo>
                  <a:pt x="303490" y="510354"/>
                </a:lnTo>
                <a:lnTo>
                  <a:pt x="257249" y="51449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83307" y="3135593"/>
            <a:ext cx="193254" cy="298899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1310616" y="3544797"/>
            <a:ext cx="5391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Developers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322829" y="4122241"/>
            <a:ext cx="514984" cy="514984"/>
            <a:chOff x="1322829" y="4122241"/>
            <a:chExt cx="514984" cy="514984"/>
          </a:xfrm>
        </p:grpSpPr>
        <p:sp>
          <p:nvSpPr>
            <p:cNvPr id="72" name="object 72"/>
            <p:cNvSpPr/>
            <p:nvPr/>
          </p:nvSpPr>
          <p:spPr>
            <a:xfrm>
              <a:off x="1322829" y="4122241"/>
              <a:ext cx="514984" cy="514984"/>
            </a:xfrm>
            <a:custGeom>
              <a:avLst/>
              <a:gdLst/>
              <a:ahLst/>
              <a:cxnLst/>
              <a:rect l="l" t="t" r="r" b="b"/>
              <a:pathLst>
                <a:path w="514985" h="514985">
                  <a:moveTo>
                    <a:pt x="257249" y="514498"/>
                  </a:moveTo>
                  <a:lnTo>
                    <a:pt x="211008" y="510354"/>
                  </a:lnTo>
                  <a:lnTo>
                    <a:pt x="167486" y="498404"/>
                  </a:lnTo>
                  <a:lnTo>
                    <a:pt x="127410" y="479376"/>
                  </a:lnTo>
                  <a:lnTo>
                    <a:pt x="91507" y="453997"/>
                  </a:lnTo>
                  <a:lnTo>
                    <a:pt x="60501" y="422991"/>
                  </a:lnTo>
                  <a:lnTo>
                    <a:pt x="35122" y="387088"/>
                  </a:lnTo>
                  <a:lnTo>
                    <a:pt x="16094" y="347012"/>
                  </a:lnTo>
                  <a:lnTo>
                    <a:pt x="4144" y="303490"/>
                  </a:lnTo>
                  <a:lnTo>
                    <a:pt x="0" y="257249"/>
                  </a:lnTo>
                  <a:lnTo>
                    <a:pt x="4144" y="211008"/>
                  </a:lnTo>
                  <a:lnTo>
                    <a:pt x="16094" y="167486"/>
                  </a:lnTo>
                  <a:lnTo>
                    <a:pt x="35122" y="127410"/>
                  </a:lnTo>
                  <a:lnTo>
                    <a:pt x="60501" y="91507"/>
                  </a:lnTo>
                  <a:lnTo>
                    <a:pt x="91507" y="60501"/>
                  </a:lnTo>
                  <a:lnTo>
                    <a:pt x="127410" y="35122"/>
                  </a:lnTo>
                  <a:lnTo>
                    <a:pt x="167486" y="16094"/>
                  </a:lnTo>
                  <a:lnTo>
                    <a:pt x="211008" y="4144"/>
                  </a:lnTo>
                  <a:lnTo>
                    <a:pt x="257249" y="0"/>
                  </a:lnTo>
                  <a:lnTo>
                    <a:pt x="307671" y="4988"/>
                  </a:lnTo>
                  <a:lnTo>
                    <a:pt x="355694" y="19581"/>
                  </a:lnTo>
                  <a:lnTo>
                    <a:pt x="399971" y="43221"/>
                  </a:lnTo>
                  <a:lnTo>
                    <a:pt x="439151" y="75349"/>
                  </a:lnTo>
                  <a:lnTo>
                    <a:pt x="471277" y="114532"/>
                  </a:lnTo>
                  <a:lnTo>
                    <a:pt x="494917" y="158809"/>
                  </a:lnTo>
                  <a:lnTo>
                    <a:pt x="509510" y="206830"/>
                  </a:lnTo>
                  <a:lnTo>
                    <a:pt x="514498" y="257249"/>
                  </a:lnTo>
                  <a:lnTo>
                    <a:pt x="510354" y="303490"/>
                  </a:lnTo>
                  <a:lnTo>
                    <a:pt x="498404" y="347012"/>
                  </a:lnTo>
                  <a:lnTo>
                    <a:pt x="479376" y="387088"/>
                  </a:lnTo>
                  <a:lnTo>
                    <a:pt x="453997" y="422991"/>
                  </a:lnTo>
                  <a:lnTo>
                    <a:pt x="422991" y="453997"/>
                  </a:lnTo>
                  <a:lnTo>
                    <a:pt x="387088" y="479376"/>
                  </a:lnTo>
                  <a:lnTo>
                    <a:pt x="347012" y="498404"/>
                  </a:lnTo>
                  <a:lnTo>
                    <a:pt x="303490" y="510354"/>
                  </a:lnTo>
                  <a:lnTo>
                    <a:pt x="257249" y="51449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3307" y="4229891"/>
              <a:ext cx="193254" cy="298899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1400039" y="4658924"/>
            <a:ext cx="3606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Admins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832566" y="2026710"/>
            <a:ext cx="9031605" cy="3181985"/>
            <a:chOff x="1832566" y="2026710"/>
            <a:chExt cx="9031605" cy="3181985"/>
          </a:xfrm>
        </p:grpSpPr>
        <p:sp>
          <p:nvSpPr>
            <p:cNvPr id="76" name="object 76"/>
            <p:cNvSpPr/>
            <p:nvPr/>
          </p:nvSpPr>
          <p:spPr>
            <a:xfrm>
              <a:off x="1837328" y="2983969"/>
              <a:ext cx="355600" cy="1396365"/>
            </a:xfrm>
            <a:custGeom>
              <a:avLst/>
              <a:gdLst/>
              <a:ahLst/>
              <a:cxnLst/>
              <a:rect l="l" t="t" r="r" b="b"/>
              <a:pathLst>
                <a:path w="355600" h="1396364">
                  <a:moveTo>
                    <a:pt x="0" y="301199"/>
                  </a:moveTo>
                  <a:lnTo>
                    <a:pt x="177657" y="301199"/>
                  </a:lnTo>
                  <a:lnTo>
                    <a:pt x="177657" y="0"/>
                  </a:lnTo>
                  <a:lnTo>
                    <a:pt x="355199" y="0"/>
                  </a:lnTo>
                </a:path>
                <a:path w="355600" h="1396364">
                  <a:moveTo>
                    <a:pt x="0" y="301199"/>
                  </a:moveTo>
                  <a:lnTo>
                    <a:pt x="177657" y="301199"/>
                  </a:lnTo>
                  <a:lnTo>
                    <a:pt x="177657" y="602098"/>
                  </a:lnTo>
                  <a:lnTo>
                    <a:pt x="355199" y="602098"/>
                  </a:lnTo>
                </a:path>
                <a:path w="355600" h="1396364">
                  <a:moveTo>
                    <a:pt x="0" y="1395522"/>
                  </a:moveTo>
                  <a:lnTo>
                    <a:pt x="177652" y="1395522"/>
                  </a:lnTo>
                  <a:lnTo>
                    <a:pt x="177652" y="1396122"/>
                  </a:lnTo>
                  <a:lnTo>
                    <a:pt x="355199" y="1396122"/>
                  </a:lnTo>
                </a:path>
              </a:pathLst>
            </a:custGeom>
            <a:ln w="9524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642782" y="2113953"/>
              <a:ext cx="2216785" cy="3089910"/>
            </a:xfrm>
            <a:custGeom>
              <a:avLst/>
              <a:gdLst/>
              <a:ahLst/>
              <a:cxnLst/>
              <a:rect l="l" t="t" r="r" b="b"/>
              <a:pathLst>
                <a:path w="2216784" h="3089910">
                  <a:moveTo>
                    <a:pt x="2216395" y="3089686"/>
                  </a:moveTo>
                  <a:lnTo>
                    <a:pt x="0" y="3089686"/>
                  </a:lnTo>
                  <a:lnTo>
                    <a:pt x="0" y="0"/>
                  </a:lnTo>
                  <a:lnTo>
                    <a:pt x="2216395" y="0"/>
                  </a:lnTo>
                  <a:lnTo>
                    <a:pt x="2216395" y="3089686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642782" y="2113953"/>
              <a:ext cx="2216785" cy="3089910"/>
            </a:xfrm>
            <a:custGeom>
              <a:avLst/>
              <a:gdLst/>
              <a:ahLst/>
              <a:cxnLst/>
              <a:rect l="l" t="t" r="r" b="b"/>
              <a:pathLst>
                <a:path w="2216784" h="3089910">
                  <a:moveTo>
                    <a:pt x="0" y="0"/>
                  </a:moveTo>
                  <a:lnTo>
                    <a:pt x="2216395" y="0"/>
                  </a:lnTo>
                  <a:lnTo>
                    <a:pt x="2216395" y="3089686"/>
                  </a:lnTo>
                  <a:lnTo>
                    <a:pt x="0" y="308968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567957" y="2026710"/>
              <a:ext cx="2216785" cy="3089910"/>
            </a:xfrm>
            <a:custGeom>
              <a:avLst/>
              <a:gdLst/>
              <a:ahLst/>
              <a:cxnLst/>
              <a:rect l="l" t="t" r="r" b="b"/>
              <a:pathLst>
                <a:path w="2216784" h="3089910">
                  <a:moveTo>
                    <a:pt x="2216395" y="3089703"/>
                  </a:moveTo>
                  <a:lnTo>
                    <a:pt x="0" y="3089703"/>
                  </a:lnTo>
                  <a:lnTo>
                    <a:pt x="0" y="0"/>
                  </a:lnTo>
                  <a:lnTo>
                    <a:pt x="2216395" y="0"/>
                  </a:lnTo>
                  <a:lnTo>
                    <a:pt x="2216395" y="30897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8640974" y="4907740"/>
            <a:ext cx="3994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30" dirty="0">
                <a:latin typeface="Arial"/>
                <a:cs typeface="Arial"/>
              </a:rPr>
              <a:t>WORKER</a:t>
            </a:r>
            <a:endParaRPr sz="700">
              <a:latin typeface="Arial"/>
              <a:cs typeface="Arial"/>
            </a:endParaRPr>
          </a:p>
        </p:txBody>
      </p:sp>
      <p:pic>
        <p:nvPicPr>
          <p:cNvPr id="81" name="object 8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86182" y="4370741"/>
            <a:ext cx="1979946" cy="515673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8983940" y="4371857"/>
            <a:ext cx="1498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Monitoring</a:t>
            </a:r>
            <a:r>
              <a:rPr sz="9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Logging</a:t>
            </a:r>
            <a:r>
              <a:rPr sz="9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Tuned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SDN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DNS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90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961381" y="2698819"/>
            <a:ext cx="1708150" cy="514984"/>
          </a:xfrm>
          <a:custGeom>
            <a:avLst/>
            <a:gdLst/>
            <a:ahLst/>
            <a:cxnLst/>
            <a:rect l="l" t="t" r="r" b="b"/>
            <a:pathLst>
              <a:path w="1708150" h="514985">
                <a:moveTo>
                  <a:pt x="1707596" y="514498"/>
                </a:moveTo>
                <a:lnTo>
                  <a:pt x="0" y="514498"/>
                </a:lnTo>
                <a:lnTo>
                  <a:pt x="0" y="0"/>
                </a:lnTo>
                <a:lnTo>
                  <a:pt x="1707596" y="0"/>
                </a:lnTo>
                <a:lnTo>
                  <a:pt x="1707596" y="514498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8688332" y="2870224"/>
            <a:ext cx="198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Registry</a:t>
            </a:r>
            <a:endParaRPr sz="90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8688324" y="2698279"/>
            <a:ext cx="1978025" cy="1630045"/>
          </a:xfrm>
          <a:custGeom>
            <a:avLst/>
            <a:gdLst/>
            <a:ahLst/>
            <a:cxnLst/>
            <a:rect l="l" t="t" r="r" b="b"/>
            <a:pathLst>
              <a:path w="1978025" h="1630045">
                <a:moveTo>
                  <a:pt x="272097" y="0"/>
                </a:moveTo>
                <a:lnTo>
                  <a:pt x="0" y="0"/>
                </a:lnTo>
                <a:lnTo>
                  <a:pt x="0" y="514489"/>
                </a:lnTo>
                <a:lnTo>
                  <a:pt x="272097" y="514489"/>
                </a:lnTo>
                <a:lnTo>
                  <a:pt x="272097" y="0"/>
                </a:lnTo>
                <a:close/>
              </a:path>
              <a:path w="1978025" h="1630045">
                <a:moveTo>
                  <a:pt x="1977644" y="1115174"/>
                </a:moveTo>
                <a:lnTo>
                  <a:pt x="270052" y="1115174"/>
                </a:lnTo>
                <a:lnTo>
                  <a:pt x="270052" y="1629664"/>
                </a:lnTo>
                <a:lnTo>
                  <a:pt x="1977644" y="1629664"/>
                </a:lnTo>
                <a:lnTo>
                  <a:pt x="1977644" y="1115174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8686307" y="3813442"/>
            <a:ext cx="1979930" cy="514984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09880" marR="542290">
              <a:lnSpc>
                <a:spcPct val="100000"/>
              </a:lnSpc>
              <a:spcBef>
                <a:spcPts val="91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Prometheus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Grafana Alertmanager</a:t>
            </a:r>
            <a:endParaRPr sz="90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8686305" y="2141499"/>
            <a:ext cx="1983105" cy="2186940"/>
          </a:xfrm>
          <a:custGeom>
            <a:avLst/>
            <a:gdLst/>
            <a:ahLst/>
            <a:cxnLst/>
            <a:rect l="l" t="t" r="r" b="b"/>
            <a:pathLst>
              <a:path w="1983104" h="2186940">
                <a:moveTo>
                  <a:pt x="272097" y="1671955"/>
                </a:moveTo>
                <a:lnTo>
                  <a:pt x="0" y="1671955"/>
                </a:lnTo>
                <a:lnTo>
                  <a:pt x="0" y="2186444"/>
                </a:lnTo>
                <a:lnTo>
                  <a:pt x="272097" y="2186444"/>
                </a:lnTo>
                <a:lnTo>
                  <a:pt x="272097" y="1671955"/>
                </a:lnTo>
                <a:close/>
              </a:path>
              <a:path w="1983104" h="2186940">
                <a:moveTo>
                  <a:pt x="1982673" y="0"/>
                </a:moveTo>
                <a:lnTo>
                  <a:pt x="275069" y="0"/>
                </a:lnTo>
                <a:lnTo>
                  <a:pt x="275069" y="514502"/>
                </a:lnTo>
                <a:lnTo>
                  <a:pt x="1982673" y="514502"/>
                </a:lnTo>
                <a:lnTo>
                  <a:pt x="1982673" y="0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8688332" y="2312889"/>
            <a:ext cx="198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Kibana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Elasticsearch</a:t>
            </a:r>
            <a:endParaRPr sz="9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8688324" y="2142172"/>
            <a:ext cx="1980564" cy="1628775"/>
          </a:xfrm>
          <a:custGeom>
            <a:avLst/>
            <a:gdLst/>
            <a:ahLst/>
            <a:cxnLst/>
            <a:rect l="l" t="t" r="r" b="b"/>
            <a:pathLst>
              <a:path w="1980565" h="1628775">
                <a:moveTo>
                  <a:pt x="272097" y="0"/>
                </a:moveTo>
                <a:lnTo>
                  <a:pt x="0" y="0"/>
                </a:lnTo>
                <a:lnTo>
                  <a:pt x="0" y="514502"/>
                </a:lnTo>
                <a:lnTo>
                  <a:pt x="272097" y="514502"/>
                </a:lnTo>
                <a:lnTo>
                  <a:pt x="272097" y="0"/>
                </a:lnTo>
                <a:close/>
              </a:path>
              <a:path w="1980565" h="1628775">
                <a:moveTo>
                  <a:pt x="1980044" y="1113955"/>
                </a:moveTo>
                <a:lnTo>
                  <a:pt x="272453" y="1113955"/>
                </a:lnTo>
                <a:lnTo>
                  <a:pt x="272453" y="1628457"/>
                </a:lnTo>
                <a:lnTo>
                  <a:pt x="1980044" y="1628457"/>
                </a:lnTo>
                <a:lnTo>
                  <a:pt x="1980044" y="1113955"/>
                </a:lnTo>
                <a:close/>
              </a:path>
            </a:pathLst>
          </a:custGeom>
          <a:solidFill>
            <a:srgbClr val="3F9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8688707" y="3256118"/>
            <a:ext cx="1979930" cy="51498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sz="90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Router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1468092" y="1940038"/>
            <a:ext cx="9458960" cy="3407410"/>
            <a:chOff x="1468092" y="1940038"/>
            <a:chExt cx="9458960" cy="3407410"/>
          </a:xfrm>
        </p:grpSpPr>
        <p:sp>
          <p:nvSpPr>
            <p:cNvPr id="92" name="object 92"/>
            <p:cNvSpPr/>
            <p:nvPr/>
          </p:nvSpPr>
          <p:spPr>
            <a:xfrm>
              <a:off x="8688707" y="3256118"/>
              <a:ext cx="272415" cy="514984"/>
            </a:xfrm>
            <a:custGeom>
              <a:avLst/>
              <a:gdLst/>
              <a:ahLst/>
              <a:cxnLst/>
              <a:rect l="l" t="t" r="r" b="b"/>
              <a:pathLst>
                <a:path w="272415" h="514985">
                  <a:moveTo>
                    <a:pt x="272099" y="514498"/>
                  </a:moveTo>
                  <a:lnTo>
                    <a:pt x="0" y="514498"/>
                  </a:lnTo>
                  <a:lnTo>
                    <a:pt x="0" y="0"/>
                  </a:lnTo>
                  <a:lnTo>
                    <a:pt x="272099" y="0"/>
                  </a:lnTo>
                  <a:lnTo>
                    <a:pt x="272099" y="514498"/>
                  </a:lnTo>
                  <a:close/>
                </a:path>
              </a:pathLst>
            </a:custGeom>
            <a:solidFill>
              <a:srgbClr val="3F9C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07587" y="2323492"/>
              <a:ext cx="160424" cy="154262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04987" y="2879144"/>
              <a:ext cx="160424" cy="154249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04987" y="3435854"/>
              <a:ext cx="160424" cy="154262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07137" y="3993428"/>
              <a:ext cx="160424" cy="154262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07137" y="4512915"/>
              <a:ext cx="160424" cy="154249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44457" y="2321455"/>
              <a:ext cx="160433" cy="154262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44457" y="2879105"/>
              <a:ext cx="160433" cy="154262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44457" y="3435829"/>
              <a:ext cx="160433" cy="154262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44457" y="3993403"/>
              <a:ext cx="160433" cy="154262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44457" y="4512902"/>
              <a:ext cx="160433" cy="154262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87416" y="2909119"/>
              <a:ext cx="291374" cy="25709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657592" y="1949563"/>
              <a:ext cx="2249170" cy="3387725"/>
            </a:xfrm>
            <a:custGeom>
              <a:avLst/>
              <a:gdLst/>
              <a:ahLst/>
              <a:cxnLst/>
              <a:rect l="l" t="t" r="r" b="b"/>
              <a:pathLst>
                <a:path w="2249170" h="3387725">
                  <a:moveTo>
                    <a:pt x="0" y="0"/>
                  </a:moveTo>
                  <a:lnTo>
                    <a:pt x="2248795" y="0"/>
                  </a:lnTo>
                  <a:lnTo>
                    <a:pt x="2248795" y="3387600"/>
                  </a:lnTo>
                  <a:lnTo>
                    <a:pt x="0" y="33876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D85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962263" y="1949563"/>
              <a:ext cx="4954905" cy="3387725"/>
            </a:xfrm>
            <a:custGeom>
              <a:avLst/>
              <a:gdLst/>
              <a:ahLst/>
              <a:cxnLst/>
              <a:rect l="l" t="t" r="r" b="b"/>
              <a:pathLst>
                <a:path w="4954905" h="3387725">
                  <a:moveTo>
                    <a:pt x="0" y="0"/>
                  </a:moveTo>
                  <a:lnTo>
                    <a:pt x="4954790" y="0"/>
                  </a:lnTo>
                  <a:lnTo>
                    <a:pt x="4954790" y="3387600"/>
                  </a:lnTo>
                  <a:lnTo>
                    <a:pt x="0" y="338760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472854" y="5112064"/>
              <a:ext cx="2891155" cy="230504"/>
            </a:xfrm>
            <a:custGeom>
              <a:avLst/>
              <a:gdLst/>
              <a:ahLst/>
              <a:cxnLst/>
              <a:rect l="l" t="t" r="r" b="b"/>
              <a:pathLst>
                <a:path w="2891154" h="230504">
                  <a:moveTo>
                    <a:pt x="2890786" y="230399"/>
                  </a:moveTo>
                  <a:lnTo>
                    <a:pt x="0" y="230399"/>
                  </a:lnTo>
                  <a:lnTo>
                    <a:pt x="0" y="0"/>
                  </a:lnTo>
                  <a:lnTo>
                    <a:pt x="2890786" y="0"/>
                  </a:lnTo>
                  <a:lnTo>
                    <a:pt x="2890786" y="230399"/>
                  </a:lnTo>
                  <a:close/>
                </a:path>
              </a:pathLst>
            </a:custGeom>
            <a:solidFill>
              <a:srgbClr val="3D85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472854" y="5112064"/>
              <a:ext cx="2891155" cy="230504"/>
            </a:xfrm>
            <a:custGeom>
              <a:avLst/>
              <a:gdLst/>
              <a:ahLst/>
              <a:cxnLst/>
              <a:rect l="l" t="t" r="r" b="b"/>
              <a:pathLst>
                <a:path w="2891154" h="230504">
                  <a:moveTo>
                    <a:pt x="0" y="0"/>
                  </a:moveTo>
                  <a:lnTo>
                    <a:pt x="2890786" y="0"/>
                  </a:lnTo>
                  <a:lnTo>
                    <a:pt x="2890786" y="230399"/>
                  </a:lnTo>
                  <a:lnTo>
                    <a:pt x="0" y="230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D85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>
            <a:spLocks noGrp="1"/>
          </p:cNvSpPr>
          <p:nvPr>
            <p:ph type="title"/>
          </p:nvPr>
        </p:nvSpPr>
        <p:spPr>
          <a:xfrm>
            <a:off x="4502918" y="1073421"/>
            <a:ext cx="31870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latin typeface="Arial"/>
                <a:cs typeface="Arial"/>
              </a:rPr>
              <a:t>OpenShift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0" dirty="0"/>
              <a:t>아키텍처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674711" y="5141414"/>
            <a:ext cx="24872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plane(Master)</a:t>
            </a:r>
            <a:r>
              <a:rPr sz="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관리를</a:t>
            </a:r>
            <a:r>
              <a:rPr sz="900" spc="-50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위한</a:t>
            </a:r>
            <a:r>
              <a:rPr sz="900" spc="-50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Batang"/>
                <a:cs typeface="Batang"/>
              </a:rPr>
              <a:t>노드</a:t>
            </a:r>
            <a:endParaRPr sz="900">
              <a:latin typeface="Batang"/>
              <a:cs typeface="Batang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9137994" y="5102902"/>
            <a:ext cx="2900680" cy="240029"/>
            <a:chOff x="9137994" y="5102902"/>
            <a:chExt cx="2900680" cy="240029"/>
          </a:xfrm>
        </p:grpSpPr>
        <p:sp>
          <p:nvSpPr>
            <p:cNvPr id="111" name="object 111"/>
            <p:cNvSpPr/>
            <p:nvPr/>
          </p:nvSpPr>
          <p:spPr>
            <a:xfrm>
              <a:off x="9142756" y="5107664"/>
              <a:ext cx="2891155" cy="230504"/>
            </a:xfrm>
            <a:custGeom>
              <a:avLst/>
              <a:gdLst/>
              <a:ahLst/>
              <a:cxnLst/>
              <a:rect l="l" t="t" r="r" b="b"/>
              <a:pathLst>
                <a:path w="2891154" h="230504">
                  <a:moveTo>
                    <a:pt x="2890794" y="230399"/>
                  </a:moveTo>
                  <a:lnTo>
                    <a:pt x="0" y="230399"/>
                  </a:lnTo>
                  <a:lnTo>
                    <a:pt x="0" y="0"/>
                  </a:lnTo>
                  <a:lnTo>
                    <a:pt x="2890794" y="0"/>
                  </a:lnTo>
                  <a:lnTo>
                    <a:pt x="2890794" y="23039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142756" y="5107664"/>
              <a:ext cx="2891155" cy="230504"/>
            </a:xfrm>
            <a:custGeom>
              <a:avLst/>
              <a:gdLst/>
              <a:ahLst/>
              <a:cxnLst/>
              <a:rect l="l" t="t" r="r" b="b"/>
              <a:pathLst>
                <a:path w="2891154" h="230504">
                  <a:moveTo>
                    <a:pt x="0" y="0"/>
                  </a:moveTo>
                  <a:lnTo>
                    <a:pt x="2890794" y="0"/>
                  </a:lnTo>
                  <a:lnTo>
                    <a:pt x="2890794" y="230399"/>
                  </a:lnTo>
                  <a:lnTo>
                    <a:pt x="0" y="230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5943850" y="5137014"/>
            <a:ext cx="60947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4704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Compute(Worker)</a:t>
            </a: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9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애플리케이션</a:t>
            </a:r>
            <a:r>
              <a:rPr sz="900" spc="-60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및</a:t>
            </a:r>
            <a:r>
              <a:rPr sz="900" spc="-65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구성요소</a:t>
            </a:r>
            <a:r>
              <a:rPr sz="900" spc="-60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Batang"/>
                <a:cs typeface="Batang"/>
              </a:rPr>
              <a:t>실행</a:t>
            </a:r>
            <a:endParaRPr sz="900">
              <a:latin typeface="Batang"/>
              <a:cs typeface="Batang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237826" y="2461732"/>
            <a:ext cx="3216910" cy="240029"/>
            <a:chOff x="237826" y="2461732"/>
            <a:chExt cx="3216910" cy="240029"/>
          </a:xfrm>
        </p:grpSpPr>
        <p:sp>
          <p:nvSpPr>
            <p:cNvPr id="115" name="object 115"/>
            <p:cNvSpPr/>
            <p:nvPr/>
          </p:nvSpPr>
          <p:spPr>
            <a:xfrm>
              <a:off x="242588" y="2466494"/>
              <a:ext cx="3207385" cy="230504"/>
            </a:xfrm>
            <a:custGeom>
              <a:avLst/>
              <a:gdLst/>
              <a:ahLst/>
              <a:cxnLst/>
              <a:rect l="l" t="t" r="r" b="b"/>
              <a:pathLst>
                <a:path w="3207385" h="230505">
                  <a:moveTo>
                    <a:pt x="3207304" y="230399"/>
                  </a:moveTo>
                  <a:lnTo>
                    <a:pt x="0" y="230399"/>
                  </a:lnTo>
                  <a:lnTo>
                    <a:pt x="0" y="0"/>
                  </a:lnTo>
                  <a:lnTo>
                    <a:pt x="3207304" y="0"/>
                  </a:lnTo>
                  <a:lnTo>
                    <a:pt x="3207304" y="230399"/>
                  </a:lnTo>
                  <a:close/>
                </a:path>
              </a:pathLst>
            </a:custGeom>
            <a:solidFill>
              <a:srgbClr val="69A8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42588" y="2466494"/>
              <a:ext cx="3207385" cy="230504"/>
            </a:xfrm>
            <a:custGeom>
              <a:avLst/>
              <a:gdLst/>
              <a:ahLst/>
              <a:cxnLst/>
              <a:rect l="l" t="t" r="r" b="b"/>
              <a:pathLst>
                <a:path w="3207385" h="230505">
                  <a:moveTo>
                    <a:pt x="0" y="0"/>
                  </a:moveTo>
                  <a:lnTo>
                    <a:pt x="3207304" y="0"/>
                  </a:lnTo>
                  <a:lnTo>
                    <a:pt x="3207304" y="230399"/>
                  </a:lnTo>
                  <a:lnTo>
                    <a:pt x="0" y="230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9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391011" y="2495841"/>
            <a:ext cx="29108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Batang"/>
                <a:cs typeface="Batang"/>
              </a:rPr>
              <a:t>웹콘솔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9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CLI,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Arial"/>
                <a:cs typeface="Arial"/>
              </a:rPr>
              <a:t>REST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를</a:t>
            </a:r>
            <a:r>
              <a:rPr sz="900" spc="-85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통한</a:t>
            </a:r>
            <a:r>
              <a:rPr sz="900" spc="-85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클러스터</a:t>
            </a:r>
            <a:r>
              <a:rPr sz="900" spc="-85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접근</a:t>
            </a:r>
            <a:r>
              <a:rPr sz="900" spc="-85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FFFFFF"/>
                </a:solidFill>
                <a:latin typeface="Batang"/>
                <a:cs typeface="Batang"/>
              </a:rPr>
              <a:t>및</a:t>
            </a:r>
            <a:r>
              <a:rPr sz="900" spc="-80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Batang"/>
                <a:cs typeface="Batang"/>
              </a:rPr>
              <a:t>운영관리</a:t>
            </a:r>
            <a:endParaRPr sz="900">
              <a:latin typeface="Batang"/>
              <a:cs typeface="Batang"/>
            </a:endParaRPr>
          </a:p>
        </p:txBody>
      </p:sp>
      <p:sp>
        <p:nvSpPr>
          <p:cNvPr id="119" name="object 1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fld id="{81D60167-4931-47E6-BA6A-407CBD079E47}" type="slidenum">
              <a:rPr spc="-50" dirty="0">
                <a:latin typeface="Arial"/>
                <a:cs typeface="Arial"/>
              </a:rPr>
              <a:t>2</a:t>
            </a:fld>
            <a:endParaRPr spc="-50" dirty="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873223" y="369610"/>
            <a:ext cx="533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0000"/>
                </a:solidFill>
                <a:latin typeface="Batang"/>
                <a:cs typeface="Batang"/>
              </a:rPr>
              <a:t>아키텍처</a:t>
            </a:r>
            <a:endParaRPr sz="1000">
              <a:latin typeface="Batang"/>
              <a:cs typeface="Batang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7291" y="1073421"/>
            <a:ext cx="39382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OpenShift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/>
              <a:t>기본</a:t>
            </a:r>
            <a:r>
              <a:rPr sz="2800" spc="-229" dirty="0"/>
              <a:t> </a:t>
            </a:r>
            <a:r>
              <a:rPr sz="2800" spc="-20" dirty="0"/>
              <a:t>아키텍처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673" y="6174555"/>
            <a:ext cx="863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223" y="369610"/>
            <a:ext cx="533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0000"/>
                </a:solidFill>
                <a:latin typeface="Batang"/>
                <a:cs typeface="Batang"/>
              </a:rPr>
              <a:t>아키텍처</a:t>
            </a:r>
            <a:endParaRPr sz="1000">
              <a:latin typeface="Batang"/>
              <a:cs typeface="Batang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61453" y="2694594"/>
            <a:ext cx="5947410" cy="1188085"/>
            <a:chOff x="2161453" y="2694594"/>
            <a:chExt cx="5947410" cy="1188085"/>
          </a:xfrm>
        </p:grpSpPr>
        <p:sp>
          <p:nvSpPr>
            <p:cNvPr id="6" name="object 6"/>
            <p:cNvSpPr/>
            <p:nvPr/>
          </p:nvSpPr>
          <p:spPr>
            <a:xfrm>
              <a:off x="2167803" y="2700944"/>
              <a:ext cx="1363980" cy="1158240"/>
            </a:xfrm>
            <a:custGeom>
              <a:avLst/>
              <a:gdLst/>
              <a:ahLst/>
              <a:cxnLst/>
              <a:rect l="l" t="t" r="r" b="b"/>
              <a:pathLst>
                <a:path w="1363979" h="1158239">
                  <a:moveTo>
                    <a:pt x="0" y="0"/>
                  </a:moveTo>
                  <a:lnTo>
                    <a:pt x="1363489" y="0"/>
                  </a:lnTo>
                  <a:lnTo>
                    <a:pt x="1363489" y="1157997"/>
                  </a:lnTo>
                  <a:lnTo>
                    <a:pt x="0" y="115799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AE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56611" y="2718069"/>
              <a:ext cx="1545590" cy="1158240"/>
            </a:xfrm>
            <a:custGeom>
              <a:avLst/>
              <a:gdLst/>
              <a:ahLst/>
              <a:cxnLst/>
              <a:rect l="l" t="t" r="r" b="b"/>
              <a:pathLst>
                <a:path w="1545590" h="1158239">
                  <a:moveTo>
                    <a:pt x="0" y="0"/>
                  </a:moveTo>
                  <a:lnTo>
                    <a:pt x="1545296" y="0"/>
                  </a:lnTo>
                  <a:lnTo>
                    <a:pt x="1545296" y="1157997"/>
                  </a:lnTo>
                  <a:lnTo>
                    <a:pt x="0" y="115799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98703" y="4480790"/>
            <a:ext cx="10514965" cy="1502410"/>
          </a:xfrm>
          <a:custGeom>
            <a:avLst/>
            <a:gdLst/>
            <a:ahLst/>
            <a:cxnLst/>
            <a:rect l="l" t="t" r="r" b="b"/>
            <a:pathLst>
              <a:path w="10514965" h="1502410">
                <a:moveTo>
                  <a:pt x="10514373" y="1502396"/>
                </a:moveTo>
                <a:lnTo>
                  <a:pt x="0" y="1502396"/>
                </a:lnTo>
                <a:lnTo>
                  <a:pt x="0" y="0"/>
                </a:lnTo>
                <a:lnTo>
                  <a:pt x="10514373" y="0"/>
                </a:lnTo>
                <a:lnTo>
                  <a:pt x="10514373" y="1502396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87961" y="4545167"/>
            <a:ext cx="4656455" cy="15144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14960" indent="-302260">
              <a:lnSpc>
                <a:spcPct val="100000"/>
              </a:lnSpc>
              <a:spcBef>
                <a:spcPts val="265"/>
              </a:spcBef>
              <a:buSzPct val="130000"/>
              <a:buFont typeface="Arial"/>
              <a:buChar char="●"/>
              <a:tabLst>
                <a:tab pos="314960" algn="l"/>
              </a:tabLst>
            </a:pPr>
            <a:r>
              <a:rPr sz="1000" dirty="0">
                <a:latin typeface="Malgun Gothic"/>
                <a:cs typeface="Malgun Gothic"/>
              </a:rPr>
              <a:t>Bastion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Node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spc="75" dirty="0">
                <a:latin typeface="Malgun Gothic"/>
                <a:cs typeface="Malgun Gothic"/>
              </a:rPr>
              <a:t>: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b="1" spc="-45" dirty="0">
                <a:latin typeface="Malgun Gothic"/>
                <a:cs typeface="Malgun Gothic"/>
              </a:rPr>
              <a:t>DNS</a:t>
            </a:r>
            <a:r>
              <a:rPr sz="1000" b="1" spc="-25" dirty="0">
                <a:latin typeface="Malgun Gothic"/>
                <a:cs typeface="Malgun Gothic"/>
              </a:rPr>
              <a:t> </a:t>
            </a:r>
            <a:r>
              <a:rPr sz="1000" b="1" spc="-65" dirty="0">
                <a:latin typeface="Malgun Gothic"/>
                <a:cs typeface="Malgun Gothic"/>
              </a:rPr>
              <a:t>서비스</a:t>
            </a:r>
            <a:r>
              <a:rPr sz="1000" b="1" spc="-30" dirty="0">
                <a:latin typeface="Malgun Gothic"/>
                <a:cs typeface="Malgun Gothic"/>
              </a:rPr>
              <a:t> </a:t>
            </a:r>
            <a:r>
              <a:rPr sz="1000" b="1" spc="-60" dirty="0">
                <a:latin typeface="Malgun Gothic"/>
                <a:cs typeface="Malgun Gothic"/>
              </a:rPr>
              <a:t>및</a:t>
            </a:r>
            <a:r>
              <a:rPr sz="1000" b="1" spc="-3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L4</a:t>
            </a:r>
            <a:r>
              <a:rPr sz="1000" dirty="0">
                <a:latin typeface="Malgun Gothic"/>
                <a:cs typeface="Malgun Gothic"/>
              </a:rPr>
              <a:t>(HAProxy)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구성</a:t>
            </a:r>
            <a:endParaRPr sz="1000">
              <a:latin typeface="Malgun Gothic"/>
              <a:cs typeface="Malgun Gothic"/>
            </a:endParaRPr>
          </a:p>
          <a:p>
            <a:pPr marL="314960" indent="-302260">
              <a:lnSpc>
                <a:spcPct val="100000"/>
              </a:lnSpc>
              <a:spcBef>
                <a:spcPts val="515"/>
              </a:spcBef>
              <a:buSzPct val="130000"/>
              <a:buFont typeface="Arial"/>
              <a:buChar char="●"/>
              <a:tabLst>
                <a:tab pos="314960" algn="l"/>
              </a:tabLst>
            </a:pPr>
            <a:r>
              <a:rPr sz="1000" dirty="0">
                <a:latin typeface="Malgun Gothic"/>
                <a:cs typeface="Malgun Gothic"/>
              </a:rPr>
              <a:t>Bootstrap</a:t>
            </a:r>
            <a:r>
              <a:rPr sz="1000" spc="-65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Node</a:t>
            </a:r>
            <a:r>
              <a:rPr sz="1000" spc="-65" dirty="0">
                <a:latin typeface="Malgun Gothic"/>
                <a:cs typeface="Malgun Gothic"/>
              </a:rPr>
              <a:t> </a:t>
            </a:r>
            <a:r>
              <a:rPr sz="1000" spc="75" dirty="0">
                <a:latin typeface="Malgun Gothic"/>
                <a:cs typeface="Malgun Gothic"/>
              </a:rPr>
              <a:t>:</a:t>
            </a:r>
            <a:r>
              <a:rPr sz="1000" spc="-65" dirty="0">
                <a:latin typeface="Malgun Gothic"/>
                <a:cs typeface="Malgun Gothic"/>
              </a:rPr>
              <a:t> </a:t>
            </a:r>
            <a:r>
              <a:rPr sz="1000" spc="-60" dirty="0">
                <a:latin typeface="Malgun Gothic"/>
                <a:cs typeface="Malgun Gothic"/>
              </a:rPr>
              <a:t>설치</a:t>
            </a:r>
            <a:r>
              <a:rPr sz="1000" spc="-65" dirty="0">
                <a:latin typeface="Malgun Gothic"/>
                <a:cs typeface="Malgun Gothic"/>
              </a:rPr>
              <a:t> </a:t>
            </a:r>
            <a:r>
              <a:rPr sz="1000" spc="-60" dirty="0">
                <a:latin typeface="Malgun Gothic"/>
                <a:cs typeface="Malgun Gothic"/>
              </a:rPr>
              <a:t>시 </a:t>
            </a:r>
            <a:r>
              <a:rPr sz="1000" spc="-65" dirty="0">
                <a:latin typeface="Malgun Gothic"/>
                <a:cs typeface="Malgun Gothic"/>
              </a:rPr>
              <a:t>필요한</a:t>
            </a:r>
            <a:r>
              <a:rPr sz="1000" spc="-70" dirty="0">
                <a:latin typeface="Malgun Gothic"/>
                <a:cs typeface="Malgun Gothic"/>
              </a:rPr>
              <a:t> </a:t>
            </a:r>
            <a:r>
              <a:rPr sz="1000" b="1" spc="-60" dirty="0">
                <a:latin typeface="Malgun Gothic"/>
                <a:cs typeface="Malgun Gothic"/>
              </a:rPr>
              <a:t>임시</a:t>
            </a:r>
            <a:r>
              <a:rPr sz="1000" b="1" spc="-65" dirty="0">
                <a:latin typeface="Malgun Gothic"/>
                <a:cs typeface="Malgun Gothic"/>
              </a:rPr>
              <a:t> </a:t>
            </a:r>
            <a:r>
              <a:rPr sz="1000" spc="-50" dirty="0">
                <a:latin typeface="Malgun Gothic"/>
                <a:cs typeface="Malgun Gothic"/>
              </a:rPr>
              <a:t>구성(설치</a:t>
            </a:r>
            <a:r>
              <a:rPr sz="1000" spc="-65" dirty="0">
                <a:latin typeface="Malgun Gothic"/>
                <a:cs typeface="Malgun Gothic"/>
              </a:rPr>
              <a:t> </a:t>
            </a:r>
            <a:r>
              <a:rPr sz="1000" spc="-60" dirty="0">
                <a:latin typeface="Malgun Gothic"/>
                <a:cs typeface="Malgun Gothic"/>
              </a:rPr>
              <a:t>후</a:t>
            </a:r>
            <a:r>
              <a:rPr sz="1000" spc="-65" dirty="0">
                <a:latin typeface="Malgun Gothic"/>
                <a:cs typeface="Malgun Gothic"/>
              </a:rPr>
              <a:t> </a:t>
            </a:r>
            <a:r>
              <a:rPr sz="1000" spc="-60" dirty="0">
                <a:latin typeface="Malgun Gothic"/>
                <a:cs typeface="Malgun Gothic"/>
              </a:rPr>
              <a:t>삭제 </a:t>
            </a:r>
            <a:r>
              <a:rPr sz="1000" spc="-25" dirty="0">
                <a:latin typeface="Malgun Gothic"/>
                <a:cs typeface="Malgun Gothic"/>
              </a:rPr>
              <a:t>가능)</a:t>
            </a:r>
            <a:endParaRPr sz="1000">
              <a:latin typeface="Malgun Gothic"/>
              <a:cs typeface="Malgun Gothic"/>
            </a:endParaRPr>
          </a:p>
          <a:p>
            <a:pPr marL="314960" indent="-302260">
              <a:lnSpc>
                <a:spcPct val="100000"/>
              </a:lnSpc>
              <a:spcBef>
                <a:spcPts val="515"/>
              </a:spcBef>
              <a:buSzPct val="130000"/>
              <a:buFont typeface="Arial"/>
              <a:buChar char="●"/>
              <a:tabLst>
                <a:tab pos="314960" algn="l"/>
              </a:tabLst>
            </a:pPr>
            <a:r>
              <a:rPr sz="1000" dirty="0">
                <a:latin typeface="Malgun Gothic"/>
                <a:cs typeface="Malgun Gothic"/>
              </a:rPr>
              <a:t>Master</a:t>
            </a:r>
            <a:r>
              <a:rPr sz="1000" spc="-55" dirty="0">
                <a:latin typeface="Malgun Gothic"/>
                <a:cs typeface="Malgun Gothic"/>
              </a:rPr>
              <a:t> </a:t>
            </a:r>
            <a:r>
              <a:rPr sz="1000" spc="-20" dirty="0">
                <a:latin typeface="Malgun Gothic"/>
                <a:cs typeface="Malgun Gothic"/>
              </a:rPr>
              <a:t>Nodes</a:t>
            </a:r>
            <a:r>
              <a:rPr sz="1000" spc="-50" dirty="0">
                <a:latin typeface="Malgun Gothic"/>
                <a:cs typeface="Malgun Gothic"/>
              </a:rPr>
              <a:t> </a:t>
            </a:r>
            <a:r>
              <a:rPr sz="1000" spc="75" dirty="0">
                <a:latin typeface="Malgun Gothic"/>
                <a:cs typeface="Malgun Gothic"/>
              </a:rPr>
              <a:t>:</a:t>
            </a:r>
            <a:r>
              <a:rPr sz="1000" spc="-5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Malgun Gothic"/>
                <a:cs typeface="Malgun Gothic"/>
              </a:rPr>
              <a:t>ETCD</a:t>
            </a:r>
            <a:r>
              <a:rPr sz="1000" b="1" spc="-50" dirty="0">
                <a:latin typeface="Malgun Gothic"/>
                <a:cs typeface="Malgun Gothic"/>
              </a:rPr>
              <a:t> </a:t>
            </a:r>
            <a:r>
              <a:rPr sz="1000" b="1" spc="-60" dirty="0">
                <a:latin typeface="Malgun Gothic"/>
                <a:cs typeface="Malgun Gothic"/>
              </a:rPr>
              <a:t>와</a:t>
            </a:r>
            <a:r>
              <a:rPr sz="1000" b="1" spc="-55" dirty="0">
                <a:latin typeface="Malgun Gothic"/>
                <a:cs typeface="Malgun Gothic"/>
              </a:rPr>
              <a:t> </a:t>
            </a:r>
            <a:r>
              <a:rPr sz="1000" b="1" spc="-10" dirty="0">
                <a:latin typeface="Malgun Gothic"/>
                <a:cs typeface="Malgun Gothic"/>
              </a:rPr>
              <a:t>Web</a:t>
            </a:r>
            <a:r>
              <a:rPr sz="1000" b="1" spc="-50" dirty="0">
                <a:latin typeface="Malgun Gothic"/>
                <a:cs typeface="Malgun Gothic"/>
              </a:rPr>
              <a:t> </a:t>
            </a:r>
            <a:r>
              <a:rPr sz="1000" b="1" spc="-25" dirty="0">
                <a:latin typeface="Malgun Gothic"/>
                <a:cs typeface="Malgun Gothic"/>
              </a:rPr>
              <a:t>Console</a:t>
            </a:r>
            <a:r>
              <a:rPr sz="1000" b="1" spc="-60" dirty="0">
                <a:latin typeface="Malgun Gothic"/>
                <a:cs typeface="Malgun Gothic"/>
              </a:rPr>
              <a:t> </a:t>
            </a:r>
            <a:r>
              <a:rPr sz="1000" spc="-60" dirty="0">
                <a:latin typeface="Malgun Gothic"/>
                <a:cs typeface="Malgun Gothic"/>
              </a:rPr>
              <a:t>를</a:t>
            </a:r>
            <a:r>
              <a:rPr sz="1000" spc="-50" dirty="0">
                <a:latin typeface="Malgun Gothic"/>
                <a:cs typeface="Malgun Gothic"/>
              </a:rPr>
              <a:t> </a:t>
            </a:r>
            <a:r>
              <a:rPr sz="1000" spc="-60" dirty="0">
                <a:latin typeface="Malgun Gothic"/>
                <a:cs typeface="Malgun Gothic"/>
              </a:rPr>
              <a:t>함께</a:t>
            </a:r>
            <a:r>
              <a:rPr sz="1000" spc="-50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구성</a:t>
            </a:r>
            <a:endParaRPr sz="1000">
              <a:latin typeface="Malgun Gothic"/>
              <a:cs typeface="Malgun Gothic"/>
            </a:endParaRPr>
          </a:p>
          <a:p>
            <a:pPr marL="314960" indent="-302260">
              <a:lnSpc>
                <a:spcPct val="100000"/>
              </a:lnSpc>
              <a:spcBef>
                <a:spcPts val="520"/>
              </a:spcBef>
              <a:buSzPct val="130000"/>
              <a:buFont typeface="Arial"/>
              <a:buChar char="●"/>
              <a:tabLst>
                <a:tab pos="314960" algn="l"/>
              </a:tabLst>
            </a:pPr>
            <a:r>
              <a:rPr sz="1000" dirty="0">
                <a:latin typeface="Malgun Gothic"/>
                <a:cs typeface="Malgun Gothic"/>
              </a:rPr>
              <a:t>Infra</a:t>
            </a:r>
            <a:r>
              <a:rPr sz="1000" spc="-35" dirty="0">
                <a:latin typeface="Malgun Gothic"/>
                <a:cs typeface="Malgun Gothic"/>
              </a:rPr>
              <a:t> </a:t>
            </a:r>
            <a:r>
              <a:rPr sz="1000" spc="-20" dirty="0">
                <a:latin typeface="Malgun Gothic"/>
                <a:cs typeface="Malgun Gothic"/>
              </a:rPr>
              <a:t>Nodes</a:t>
            </a:r>
            <a:r>
              <a:rPr sz="1000" spc="-35" dirty="0">
                <a:latin typeface="Malgun Gothic"/>
                <a:cs typeface="Malgun Gothic"/>
              </a:rPr>
              <a:t> </a:t>
            </a:r>
            <a:r>
              <a:rPr sz="1000" spc="75" dirty="0">
                <a:latin typeface="Malgun Gothic"/>
                <a:cs typeface="Malgun Gothic"/>
              </a:rPr>
              <a:t>:</a:t>
            </a:r>
            <a:r>
              <a:rPr sz="1000" spc="-35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Internal</a:t>
            </a:r>
            <a:r>
              <a:rPr sz="1000" spc="-40" dirty="0">
                <a:latin typeface="Malgun Gothic"/>
                <a:cs typeface="Malgun Gothic"/>
              </a:rPr>
              <a:t> </a:t>
            </a:r>
            <a:r>
              <a:rPr sz="1000" b="1" spc="-30" dirty="0">
                <a:latin typeface="Malgun Gothic"/>
                <a:cs typeface="Malgun Gothic"/>
              </a:rPr>
              <a:t>Registry, </a:t>
            </a:r>
            <a:r>
              <a:rPr sz="1000" b="1" spc="-25" dirty="0">
                <a:latin typeface="Malgun Gothic"/>
                <a:cs typeface="Malgun Gothic"/>
              </a:rPr>
              <a:t>Metrics</a:t>
            </a:r>
            <a:r>
              <a:rPr sz="1000" b="1" spc="-35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Service를</a:t>
            </a:r>
            <a:r>
              <a:rPr sz="1000" spc="-35" dirty="0">
                <a:latin typeface="Malgun Gothic"/>
                <a:cs typeface="Malgun Gothic"/>
              </a:rPr>
              <a:t> </a:t>
            </a:r>
            <a:r>
              <a:rPr sz="1000" spc="-60" dirty="0">
                <a:latin typeface="Malgun Gothic"/>
                <a:cs typeface="Malgun Gothic"/>
              </a:rPr>
              <a:t>함께</a:t>
            </a:r>
            <a:r>
              <a:rPr sz="1000" spc="-35" dirty="0">
                <a:latin typeface="Malgun Gothic"/>
                <a:cs typeface="Malgun Gothic"/>
              </a:rPr>
              <a:t> 구성</a:t>
            </a:r>
            <a:endParaRPr sz="1000">
              <a:latin typeface="Malgun Gothic"/>
              <a:cs typeface="Malgun Gothic"/>
            </a:endParaRPr>
          </a:p>
          <a:p>
            <a:pPr marL="314960" indent="-302260">
              <a:lnSpc>
                <a:spcPct val="100000"/>
              </a:lnSpc>
              <a:spcBef>
                <a:spcPts val="515"/>
              </a:spcBef>
              <a:buSzPct val="130000"/>
              <a:buFont typeface="Arial"/>
              <a:buChar char="●"/>
              <a:tabLst>
                <a:tab pos="314960" algn="l"/>
              </a:tabLst>
            </a:pPr>
            <a:r>
              <a:rPr sz="1000" dirty="0">
                <a:latin typeface="Malgun Gothic"/>
                <a:cs typeface="Malgun Gothic"/>
              </a:rPr>
              <a:t>Router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spc="-20" dirty="0">
                <a:latin typeface="Malgun Gothic"/>
                <a:cs typeface="Malgun Gothic"/>
              </a:rPr>
              <a:t>Nodes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spc="75" dirty="0">
                <a:latin typeface="Malgun Gothic"/>
                <a:cs typeface="Malgun Gothic"/>
              </a:rPr>
              <a:t>:</a:t>
            </a:r>
            <a:r>
              <a:rPr sz="1000" spc="-25" dirty="0">
                <a:latin typeface="Malgun Gothic"/>
                <a:cs typeface="Malgun Gothic"/>
              </a:rPr>
              <a:t> </a:t>
            </a:r>
            <a:r>
              <a:rPr sz="1000" b="1" spc="-10" dirty="0">
                <a:latin typeface="Malgun Gothic"/>
                <a:cs typeface="Malgun Gothic"/>
              </a:rPr>
              <a:t>Router</a:t>
            </a:r>
            <a:r>
              <a:rPr sz="1000" spc="-10" dirty="0">
                <a:latin typeface="Malgun Gothic"/>
                <a:cs typeface="Malgun Gothic"/>
              </a:rPr>
              <a:t>(Ingress)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Pod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구성</a:t>
            </a:r>
            <a:endParaRPr sz="1000">
              <a:latin typeface="Malgun Gothic"/>
              <a:cs typeface="Malgun Gothic"/>
            </a:endParaRPr>
          </a:p>
          <a:p>
            <a:pPr marL="314960" indent="-302260">
              <a:lnSpc>
                <a:spcPct val="100000"/>
              </a:lnSpc>
              <a:spcBef>
                <a:spcPts val="515"/>
              </a:spcBef>
              <a:buSzPct val="130000"/>
              <a:buFont typeface="Arial"/>
              <a:buChar char="●"/>
              <a:tabLst>
                <a:tab pos="314960" algn="l"/>
              </a:tabLst>
            </a:pPr>
            <a:r>
              <a:rPr sz="1000" dirty="0">
                <a:latin typeface="Malgun Gothic"/>
                <a:cs typeface="Malgun Gothic"/>
              </a:rPr>
              <a:t>Worker(App)</a:t>
            </a:r>
            <a:r>
              <a:rPr sz="1000" spc="-15" dirty="0">
                <a:latin typeface="Malgun Gothic"/>
                <a:cs typeface="Malgun Gothic"/>
              </a:rPr>
              <a:t> </a:t>
            </a:r>
            <a:r>
              <a:rPr sz="1000" spc="-20" dirty="0">
                <a:latin typeface="Malgun Gothic"/>
                <a:cs typeface="Malgun Gothic"/>
              </a:rPr>
              <a:t>Nodes</a:t>
            </a:r>
            <a:r>
              <a:rPr sz="1000" spc="-10" dirty="0">
                <a:latin typeface="Malgun Gothic"/>
                <a:cs typeface="Malgun Gothic"/>
              </a:rPr>
              <a:t> </a:t>
            </a:r>
            <a:r>
              <a:rPr sz="1000" spc="75" dirty="0">
                <a:latin typeface="Malgun Gothic"/>
                <a:cs typeface="Malgun Gothic"/>
              </a:rPr>
              <a:t>:</a:t>
            </a:r>
            <a:r>
              <a:rPr sz="1000" spc="-20" dirty="0">
                <a:latin typeface="Malgun Gothic"/>
                <a:cs typeface="Malgun Gothic"/>
              </a:rPr>
              <a:t> </a:t>
            </a:r>
            <a:r>
              <a:rPr sz="1000" b="1" spc="-20" dirty="0">
                <a:latin typeface="Malgun Gothic"/>
                <a:cs typeface="Malgun Gothic"/>
              </a:rPr>
              <a:t>Application</a:t>
            </a:r>
            <a:r>
              <a:rPr sz="1000" b="1" spc="-10" dirty="0">
                <a:latin typeface="Malgun Gothic"/>
                <a:cs typeface="Malgun Gothic"/>
              </a:rPr>
              <a:t> </a:t>
            </a:r>
            <a:r>
              <a:rPr sz="1000" b="1" spc="-65" dirty="0">
                <a:latin typeface="Malgun Gothic"/>
                <a:cs typeface="Malgun Gothic"/>
              </a:rPr>
              <a:t>서비스용</a:t>
            </a:r>
            <a:r>
              <a:rPr sz="1000" b="1" spc="-20" dirty="0">
                <a:latin typeface="Malgun Gothic"/>
                <a:cs typeface="Malgun Gothic"/>
              </a:rPr>
              <a:t> </a:t>
            </a:r>
            <a:r>
              <a:rPr sz="1000" spc="-65" dirty="0">
                <a:latin typeface="Malgun Gothic"/>
                <a:cs typeface="Malgun Gothic"/>
              </a:rPr>
              <a:t>컨테이너</a:t>
            </a:r>
            <a:r>
              <a:rPr sz="1000" spc="-10" dirty="0">
                <a:latin typeface="Malgun Gothic"/>
                <a:cs typeface="Malgun Gothic"/>
              </a:rPr>
              <a:t> </a:t>
            </a:r>
            <a:r>
              <a:rPr sz="1000" spc="-20" dirty="0">
                <a:latin typeface="Malgun Gothic"/>
                <a:cs typeface="Malgun Gothic"/>
              </a:rPr>
              <a:t>구성,</a:t>
            </a:r>
            <a:r>
              <a:rPr sz="1000" spc="-15" dirty="0">
                <a:latin typeface="Malgun Gothic"/>
                <a:cs typeface="Malgun Gothic"/>
              </a:rPr>
              <a:t> </a:t>
            </a:r>
            <a:r>
              <a:rPr sz="1000" b="1" u="sng" spc="-30" dirty="0">
                <a:solidFill>
                  <a:srgbClr val="F63636"/>
                </a:solidFill>
                <a:uFill>
                  <a:solidFill>
                    <a:srgbClr val="F63636"/>
                  </a:solidFill>
                </a:uFill>
                <a:latin typeface="Malgun Gothic"/>
                <a:cs typeface="Malgun Gothic"/>
              </a:rPr>
              <a:t>Subscription</a:t>
            </a:r>
            <a:r>
              <a:rPr sz="1000" b="1" u="sng" spc="-10" dirty="0">
                <a:solidFill>
                  <a:srgbClr val="F63636"/>
                </a:solidFill>
                <a:uFill>
                  <a:solidFill>
                    <a:srgbClr val="F63636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b="1" u="sng" spc="-25" dirty="0">
                <a:solidFill>
                  <a:srgbClr val="F63636"/>
                </a:solidFill>
                <a:uFill>
                  <a:solidFill>
                    <a:srgbClr val="F63636"/>
                  </a:solidFill>
                </a:uFill>
                <a:latin typeface="Malgun Gothic"/>
                <a:cs typeface="Malgun Gothic"/>
              </a:rPr>
              <a:t>구매</a:t>
            </a:r>
            <a:endParaRPr sz="1000">
              <a:latin typeface="Malgun Gothic"/>
              <a:cs typeface="Malgun Gothic"/>
            </a:endParaRPr>
          </a:p>
          <a:p>
            <a:pPr marL="314960" indent="-302260">
              <a:lnSpc>
                <a:spcPct val="100000"/>
              </a:lnSpc>
              <a:spcBef>
                <a:spcPts val="515"/>
              </a:spcBef>
              <a:buSzPct val="130000"/>
              <a:buFont typeface="Arial"/>
              <a:buChar char="●"/>
              <a:tabLst>
                <a:tab pos="314960" algn="l"/>
              </a:tabLst>
            </a:pPr>
            <a:r>
              <a:rPr sz="1000" u="sng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Master</a:t>
            </a:r>
            <a:r>
              <a:rPr sz="10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Nodes</a:t>
            </a:r>
            <a:r>
              <a:rPr sz="10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와</a:t>
            </a:r>
            <a:r>
              <a:rPr sz="10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Router</a:t>
            </a:r>
            <a:r>
              <a:rPr sz="10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Nodes</a:t>
            </a:r>
            <a:r>
              <a:rPr sz="10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는</a:t>
            </a:r>
            <a:r>
              <a:rPr sz="10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외부</a:t>
            </a:r>
            <a:r>
              <a:rPr sz="10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서비스</a:t>
            </a:r>
            <a:r>
              <a:rPr sz="10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포트</a:t>
            </a:r>
            <a:r>
              <a:rPr sz="10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오픈</a:t>
            </a:r>
            <a:r>
              <a:rPr sz="1000" spc="-65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필요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7961" y="6091790"/>
            <a:ext cx="3883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 indent="-302260">
              <a:lnSpc>
                <a:spcPct val="100000"/>
              </a:lnSpc>
              <a:spcBef>
                <a:spcPts val="100"/>
              </a:spcBef>
              <a:buSzPct val="130000"/>
              <a:buFont typeface="Arial"/>
              <a:buChar char="●"/>
              <a:tabLst>
                <a:tab pos="314960" algn="l"/>
              </a:tabLst>
            </a:pPr>
            <a:r>
              <a:rPr sz="1000" spc="-60" dirty="0">
                <a:latin typeface="Malgun Gothic"/>
                <a:cs typeface="Malgun Gothic"/>
              </a:rPr>
              <a:t>모든</a:t>
            </a:r>
            <a:r>
              <a:rPr sz="1000" spc="-50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Nodes는</a:t>
            </a:r>
            <a:r>
              <a:rPr sz="1000" spc="-45" dirty="0">
                <a:latin typeface="Malgun Gothic"/>
                <a:cs typeface="Malgun Gothic"/>
              </a:rPr>
              <a:t> 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물리(Bare</a:t>
            </a:r>
            <a:r>
              <a:rPr sz="1000" u="sng" spc="-4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Metal)</a:t>
            </a:r>
            <a:r>
              <a:rPr sz="1000" u="sng" spc="-5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및</a:t>
            </a:r>
            <a:r>
              <a:rPr sz="1000" u="sng" spc="-4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가상화(VM)</a:t>
            </a:r>
            <a:r>
              <a:rPr sz="1000" u="sng" spc="-4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상에서</a:t>
            </a:r>
            <a:r>
              <a:rPr sz="1000" u="sng" spc="-4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0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구성</a:t>
            </a:r>
            <a:r>
              <a:rPr sz="1000" spc="-50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가능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52310" y="4662090"/>
            <a:ext cx="4164965" cy="1173480"/>
            <a:chOff x="7052310" y="4662090"/>
            <a:chExt cx="4164965" cy="1173480"/>
          </a:xfrm>
        </p:grpSpPr>
        <p:sp>
          <p:nvSpPr>
            <p:cNvPr id="12" name="object 12"/>
            <p:cNvSpPr/>
            <p:nvPr/>
          </p:nvSpPr>
          <p:spPr>
            <a:xfrm>
              <a:off x="7192835" y="4668440"/>
              <a:ext cx="4017645" cy="1160780"/>
            </a:xfrm>
            <a:custGeom>
              <a:avLst/>
              <a:gdLst/>
              <a:ahLst/>
              <a:cxnLst/>
              <a:rect l="l" t="t" r="r" b="b"/>
              <a:pathLst>
                <a:path w="4017645" h="1160779">
                  <a:moveTo>
                    <a:pt x="4017591" y="1160697"/>
                  </a:moveTo>
                  <a:lnTo>
                    <a:pt x="0" y="1160697"/>
                  </a:lnTo>
                  <a:lnTo>
                    <a:pt x="0" y="0"/>
                  </a:lnTo>
                  <a:lnTo>
                    <a:pt x="4017591" y="0"/>
                  </a:lnTo>
                  <a:lnTo>
                    <a:pt x="4017591" y="11606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92835" y="4668440"/>
              <a:ext cx="4017645" cy="1160780"/>
            </a:xfrm>
            <a:custGeom>
              <a:avLst/>
              <a:gdLst/>
              <a:ahLst/>
              <a:cxnLst/>
              <a:rect l="l" t="t" r="r" b="b"/>
              <a:pathLst>
                <a:path w="4017645" h="1160779">
                  <a:moveTo>
                    <a:pt x="0" y="0"/>
                  </a:moveTo>
                  <a:lnTo>
                    <a:pt x="4017591" y="0"/>
                  </a:lnTo>
                  <a:lnTo>
                    <a:pt x="4017591" y="1160697"/>
                  </a:lnTo>
                  <a:lnTo>
                    <a:pt x="0" y="116069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52310" y="4983390"/>
              <a:ext cx="281940" cy="539750"/>
            </a:xfrm>
            <a:custGeom>
              <a:avLst/>
              <a:gdLst/>
              <a:ahLst/>
              <a:cxnLst/>
              <a:rect l="l" t="t" r="r" b="b"/>
              <a:pathLst>
                <a:path w="281940" h="539750">
                  <a:moveTo>
                    <a:pt x="0" y="0"/>
                  </a:moveTo>
                  <a:lnTo>
                    <a:pt x="281699" y="0"/>
                  </a:lnTo>
                  <a:lnTo>
                    <a:pt x="281699" y="539698"/>
                  </a:lnTo>
                  <a:lnTo>
                    <a:pt x="0" y="539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91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25339" y="5083063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Batang"/>
                <a:cs typeface="Batang"/>
              </a:rPr>
              <a:t>범 례</a:t>
            </a:r>
            <a:endParaRPr sz="1000">
              <a:latin typeface="Batang"/>
              <a:cs typeface="Batang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4615" y="4483015"/>
            <a:ext cx="10522585" cy="1194435"/>
            <a:chOff x="794615" y="4483015"/>
            <a:chExt cx="10522585" cy="119443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2035" y="4748015"/>
              <a:ext cx="359674" cy="2148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0985" y="5015590"/>
              <a:ext cx="359679" cy="1823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440835" y="5544788"/>
              <a:ext cx="281940" cy="125730"/>
            </a:xfrm>
            <a:custGeom>
              <a:avLst/>
              <a:gdLst/>
              <a:ahLst/>
              <a:cxnLst/>
              <a:rect l="l" t="t" r="r" b="b"/>
              <a:pathLst>
                <a:path w="281940" h="125729">
                  <a:moveTo>
                    <a:pt x="281699" y="125699"/>
                  </a:moveTo>
                  <a:lnTo>
                    <a:pt x="0" y="125699"/>
                  </a:lnTo>
                  <a:lnTo>
                    <a:pt x="0" y="0"/>
                  </a:lnTo>
                  <a:lnTo>
                    <a:pt x="281699" y="0"/>
                  </a:lnTo>
                  <a:lnTo>
                    <a:pt x="281699" y="125699"/>
                  </a:lnTo>
                  <a:close/>
                </a:path>
              </a:pathLst>
            </a:custGeom>
            <a:solidFill>
              <a:srgbClr val="CFE1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40835" y="5544788"/>
              <a:ext cx="281940" cy="125730"/>
            </a:xfrm>
            <a:custGeom>
              <a:avLst/>
              <a:gdLst/>
              <a:ahLst/>
              <a:cxnLst/>
              <a:rect l="l" t="t" r="r" b="b"/>
              <a:pathLst>
                <a:path w="281940" h="125729">
                  <a:moveTo>
                    <a:pt x="0" y="0"/>
                  </a:moveTo>
                  <a:lnTo>
                    <a:pt x="281699" y="0"/>
                  </a:lnTo>
                  <a:lnTo>
                    <a:pt x="281699" y="125699"/>
                  </a:lnTo>
                  <a:lnTo>
                    <a:pt x="0" y="1256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0965" y="4489365"/>
              <a:ext cx="10509885" cy="5080"/>
            </a:xfrm>
            <a:custGeom>
              <a:avLst/>
              <a:gdLst/>
              <a:ahLst/>
              <a:cxnLst/>
              <a:rect l="l" t="t" r="r" b="b"/>
              <a:pathLst>
                <a:path w="10509885" h="5079">
                  <a:moveTo>
                    <a:pt x="0" y="4499"/>
                  </a:moveTo>
                  <a:lnTo>
                    <a:pt x="10509886" y="0"/>
                  </a:lnTo>
                </a:path>
              </a:pathLst>
            </a:custGeom>
            <a:ln w="12699">
              <a:solidFill>
                <a:srgbClr val="349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1322" y="5273426"/>
              <a:ext cx="300674" cy="1745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85457" y="5100464"/>
              <a:ext cx="300549" cy="824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87332" y="5350589"/>
              <a:ext cx="298149" cy="824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978382" y="4799365"/>
              <a:ext cx="291465" cy="125730"/>
            </a:xfrm>
            <a:custGeom>
              <a:avLst/>
              <a:gdLst/>
              <a:ahLst/>
              <a:cxnLst/>
              <a:rect l="l" t="t" r="r" b="b"/>
              <a:pathLst>
                <a:path w="291465" h="125729">
                  <a:moveTo>
                    <a:pt x="291299" y="125699"/>
                  </a:moveTo>
                  <a:lnTo>
                    <a:pt x="0" y="125699"/>
                  </a:lnTo>
                  <a:lnTo>
                    <a:pt x="0" y="0"/>
                  </a:lnTo>
                  <a:lnTo>
                    <a:pt x="291299" y="0"/>
                  </a:lnTo>
                  <a:lnTo>
                    <a:pt x="291299" y="125699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78382" y="4799365"/>
              <a:ext cx="291465" cy="125730"/>
            </a:xfrm>
            <a:custGeom>
              <a:avLst/>
              <a:gdLst/>
              <a:ahLst/>
              <a:cxnLst/>
              <a:rect l="l" t="t" r="r" b="b"/>
              <a:pathLst>
                <a:path w="291465" h="125729">
                  <a:moveTo>
                    <a:pt x="0" y="0"/>
                  </a:moveTo>
                  <a:lnTo>
                    <a:pt x="291299" y="0"/>
                  </a:lnTo>
                  <a:lnTo>
                    <a:pt x="291299" y="125699"/>
                  </a:lnTo>
                  <a:lnTo>
                    <a:pt x="0" y="125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817281" y="4740868"/>
            <a:ext cx="551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60" dirty="0">
                <a:latin typeface="Malgun Gothic"/>
                <a:cs typeface="Malgun Gothic"/>
              </a:rPr>
              <a:t>가상머신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17281" y="4908508"/>
            <a:ext cx="7296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물리머신 </a:t>
            </a:r>
            <a:r>
              <a:rPr sz="1100" dirty="0">
                <a:latin typeface="Malgun Gothic"/>
                <a:cs typeface="Malgun Gothic"/>
              </a:rPr>
              <a:t>Leaf </a:t>
            </a:r>
            <a:r>
              <a:rPr sz="1100" spc="-80" dirty="0">
                <a:latin typeface="Malgun Gothic"/>
                <a:cs typeface="Malgun Gothic"/>
              </a:rPr>
              <a:t>스위치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17281" y="5495246"/>
            <a:ext cx="8401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70" dirty="0">
                <a:latin typeface="Malgun Gothic"/>
                <a:cs typeface="Malgun Gothic"/>
              </a:rPr>
              <a:t>컨테이너</a:t>
            </a:r>
            <a:r>
              <a:rPr sz="1100" spc="-65" dirty="0">
                <a:latin typeface="Malgun Gothic"/>
                <a:cs typeface="Malgun Gothic"/>
              </a:rPr>
              <a:t> </a:t>
            </a:r>
            <a:r>
              <a:rPr sz="1100" spc="-25" dirty="0">
                <a:latin typeface="Malgun Gothic"/>
                <a:cs typeface="Malgun Gothic"/>
              </a:rPr>
              <a:t>Pod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38723" y="3104947"/>
            <a:ext cx="548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Master Nodes(3)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71417" y="2700944"/>
            <a:ext cx="1406525" cy="1158240"/>
          </a:xfrm>
          <a:custGeom>
            <a:avLst/>
            <a:gdLst/>
            <a:ahLst/>
            <a:cxnLst/>
            <a:rect l="l" t="t" r="r" b="b"/>
            <a:pathLst>
              <a:path w="1406525" h="1158239">
                <a:moveTo>
                  <a:pt x="0" y="0"/>
                </a:moveTo>
                <a:lnTo>
                  <a:pt x="1406097" y="0"/>
                </a:lnTo>
                <a:lnTo>
                  <a:pt x="1406097" y="1157997"/>
                </a:lnTo>
                <a:lnTo>
                  <a:pt x="0" y="1157997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AE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404959" y="3028747"/>
            <a:ext cx="8077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Malgun Gothic"/>
                <a:cs typeface="Malgun Gothic"/>
              </a:rPr>
              <a:t>Bastion</a:t>
            </a:r>
            <a:r>
              <a:rPr sz="1000" spc="-10" dirty="0">
                <a:latin typeface="Malgun Gothic"/>
                <a:cs typeface="Malgun Gothic"/>
              </a:rPr>
              <a:t> </a:t>
            </a:r>
            <a:r>
              <a:rPr sz="1000" spc="-20" dirty="0">
                <a:latin typeface="Malgun Gothic"/>
                <a:cs typeface="Malgun Gothic"/>
              </a:rPr>
              <a:t>Node </a:t>
            </a:r>
            <a:r>
              <a:rPr sz="1000" spc="30" dirty="0">
                <a:latin typeface="Malgun Gothic"/>
                <a:cs typeface="Malgun Gothic"/>
              </a:rPr>
              <a:t>(1)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428290" y="2709144"/>
            <a:ext cx="5144770" cy="1173480"/>
            <a:chOff x="4428290" y="2709144"/>
            <a:chExt cx="5144770" cy="1173480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8290" y="3111093"/>
              <a:ext cx="495499" cy="27849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152608" y="2715494"/>
              <a:ext cx="1414145" cy="1160780"/>
            </a:xfrm>
            <a:custGeom>
              <a:avLst/>
              <a:gdLst/>
              <a:ahLst/>
              <a:cxnLst/>
              <a:rect l="l" t="t" r="r" b="b"/>
              <a:pathLst>
                <a:path w="1414145" h="1160779">
                  <a:moveTo>
                    <a:pt x="0" y="0"/>
                  </a:moveTo>
                  <a:lnTo>
                    <a:pt x="1413597" y="0"/>
                  </a:lnTo>
                  <a:lnTo>
                    <a:pt x="1413597" y="1160697"/>
                  </a:lnTo>
                  <a:lnTo>
                    <a:pt x="0" y="116069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307275" y="3134912"/>
            <a:ext cx="548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Infra Nodes(2)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608986" y="2770544"/>
            <a:ext cx="2904490" cy="588645"/>
            <a:chOff x="6608986" y="2770544"/>
            <a:chExt cx="2904490" cy="588645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08986" y="2770544"/>
              <a:ext cx="886570" cy="2117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78458" y="2770544"/>
              <a:ext cx="886570" cy="2117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13206" y="2884994"/>
              <a:ext cx="495499" cy="27852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17956" y="3080043"/>
              <a:ext cx="495499" cy="27852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382385" y="1771074"/>
            <a:ext cx="2228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Arial"/>
                <a:cs typeface="Arial"/>
              </a:rPr>
              <a:t>Leaf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96205" y="3927417"/>
            <a:ext cx="10546080" cy="466090"/>
            <a:chOff x="796205" y="3927417"/>
            <a:chExt cx="10546080" cy="466090"/>
          </a:xfrm>
        </p:grpSpPr>
        <p:sp>
          <p:nvSpPr>
            <p:cNvPr id="44" name="object 44"/>
            <p:cNvSpPr/>
            <p:nvPr/>
          </p:nvSpPr>
          <p:spPr>
            <a:xfrm>
              <a:off x="796205" y="3927417"/>
              <a:ext cx="10546080" cy="466090"/>
            </a:xfrm>
            <a:custGeom>
              <a:avLst/>
              <a:gdLst/>
              <a:ahLst/>
              <a:cxnLst/>
              <a:rect l="l" t="t" r="r" b="b"/>
              <a:pathLst>
                <a:path w="10546080" h="466089">
                  <a:moveTo>
                    <a:pt x="10545571" y="465899"/>
                  </a:moveTo>
                  <a:lnTo>
                    <a:pt x="0" y="465899"/>
                  </a:lnTo>
                  <a:lnTo>
                    <a:pt x="0" y="0"/>
                  </a:lnTo>
                  <a:lnTo>
                    <a:pt x="10545571" y="0"/>
                  </a:lnTo>
                  <a:lnTo>
                    <a:pt x="10545571" y="4658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83341" y="4049592"/>
              <a:ext cx="278299" cy="1110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5388" y="4000792"/>
              <a:ext cx="301269" cy="20869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09187" y="4000792"/>
              <a:ext cx="301269" cy="2086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52985" y="4000792"/>
              <a:ext cx="301269" cy="20869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04164" y="4029392"/>
              <a:ext cx="318699" cy="151474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8921956" y="3375693"/>
            <a:ext cx="560705" cy="182880"/>
          </a:xfrm>
          <a:prstGeom prst="rect">
            <a:avLst/>
          </a:prstGeom>
          <a:solidFill>
            <a:srgbClr val="DDEBF6"/>
          </a:solidFill>
          <a:ln w="9524">
            <a:solidFill>
              <a:srgbClr val="0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40"/>
              </a:spcBef>
            </a:pP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Metric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15086" y="3506342"/>
            <a:ext cx="513080" cy="191135"/>
          </a:xfrm>
          <a:prstGeom prst="rect">
            <a:avLst/>
          </a:prstGeom>
          <a:solidFill>
            <a:srgbClr val="DDEBF6"/>
          </a:solidFill>
          <a:ln w="9524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75"/>
              </a:spcBef>
            </a:pPr>
            <a:r>
              <a:rPr sz="900" spc="-20" dirty="0">
                <a:solidFill>
                  <a:srgbClr val="445469"/>
                </a:solidFill>
                <a:latin typeface="Malgun Gothic"/>
                <a:cs typeface="Malgun Gothic"/>
              </a:rPr>
              <a:t>ETCD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376208" y="3635967"/>
            <a:ext cx="1105535" cy="191135"/>
          </a:xfrm>
          <a:prstGeom prst="rect">
            <a:avLst/>
          </a:prstGeom>
          <a:solidFill>
            <a:srgbClr val="DDEBF6"/>
          </a:solidFill>
          <a:ln w="9524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445469"/>
                </a:solidFill>
                <a:latin typeface="Malgun Gothic"/>
                <a:cs typeface="Malgun Gothic"/>
              </a:rPr>
              <a:t>Internal</a:t>
            </a:r>
            <a:r>
              <a:rPr sz="900" spc="-5" dirty="0">
                <a:solidFill>
                  <a:srgbClr val="445469"/>
                </a:solidFill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Registry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181247" y="3502380"/>
            <a:ext cx="896619" cy="200660"/>
            <a:chOff x="7181247" y="3502380"/>
            <a:chExt cx="896619" cy="200660"/>
          </a:xfrm>
        </p:grpSpPr>
        <p:sp>
          <p:nvSpPr>
            <p:cNvPr id="54" name="object 54"/>
            <p:cNvSpPr/>
            <p:nvPr/>
          </p:nvSpPr>
          <p:spPr>
            <a:xfrm>
              <a:off x="7186010" y="3507142"/>
              <a:ext cx="887094" cy="191135"/>
            </a:xfrm>
            <a:custGeom>
              <a:avLst/>
              <a:gdLst/>
              <a:ahLst/>
              <a:cxnLst/>
              <a:rect l="l" t="t" r="r" b="b"/>
              <a:pathLst>
                <a:path w="887095" h="191135">
                  <a:moveTo>
                    <a:pt x="886498" y="191099"/>
                  </a:moveTo>
                  <a:lnTo>
                    <a:pt x="0" y="191099"/>
                  </a:lnTo>
                  <a:lnTo>
                    <a:pt x="0" y="0"/>
                  </a:lnTo>
                  <a:lnTo>
                    <a:pt x="886498" y="0"/>
                  </a:lnTo>
                  <a:lnTo>
                    <a:pt x="886498" y="191099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186010" y="3507142"/>
              <a:ext cx="887094" cy="191135"/>
            </a:xfrm>
            <a:custGeom>
              <a:avLst/>
              <a:gdLst/>
              <a:ahLst/>
              <a:cxnLst/>
              <a:rect l="l" t="t" r="r" b="b"/>
              <a:pathLst>
                <a:path w="887095" h="191135">
                  <a:moveTo>
                    <a:pt x="0" y="0"/>
                  </a:moveTo>
                  <a:lnTo>
                    <a:pt x="886498" y="0"/>
                  </a:lnTo>
                  <a:lnTo>
                    <a:pt x="886498" y="191099"/>
                  </a:lnTo>
                  <a:lnTo>
                    <a:pt x="0" y="19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264463" y="3516843"/>
            <a:ext cx="729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45469"/>
                </a:solidFill>
                <a:latin typeface="Malgun Gothic"/>
                <a:cs typeface="Malgun Gothic"/>
              </a:rPr>
              <a:t>Web</a:t>
            </a: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 Console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642353" y="2014450"/>
            <a:ext cx="6699884" cy="1865630"/>
            <a:chOff x="4642353" y="2014450"/>
            <a:chExt cx="6699884" cy="1865630"/>
          </a:xfrm>
        </p:grpSpPr>
        <p:sp>
          <p:nvSpPr>
            <p:cNvPr id="58" name="object 58"/>
            <p:cNvSpPr/>
            <p:nvPr/>
          </p:nvSpPr>
          <p:spPr>
            <a:xfrm>
              <a:off x="4676690" y="2022388"/>
              <a:ext cx="11430" cy="1028700"/>
            </a:xfrm>
            <a:custGeom>
              <a:avLst/>
              <a:gdLst/>
              <a:ahLst/>
              <a:cxnLst/>
              <a:rect l="l" t="t" r="r" b="b"/>
              <a:pathLst>
                <a:path w="11429" h="1028700">
                  <a:moveTo>
                    <a:pt x="0" y="1028530"/>
                  </a:moveTo>
                  <a:lnTo>
                    <a:pt x="11349" y="0"/>
                  </a:lnTo>
                </a:path>
              </a:pathLst>
            </a:custGeom>
            <a:ln w="15874">
              <a:solidFill>
                <a:srgbClr val="00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42353" y="3042981"/>
              <a:ext cx="68099" cy="6809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0734" y="2789994"/>
              <a:ext cx="495474" cy="27849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0734" y="2981193"/>
              <a:ext cx="495474" cy="27849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83584" y="3171768"/>
              <a:ext cx="495474" cy="27849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9620780" y="2712819"/>
              <a:ext cx="1715135" cy="1160780"/>
            </a:xfrm>
            <a:custGeom>
              <a:avLst/>
              <a:gdLst/>
              <a:ahLst/>
              <a:cxnLst/>
              <a:rect l="l" t="t" r="r" b="b"/>
              <a:pathLst>
                <a:path w="1715134" h="1160779">
                  <a:moveTo>
                    <a:pt x="0" y="0"/>
                  </a:moveTo>
                  <a:lnTo>
                    <a:pt x="1715096" y="0"/>
                  </a:lnTo>
                  <a:lnTo>
                    <a:pt x="1715096" y="1160697"/>
                  </a:lnTo>
                  <a:lnTo>
                    <a:pt x="0" y="116069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76255" y="2770544"/>
              <a:ext cx="886570" cy="211799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9754330" y="3044368"/>
            <a:ext cx="742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Worker(App) </a:t>
            </a:r>
            <a:r>
              <a:rPr sz="1000" dirty="0">
                <a:latin typeface="Arial"/>
                <a:cs typeface="Arial"/>
              </a:rPr>
              <a:t>Nodes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(3+1)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721821" y="2018148"/>
            <a:ext cx="3339465" cy="1568450"/>
            <a:chOff x="7721821" y="2018148"/>
            <a:chExt cx="3339465" cy="1568450"/>
          </a:xfrm>
        </p:grpSpPr>
        <p:sp>
          <p:nvSpPr>
            <p:cNvPr id="67" name="object 67"/>
            <p:cNvSpPr/>
            <p:nvPr/>
          </p:nvSpPr>
          <p:spPr>
            <a:xfrm>
              <a:off x="7756134" y="2033893"/>
              <a:ext cx="6985" cy="694690"/>
            </a:xfrm>
            <a:custGeom>
              <a:avLst/>
              <a:gdLst/>
              <a:ahLst/>
              <a:cxnLst/>
              <a:rect l="l" t="t" r="r" b="b"/>
              <a:pathLst>
                <a:path w="6984" h="694689">
                  <a:moveTo>
                    <a:pt x="0" y="694326"/>
                  </a:moveTo>
                  <a:lnTo>
                    <a:pt x="6624" y="0"/>
                  </a:lnTo>
                </a:path>
              </a:pathLst>
            </a:custGeom>
            <a:ln w="15874">
              <a:solidFill>
                <a:srgbClr val="00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21821" y="2720281"/>
              <a:ext cx="68099" cy="6809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01003" y="2890869"/>
              <a:ext cx="495499" cy="27849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05753" y="3085918"/>
              <a:ext cx="495499" cy="278524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9295831" y="2026085"/>
              <a:ext cx="0" cy="787400"/>
            </a:xfrm>
            <a:custGeom>
              <a:avLst/>
              <a:gdLst/>
              <a:ahLst/>
              <a:cxnLst/>
              <a:rect l="l" t="t" r="r" b="b"/>
              <a:pathLst>
                <a:path h="787400">
                  <a:moveTo>
                    <a:pt x="0" y="787033"/>
                  </a:moveTo>
                  <a:lnTo>
                    <a:pt x="0" y="0"/>
                  </a:lnTo>
                </a:path>
              </a:pathLst>
            </a:custGeom>
            <a:ln w="15874">
              <a:solidFill>
                <a:srgbClr val="00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61768" y="2805181"/>
              <a:ext cx="68099" cy="68099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1026802" y="2031735"/>
              <a:ext cx="0" cy="787400"/>
            </a:xfrm>
            <a:custGeom>
              <a:avLst/>
              <a:gdLst/>
              <a:ahLst/>
              <a:cxnLst/>
              <a:rect l="l" t="t" r="r" b="b"/>
              <a:pathLst>
                <a:path h="787400">
                  <a:moveTo>
                    <a:pt x="0" y="787033"/>
                  </a:moveTo>
                  <a:lnTo>
                    <a:pt x="0" y="0"/>
                  </a:lnTo>
                </a:path>
              </a:pathLst>
            </a:custGeom>
            <a:ln w="15874">
              <a:solidFill>
                <a:srgbClr val="00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992740" y="2810831"/>
              <a:ext cx="68124" cy="6809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9752430" y="3399093"/>
              <a:ext cx="560705" cy="182880"/>
            </a:xfrm>
            <a:custGeom>
              <a:avLst/>
              <a:gdLst/>
              <a:ahLst/>
              <a:cxnLst/>
              <a:rect l="l" t="t" r="r" b="b"/>
              <a:pathLst>
                <a:path w="560704" h="182879">
                  <a:moveTo>
                    <a:pt x="0" y="0"/>
                  </a:moveTo>
                  <a:lnTo>
                    <a:pt x="560098" y="0"/>
                  </a:lnTo>
                  <a:lnTo>
                    <a:pt x="560098" y="182399"/>
                  </a:lnTo>
                  <a:lnTo>
                    <a:pt x="0" y="18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752430" y="3399093"/>
            <a:ext cx="560705" cy="182880"/>
          </a:xfrm>
          <a:prstGeom prst="rect">
            <a:avLst/>
          </a:prstGeom>
          <a:solidFill>
            <a:srgbClr val="DDEBF6"/>
          </a:solidFill>
        </p:spPr>
        <p:txBody>
          <a:bodyPr vert="horz" wrap="square" lIns="0" tIns="1778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40"/>
              </a:spcBef>
            </a:pP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CI/CD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0399166" y="3382130"/>
            <a:ext cx="896619" cy="192405"/>
            <a:chOff x="10399166" y="3382130"/>
            <a:chExt cx="896619" cy="192405"/>
          </a:xfrm>
        </p:grpSpPr>
        <p:sp>
          <p:nvSpPr>
            <p:cNvPr id="78" name="object 78"/>
            <p:cNvSpPr/>
            <p:nvPr/>
          </p:nvSpPr>
          <p:spPr>
            <a:xfrm>
              <a:off x="10403929" y="3386893"/>
              <a:ext cx="887094" cy="182880"/>
            </a:xfrm>
            <a:custGeom>
              <a:avLst/>
              <a:gdLst/>
              <a:ahLst/>
              <a:cxnLst/>
              <a:rect l="l" t="t" r="r" b="b"/>
              <a:pathLst>
                <a:path w="887095" h="182879">
                  <a:moveTo>
                    <a:pt x="886498" y="182399"/>
                  </a:moveTo>
                  <a:lnTo>
                    <a:pt x="0" y="182399"/>
                  </a:lnTo>
                  <a:lnTo>
                    <a:pt x="0" y="0"/>
                  </a:lnTo>
                  <a:lnTo>
                    <a:pt x="886498" y="0"/>
                  </a:lnTo>
                  <a:lnTo>
                    <a:pt x="886498" y="182399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0403929" y="3386893"/>
              <a:ext cx="887094" cy="182880"/>
            </a:xfrm>
            <a:custGeom>
              <a:avLst/>
              <a:gdLst/>
              <a:ahLst/>
              <a:cxnLst/>
              <a:rect l="l" t="t" r="r" b="b"/>
              <a:pathLst>
                <a:path w="887095" h="182879">
                  <a:moveTo>
                    <a:pt x="0" y="0"/>
                  </a:moveTo>
                  <a:lnTo>
                    <a:pt x="886498" y="0"/>
                  </a:lnTo>
                  <a:lnTo>
                    <a:pt x="886498" y="182399"/>
                  </a:lnTo>
                  <a:lnTo>
                    <a:pt x="0" y="182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0533370" y="3392250"/>
            <a:ext cx="6280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Application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9753180" y="3623592"/>
            <a:ext cx="887094" cy="182880"/>
          </a:xfrm>
          <a:custGeom>
            <a:avLst/>
            <a:gdLst/>
            <a:ahLst/>
            <a:cxnLst/>
            <a:rect l="l" t="t" r="r" b="b"/>
            <a:pathLst>
              <a:path w="887095" h="182879">
                <a:moveTo>
                  <a:pt x="0" y="0"/>
                </a:moveTo>
                <a:lnTo>
                  <a:pt x="886498" y="0"/>
                </a:lnTo>
                <a:lnTo>
                  <a:pt x="886498" y="182399"/>
                </a:lnTo>
                <a:lnTo>
                  <a:pt x="0" y="182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9757567" y="3607305"/>
            <a:ext cx="877569" cy="194310"/>
          </a:xfrm>
          <a:prstGeom prst="rect">
            <a:avLst/>
          </a:prstGeom>
          <a:solidFill>
            <a:srgbClr val="DDEBF6"/>
          </a:solidFill>
        </p:spPr>
        <p:txBody>
          <a:bodyPr vert="horz" wrap="square" lIns="0" tIns="3429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ServiceMesh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555179" y="3104947"/>
            <a:ext cx="9080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Bootstrap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Node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918673" y="3257346"/>
            <a:ext cx="1809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Arial"/>
                <a:cs typeface="Arial"/>
              </a:rPr>
              <a:t>(1)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2232523" y="2014450"/>
            <a:ext cx="9108440" cy="1375410"/>
            <a:chOff x="2232523" y="2014450"/>
            <a:chExt cx="9108440" cy="1375410"/>
          </a:xfrm>
        </p:grpSpPr>
        <p:pic>
          <p:nvPicPr>
            <p:cNvPr id="86" name="object 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8143" y="3111093"/>
              <a:ext cx="495524" cy="278499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246568" y="2022388"/>
              <a:ext cx="11430" cy="1028700"/>
            </a:xfrm>
            <a:custGeom>
              <a:avLst/>
              <a:gdLst/>
              <a:ahLst/>
              <a:cxnLst/>
              <a:rect l="l" t="t" r="r" b="b"/>
              <a:pathLst>
                <a:path w="11429" h="1028700">
                  <a:moveTo>
                    <a:pt x="0" y="1028530"/>
                  </a:moveTo>
                  <a:lnTo>
                    <a:pt x="11349" y="0"/>
                  </a:lnTo>
                </a:path>
              </a:pathLst>
            </a:custGeom>
            <a:ln w="15874">
              <a:solidFill>
                <a:srgbClr val="00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12231" y="3042981"/>
              <a:ext cx="68099" cy="6809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32523" y="2732469"/>
              <a:ext cx="945697" cy="23092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71417" y="2748626"/>
              <a:ext cx="886548" cy="292404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5196914" y="2203020"/>
              <a:ext cx="6043930" cy="0"/>
            </a:xfrm>
            <a:custGeom>
              <a:avLst/>
              <a:gdLst/>
              <a:ahLst/>
              <a:cxnLst/>
              <a:rect l="l" t="t" r="r" b="b"/>
              <a:pathLst>
                <a:path w="6043930">
                  <a:moveTo>
                    <a:pt x="0" y="0"/>
                  </a:moveTo>
                  <a:lnTo>
                    <a:pt x="6043862" y="0"/>
                  </a:lnTo>
                </a:path>
              </a:pathLst>
            </a:custGeom>
            <a:ln w="19049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96789" y="2161773"/>
              <a:ext cx="109649" cy="82497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231252" y="2161773"/>
              <a:ext cx="109649" cy="82497"/>
            </a:xfrm>
            <a:prstGeom prst="rect">
              <a:avLst/>
            </a:prstGeom>
          </p:spPr>
        </p:pic>
      </p:grpSp>
      <p:sp>
        <p:nvSpPr>
          <p:cNvPr id="94" name="object 94"/>
          <p:cNvSpPr txBox="1"/>
          <p:nvPr/>
        </p:nvSpPr>
        <p:spPr>
          <a:xfrm>
            <a:off x="3728867" y="3500642"/>
            <a:ext cx="1156335" cy="191135"/>
          </a:xfrm>
          <a:prstGeom prst="rect">
            <a:avLst/>
          </a:prstGeom>
          <a:solidFill>
            <a:srgbClr val="F2F2F2"/>
          </a:solidFill>
          <a:ln w="9524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445469"/>
                </a:solidFill>
                <a:latin typeface="Malgun Gothic"/>
                <a:cs typeface="Malgun Gothic"/>
              </a:rPr>
              <a:t>OpenShift</a:t>
            </a:r>
            <a:r>
              <a:rPr sz="900" spc="15" dirty="0">
                <a:solidFill>
                  <a:srgbClr val="445469"/>
                </a:solidFill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Ignition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195392" y="2249801"/>
            <a:ext cx="2305685" cy="32194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800" dirty="0">
                <a:latin typeface="Malgun Gothic"/>
                <a:cs typeface="Malgun Gothic"/>
              </a:rPr>
              <a:t>App</a:t>
            </a:r>
            <a:r>
              <a:rPr sz="800" spc="10" dirty="0">
                <a:latin typeface="Malgun Gothic"/>
                <a:cs typeface="Malgun Gothic"/>
              </a:rPr>
              <a:t> </a:t>
            </a:r>
            <a:r>
              <a:rPr sz="800" spc="50" dirty="0">
                <a:latin typeface="Malgun Gothic"/>
                <a:cs typeface="Malgun Gothic"/>
              </a:rPr>
              <a:t>80,</a:t>
            </a:r>
            <a:r>
              <a:rPr sz="800" spc="10" dirty="0">
                <a:latin typeface="Malgun Gothic"/>
                <a:cs typeface="Malgun Gothic"/>
              </a:rPr>
              <a:t> </a:t>
            </a:r>
            <a:r>
              <a:rPr sz="800" dirty="0">
                <a:latin typeface="Malgun Gothic"/>
                <a:cs typeface="Malgun Gothic"/>
              </a:rPr>
              <a:t>443</a:t>
            </a:r>
            <a:r>
              <a:rPr sz="800" spc="10" dirty="0">
                <a:latin typeface="Malgun Gothic"/>
                <a:cs typeface="Malgun Gothic"/>
              </a:rPr>
              <a:t> </a:t>
            </a:r>
            <a:r>
              <a:rPr sz="800" spc="-20" dirty="0">
                <a:latin typeface="Malgun Gothic"/>
                <a:cs typeface="Malgun Gothic"/>
              </a:rPr>
              <a:t>Port</a:t>
            </a:r>
            <a:endParaRPr sz="800">
              <a:latin typeface="Malgun Gothic"/>
              <a:cs typeface="Malgun Gothic"/>
            </a:endParaRPr>
          </a:p>
          <a:p>
            <a:pPr marL="1169035">
              <a:lnSpc>
                <a:spcPct val="100000"/>
              </a:lnSpc>
              <a:spcBef>
                <a:spcPts val="209"/>
              </a:spcBef>
            </a:pPr>
            <a:r>
              <a:rPr sz="800" dirty="0">
                <a:latin typeface="Malgun Gothic"/>
                <a:cs typeface="Malgun Gothic"/>
              </a:rPr>
              <a:t>Web</a:t>
            </a:r>
            <a:r>
              <a:rPr sz="800" spc="35" dirty="0">
                <a:latin typeface="Malgun Gothic"/>
                <a:cs typeface="Malgun Gothic"/>
              </a:rPr>
              <a:t> </a:t>
            </a:r>
            <a:r>
              <a:rPr sz="800" dirty="0">
                <a:latin typeface="Malgun Gothic"/>
                <a:cs typeface="Malgun Gothic"/>
              </a:rPr>
              <a:t>Console</a:t>
            </a:r>
            <a:r>
              <a:rPr sz="800" spc="40" dirty="0">
                <a:latin typeface="Malgun Gothic"/>
                <a:cs typeface="Malgun Gothic"/>
              </a:rPr>
              <a:t> </a:t>
            </a:r>
            <a:r>
              <a:rPr sz="800" dirty="0">
                <a:latin typeface="Malgun Gothic"/>
                <a:cs typeface="Malgun Gothic"/>
              </a:rPr>
              <a:t>6443</a:t>
            </a:r>
            <a:r>
              <a:rPr sz="800" spc="40" dirty="0">
                <a:latin typeface="Malgun Gothic"/>
                <a:cs typeface="Malgun Gothic"/>
              </a:rPr>
              <a:t> </a:t>
            </a:r>
            <a:r>
              <a:rPr sz="800" spc="-20" dirty="0">
                <a:latin typeface="Malgun Gothic"/>
                <a:cs typeface="Malgun Gothic"/>
              </a:rPr>
              <a:t>Port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238520" y="2027178"/>
            <a:ext cx="4269740" cy="1849755"/>
            <a:chOff x="2238520" y="2027178"/>
            <a:chExt cx="4269740" cy="1849755"/>
          </a:xfrm>
        </p:grpSpPr>
        <p:sp>
          <p:nvSpPr>
            <p:cNvPr id="97" name="object 97"/>
            <p:cNvSpPr/>
            <p:nvPr/>
          </p:nvSpPr>
          <p:spPr>
            <a:xfrm>
              <a:off x="5621988" y="2036703"/>
              <a:ext cx="0" cy="170180"/>
            </a:xfrm>
            <a:custGeom>
              <a:avLst/>
              <a:gdLst/>
              <a:ahLst/>
              <a:cxnLst/>
              <a:rect l="l" t="t" r="r" b="b"/>
              <a:pathLst>
                <a:path h="170180">
                  <a:moveTo>
                    <a:pt x="0" y="1700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97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243283" y="3424443"/>
              <a:ext cx="957580" cy="191135"/>
            </a:xfrm>
            <a:custGeom>
              <a:avLst/>
              <a:gdLst/>
              <a:ahLst/>
              <a:cxnLst/>
              <a:rect l="l" t="t" r="r" b="b"/>
              <a:pathLst>
                <a:path w="957580" h="191135">
                  <a:moveTo>
                    <a:pt x="957310" y="191099"/>
                  </a:moveTo>
                  <a:lnTo>
                    <a:pt x="0" y="191099"/>
                  </a:lnTo>
                  <a:lnTo>
                    <a:pt x="0" y="0"/>
                  </a:lnTo>
                  <a:lnTo>
                    <a:pt x="957310" y="0"/>
                  </a:lnTo>
                  <a:lnTo>
                    <a:pt x="957310" y="191099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243283" y="3424443"/>
              <a:ext cx="957580" cy="191135"/>
            </a:xfrm>
            <a:custGeom>
              <a:avLst/>
              <a:gdLst/>
              <a:ahLst/>
              <a:cxnLst/>
              <a:rect l="l" t="t" r="r" b="b"/>
              <a:pathLst>
                <a:path w="957580" h="191135">
                  <a:moveTo>
                    <a:pt x="0" y="0"/>
                  </a:moveTo>
                  <a:lnTo>
                    <a:pt x="957310" y="0"/>
                  </a:lnTo>
                  <a:lnTo>
                    <a:pt x="957310" y="191099"/>
                  </a:lnTo>
                  <a:lnTo>
                    <a:pt x="0" y="19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051618" y="3635492"/>
              <a:ext cx="446405" cy="191135"/>
            </a:xfrm>
            <a:custGeom>
              <a:avLst/>
              <a:gdLst/>
              <a:ahLst/>
              <a:cxnLst/>
              <a:rect l="l" t="t" r="r" b="b"/>
              <a:pathLst>
                <a:path w="446404" h="191135">
                  <a:moveTo>
                    <a:pt x="446099" y="191099"/>
                  </a:moveTo>
                  <a:lnTo>
                    <a:pt x="0" y="191099"/>
                  </a:lnTo>
                  <a:lnTo>
                    <a:pt x="0" y="0"/>
                  </a:lnTo>
                  <a:lnTo>
                    <a:pt x="446099" y="0"/>
                  </a:lnTo>
                  <a:lnTo>
                    <a:pt x="446099" y="191099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051618" y="3635492"/>
              <a:ext cx="446405" cy="191135"/>
            </a:xfrm>
            <a:custGeom>
              <a:avLst/>
              <a:gdLst/>
              <a:ahLst/>
              <a:cxnLst/>
              <a:rect l="l" t="t" r="r" b="b"/>
              <a:pathLst>
                <a:path w="446404" h="191135">
                  <a:moveTo>
                    <a:pt x="0" y="0"/>
                  </a:moveTo>
                  <a:lnTo>
                    <a:pt x="446099" y="0"/>
                  </a:lnTo>
                  <a:lnTo>
                    <a:pt x="446099" y="191099"/>
                  </a:lnTo>
                  <a:lnTo>
                    <a:pt x="0" y="19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034165" y="2712494"/>
              <a:ext cx="1467485" cy="1158240"/>
            </a:xfrm>
            <a:custGeom>
              <a:avLst/>
              <a:gdLst/>
              <a:ahLst/>
              <a:cxnLst/>
              <a:rect l="l" t="t" r="r" b="b"/>
              <a:pathLst>
                <a:path w="1467485" h="1158239">
                  <a:moveTo>
                    <a:pt x="0" y="0"/>
                  </a:moveTo>
                  <a:lnTo>
                    <a:pt x="1467297" y="0"/>
                  </a:lnTo>
                  <a:lnTo>
                    <a:pt x="1467297" y="1157997"/>
                  </a:lnTo>
                  <a:lnTo>
                    <a:pt x="0" y="115799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5341663" y="3081201"/>
            <a:ext cx="582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Router </a:t>
            </a:r>
            <a:r>
              <a:rPr sz="1000" dirty="0">
                <a:latin typeface="Arial"/>
                <a:cs typeface="Arial"/>
              </a:rPr>
              <a:t>Nodes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(2)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282114" y="3506617"/>
            <a:ext cx="1156335" cy="182880"/>
          </a:xfrm>
          <a:prstGeom prst="rect">
            <a:avLst/>
          </a:prstGeom>
          <a:solidFill>
            <a:srgbClr val="DDEBF6"/>
          </a:solidFill>
          <a:ln w="9524">
            <a:solidFill>
              <a:srgbClr val="0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40"/>
              </a:spcBef>
            </a:pPr>
            <a:r>
              <a:rPr sz="900" dirty="0">
                <a:solidFill>
                  <a:srgbClr val="445469"/>
                </a:solidFill>
                <a:latin typeface="Malgun Gothic"/>
                <a:cs typeface="Malgun Gothic"/>
              </a:rPr>
              <a:t>Router</a:t>
            </a:r>
            <a:r>
              <a:rPr sz="900" spc="-15" dirty="0">
                <a:solidFill>
                  <a:srgbClr val="445469"/>
                </a:solidFill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(Ingress)</a:t>
            </a:r>
            <a:endParaRPr sz="900">
              <a:latin typeface="Malgun Gothic"/>
              <a:cs typeface="Malgun Gothic"/>
            </a:endParaRPr>
          </a:p>
        </p:txBody>
      </p:sp>
      <p:pic>
        <p:nvPicPr>
          <p:cNvPr id="106" name="object 10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69289" y="2781894"/>
            <a:ext cx="886548" cy="211799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9362" y="3098493"/>
            <a:ext cx="495499" cy="278499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1113" y="2890869"/>
            <a:ext cx="495499" cy="278499"/>
          </a:xfrm>
          <a:prstGeom prst="rect">
            <a:avLst/>
          </a:prstGeom>
        </p:spPr>
      </p:pic>
      <p:sp>
        <p:nvSpPr>
          <p:cNvPr id="109" name="object 109"/>
          <p:cNvSpPr/>
          <p:nvPr/>
        </p:nvSpPr>
        <p:spPr>
          <a:xfrm>
            <a:off x="6226362" y="2192828"/>
            <a:ext cx="0" cy="617220"/>
          </a:xfrm>
          <a:custGeom>
            <a:avLst/>
            <a:gdLst/>
            <a:ahLst/>
            <a:cxnLst/>
            <a:rect l="l" t="t" r="r" b="b"/>
            <a:pathLst>
              <a:path h="617219">
                <a:moveTo>
                  <a:pt x="0" y="616641"/>
                </a:moveTo>
                <a:lnTo>
                  <a:pt x="0" y="0"/>
                </a:lnTo>
              </a:path>
            </a:pathLst>
          </a:custGeom>
          <a:ln w="15874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0" name="object 11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192299" y="2801531"/>
            <a:ext cx="68099" cy="68099"/>
          </a:xfrm>
          <a:prstGeom prst="rect">
            <a:avLst/>
          </a:prstGeom>
        </p:spPr>
      </p:pic>
      <p:sp>
        <p:nvSpPr>
          <p:cNvPr id="111" name="object 111"/>
          <p:cNvSpPr/>
          <p:nvPr/>
        </p:nvSpPr>
        <p:spPr>
          <a:xfrm>
            <a:off x="6307462" y="2033933"/>
            <a:ext cx="0" cy="787400"/>
          </a:xfrm>
          <a:custGeom>
            <a:avLst/>
            <a:gdLst/>
            <a:ahLst/>
            <a:cxnLst/>
            <a:rect l="l" t="t" r="r" b="b"/>
            <a:pathLst>
              <a:path h="787400">
                <a:moveTo>
                  <a:pt x="0" y="787035"/>
                </a:moveTo>
                <a:lnTo>
                  <a:pt x="0" y="0"/>
                </a:lnTo>
              </a:path>
            </a:pathLst>
          </a:custGeom>
          <a:ln w="15874">
            <a:solidFill>
              <a:srgbClr val="005B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2" name="object 11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273400" y="2813031"/>
            <a:ext cx="68099" cy="68099"/>
          </a:xfrm>
          <a:prstGeom prst="rect">
            <a:avLst/>
          </a:prstGeom>
        </p:spPr>
      </p:pic>
      <p:sp>
        <p:nvSpPr>
          <p:cNvPr id="113" name="object 113"/>
          <p:cNvSpPr/>
          <p:nvPr/>
        </p:nvSpPr>
        <p:spPr>
          <a:xfrm>
            <a:off x="6466037" y="2023428"/>
            <a:ext cx="4773295" cy="370840"/>
          </a:xfrm>
          <a:custGeom>
            <a:avLst/>
            <a:gdLst/>
            <a:ahLst/>
            <a:cxnLst/>
            <a:rect l="l" t="t" r="r" b="b"/>
            <a:pathLst>
              <a:path w="4773295" h="370839">
                <a:moveTo>
                  <a:pt x="597573" y="369299"/>
                </a:moveTo>
                <a:lnTo>
                  <a:pt x="597573" y="0"/>
                </a:lnTo>
              </a:path>
              <a:path w="4773295" h="370839">
                <a:moveTo>
                  <a:pt x="0" y="359551"/>
                </a:moveTo>
                <a:lnTo>
                  <a:pt x="4773065" y="370749"/>
                </a:lnTo>
              </a:path>
            </a:pathLst>
          </a:custGeom>
          <a:ln w="19049">
            <a:solidFill>
              <a:srgbClr val="1DAC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4" name="object 11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365912" y="2341625"/>
            <a:ext cx="109649" cy="82497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229577" y="2353035"/>
            <a:ext cx="109649" cy="82497"/>
          </a:xfrm>
          <a:prstGeom prst="rect">
            <a:avLst/>
          </a:prstGeom>
        </p:spPr>
      </p:pic>
      <p:sp>
        <p:nvSpPr>
          <p:cNvPr id="116" name="object 116"/>
          <p:cNvSpPr/>
          <p:nvPr/>
        </p:nvSpPr>
        <p:spPr>
          <a:xfrm>
            <a:off x="7635609" y="2373582"/>
            <a:ext cx="0" cy="342265"/>
          </a:xfrm>
          <a:custGeom>
            <a:avLst/>
            <a:gdLst/>
            <a:ahLst/>
            <a:cxnLst/>
            <a:rect l="l" t="t" r="r" b="b"/>
            <a:pathLst>
              <a:path h="342264">
                <a:moveTo>
                  <a:pt x="0" y="341786"/>
                </a:moveTo>
                <a:lnTo>
                  <a:pt x="0" y="0"/>
                </a:lnTo>
              </a:path>
            </a:pathLst>
          </a:custGeom>
          <a:ln w="19049">
            <a:solidFill>
              <a:srgbClr val="1DAC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object 11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594759" y="2705844"/>
            <a:ext cx="81724" cy="81724"/>
          </a:xfrm>
          <a:prstGeom prst="rect">
            <a:avLst/>
          </a:prstGeom>
        </p:spPr>
      </p:pic>
      <p:sp>
        <p:nvSpPr>
          <p:cNvPr id="118" name="object 118"/>
          <p:cNvSpPr/>
          <p:nvPr/>
        </p:nvSpPr>
        <p:spPr>
          <a:xfrm>
            <a:off x="2243275" y="3644217"/>
            <a:ext cx="732155" cy="191135"/>
          </a:xfrm>
          <a:custGeom>
            <a:avLst/>
            <a:gdLst/>
            <a:ahLst/>
            <a:cxnLst/>
            <a:rect l="l" t="t" r="r" b="b"/>
            <a:pathLst>
              <a:path w="732155" h="191135">
                <a:moveTo>
                  <a:pt x="731693" y="191099"/>
                </a:moveTo>
                <a:lnTo>
                  <a:pt x="0" y="191099"/>
                </a:lnTo>
                <a:lnTo>
                  <a:pt x="0" y="0"/>
                </a:lnTo>
                <a:lnTo>
                  <a:pt x="731693" y="0"/>
                </a:lnTo>
                <a:lnTo>
                  <a:pt x="731693" y="19109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243275" y="3644217"/>
            <a:ext cx="732155" cy="191135"/>
          </a:xfrm>
          <a:custGeom>
            <a:avLst/>
            <a:gdLst/>
            <a:ahLst/>
            <a:cxnLst/>
            <a:rect l="l" t="t" r="r" b="b"/>
            <a:pathLst>
              <a:path w="732155" h="191135">
                <a:moveTo>
                  <a:pt x="0" y="0"/>
                </a:moveTo>
                <a:lnTo>
                  <a:pt x="731693" y="0"/>
                </a:lnTo>
                <a:lnTo>
                  <a:pt x="731693" y="191099"/>
                </a:lnTo>
                <a:lnTo>
                  <a:pt x="0" y="1910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2378334" y="3434147"/>
            <a:ext cx="1023619" cy="38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L4(HAProxy)</a:t>
            </a:r>
            <a:endParaRPr sz="900">
              <a:latin typeface="Malgun Gothic"/>
              <a:cs typeface="Malgun Gothic"/>
            </a:endParaRPr>
          </a:p>
          <a:p>
            <a:pPr marL="26034">
              <a:lnSpc>
                <a:spcPct val="100000"/>
              </a:lnSpc>
              <a:spcBef>
                <a:spcPts val="650"/>
              </a:spcBef>
              <a:tabLst>
                <a:tab pos="781685" algn="l"/>
              </a:tabLst>
            </a:pPr>
            <a:r>
              <a:rPr sz="900" spc="-10" dirty="0">
                <a:solidFill>
                  <a:srgbClr val="445469"/>
                </a:solidFill>
                <a:latin typeface="Malgun Gothic"/>
                <a:cs typeface="Malgun Gothic"/>
              </a:rPr>
              <a:t>Installer</a:t>
            </a:r>
            <a:r>
              <a:rPr sz="900" dirty="0">
                <a:solidFill>
                  <a:srgbClr val="445469"/>
                </a:solidFill>
                <a:latin typeface="Malgun Gothic"/>
                <a:cs typeface="Malgun Gothic"/>
              </a:rPr>
              <a:t>	</a:t>
            </a:r>
            <a:r>
              <a:rPr sz="1350" spc="-37" baseline="3086" dirty="0">
                <a:solidFill>
                  <a:srgbClr val="445469"/>
                </a:solidFill>
                <a:latin typeface="Malgun Gothic"/>
                <a:cs typeface="Malgun Gothic"/>
              </a:rPr>
              <a:t>DNS</a:t>
            </a:r>
            <a:endParaRPr sz="1350" baseline="3086">
              <a:latin typeface="Malgun Gothic"/>
              <a:cs typeface="Malgun Gothic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9365624" y="4761937"/>
            <a:ext cx="10369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Malgun Gothic"/>
                <a:cs typeface="Malgun Gothic"/>
              </a:rPr>
              <a:t>External</a:t>
            </a:r>
            <a:r>
              <a:rPr sz="1100" spc="114" dirty="0">
                <a:latin typeface="Malgun Gothic"/>
                <a:cs typeface="Malgun Gothic"/>
              </a:rPr>
              <a:t> </a:t>
            </a:r>
            <a:r>
              <a:rPr sz="1100" spc="-10" dirty="0">
                <a:latin typeface="Malgun Gothic"/>
                <a:cs typeface="Malgun Gothic"/>
              </a:rPr>
              <a:t>Service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9365624" y="4929577"/>
            <a:ext cx="1501775" cy="52832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latin typeface="Malgun Gothic"/>
                <a:cs typeface="Malgun Gothic"/>
              </a:rPr>
              <a:t>Leaf </a:t>
            </a:r>
            <a:r>
              <a:rPr sz="1100" spc="-10" dirty="0">
                <a:latin typeface="Malgun Gothic"/>
                <a:cs typeface="Malgun Gothic"/>
              </a:rPr>
              <a:t>Network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20" dirty="0">
                <a:latin typeface="Malgun Gothic"/>
                <a:cs typeface="Malgun Gothic"/>
              </a:rPr>
              <a:t>SDN</a:t>
            </a:r>
            <a:r>
              <a:rPr sz="1100" spc="-25" dirty="0">
                <a:latin typeface="Malgun Gothic"/>
                <a:cs typeface="Malgun Gothic"/>
              </a:rPr>
              <a:t> </a:t>
            </a:r>
            <a:r>
              <a:rPr sz="1100" dirty="0">
                <a:latin typeface="Malgun Gothic"/>
                <a:cs typeface="Malgun Gothic"/>
              </a:rPr>
              <a:t>L4</a:t>
            </a:r>
            <a:r>
              <a:rPr sz="1100" spc="-25" dirty="0">
                <a:latin typeface="Malgun Gothic"/>
                <a:cs typeface="Malgun Gothic"/>
              </a:rPr>
              <a:t> </a:t>
            </a:r>
            <a:r>
              <a:rPr sz="1100" dirty="0">
                <a:latin typeface="Malgun Gothic"/>
                <a:cs typeface="Malgun Gothic"/>
              </a:rPr>
              <a:t>App</a:t>
            </a:r>
            <a:r>
              <a:rPr sz="1100" spc="-25" dirty="0">
                <a:latin typeface="Malgun Gothic"/>
                <a:cs typeface="Malgun Gothic"/>
              </a:rPr>
              <a:t> </a:t>
            </a:r>
            <a:r>
              <a:rPr sz="1100" spc="-10" dirty="0">
                <a:latin typeface="Malgun Gothic"/>
                <a:cs typeface="Malgun Gothic"/>
              </a:rPr>
              <a:t>(HAProxy)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9365624" y="5516316"/>
            <a:ext cx="1662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Malgun Gothic"/>
                <a:cs typeface="Malgun Gothic"/>
              </a:rPr>
              <a:t>SDN</a:t>
            </a:r>
            <a:r>
              <a:rPr sz="1100" spc="-10" dirty="0">
                <a:latin typeface="Malgun Gothic"/>
                <a:cs typeface="Malgun Gothic"/>
              </a:rPr>
              <a:t> </a:t>
            </a:r>
            <a:r>
              <a:rPr sz="1100" dirty="0">
                <a:latin typeface="Malgun Gothic"/>
                <a:cs typeface="Malgun Gothic"/>
              </a:rPr>
              <a:t>L4</a:t>
            </a:r>
            <a:r>
              <a:rPr sz="1100" spc="-10" dirty="0">
                <a:latin typeface="Malgun Gothic"/>
                <a:cs typeface="Malgun Gothic"/>
              </a:rPr>
              <a:t> </a:t>
            </a:r>
            <a:r>
              <a:rPr sz="1100" dirty="0">
                <a:latin typeface="Malgun Gothic"/>
                <a:cs typeface="Malgun Gothic"/>
              </a:rPr>
              <a:t>Admin</a:t>
            </a:r>
            <a:r>
              <a:rPr sz="1100" spc="-10" dirty="0">
                <a:latin typeface="Malgun Gothic"/>
                <a:cs typeface="Malgun Gothic"/>
              </a:rPr>
              <a:t> (HAProxy)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1013642" y="1943413"/>
            <a:ext cx="10412095" cy="1917700"/>
            <a:chOff x="1013642" y="1943413"/>
            <a:chExt cx="10412095" cy="1917700"/>
          </a:xfrm>
        </p:grpSpPr>
        <p:sp>
          <p:nvSpPr>
            <p:cNvPr id="125" name="object 125"/>
            <p:cNvSpPr/>
            <p:nvPr/>
          </p:nvSpPr>
          <p:spPr>
            <a:xfrm>
              <a:off x="1433317" y="2028225"/>
              <a:ext cx="9816465" cy="0"/>
            </a:xfrm>
            <a:custGeom>
              <a:avLst/>
              <a:gdLst/>
              <a:ahLst/>
              <a:cxnLst/>
              <a:rect l="l" t="t" r="r" b="b"/>
              <a:pathLst>
                <a:path w="9816465">
                  <a:moveTo>
                    <a:pt x="0" y="0"/>
                  </a:moveTo>
                  <a:lnTo>
                    <a:pt x="9816335" y="0"/>
                  </a:lnTo>
                </a:path>
              </a:pathLst>
            </a:custGeom>
            <a:ln w="19049">
              <a:solidFill>
                <a:srgbClr val="005B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33179" y="1986975"/>
              <a:ext cx="109662" cy="82497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240127" y="1986975"/>
              <a:ext cx="109674" cy="82497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1018405" y="1948176"/>
              <a:ext cx="291465" cy="165100"/>
            </a:xfrm>
            <a:custGeom>
              <a:avLst/>
              <a:gdLst/>
              <a:ahLst/>
              <a:cxnLst/>
              <a:rect l="l" t="t" r="r" b="b"/>
              <a:pathLst>
                <a:path w="291465" h="165100">
                  <a:moveTo>
                    <a:pt x="322" y="105059"/>
                  </a:moveTo>
                  <a:lnTo>
                    <a:pt x="322" y="105327"/>
                  </a:lnTo>
                  <a:lnTo>
                    <a:pt x="0" y="105327"/>
                  </a:lnTo>
                  <a:lnTo>
                    <a:pt x="0" y="105327"/>
                  </a:lnTo>
                  <a:lnTo>
                    <a:pt x="0" y="105592"/>
                  </a:lnTo>
                  <a:lnTo>
                    <a:pt x="0" y="162339"/>
                  </a:lnTo>
                  <a:lnTo>
                    <a:pt x="964" y="165002"/>
                  </a:lnTo>
                  <a:lnTo>
                    <a:pt x="289529" y="165002"/>
                  </a:lnTo>
                  <a:lnTo>
                    <a:pt x="291141" y="162872"/>
                  </a:lnTo>
                  <a:lnTo>
                    <a:pt x="291141" y="105592"/>
                  </a:lnTo>
                  <a:lnTo>
                    <a:pt x="290819" y="105592"/>
                  </a:lnTo>
                  <a:lnTo>
                    <a:pt x="290819" y="105327"/>
                  </a:lnTo>
                  <a:lnTo>
                    <a:pt x="290819" y="105059"/>
                  </a:lnTo>
                  <a:lnTo>
                    <a:pt x="290496" y="104527"/>
                  </a:lnTo>
                  <a:lnTo>
                    <a:pt x="122924" y="104527"/>
                  </a:lnTo>
                  <a:lnTo>
                    <a:pt x="36874" y="104527"/>
                  </a:lnTo>
                  <a:lnTo>
                    <a:pt x="5171" y="104527"/>
                  </a:lnTo>
                  <a:lnTo>
                    <a:pt x="642" y="104527"/>
                  </a:lnTo>
                  <a:lnTo>
                    <a:pt x="322" y="104794"/>
                  </a:lnTo>
                  <a:lnTo>
                    <a:pt x="322" y="105059"/>
                  </a:lnTo>
                  <a:close/>
                </a:path>
                <a:path w="291465" h="165100">
                  <a:moveTo>
                    <a:pt x="263399" y="4544"/>
                  </a:moveTo>
                  <a:lnTo>
                    <a:pt x="262111" y="0"/>
                  </a:lnTo>
                  <a:lnTo>
                    <a:pt x="261466" y="0"/>
                  </a:lnTo>
                  <a:lnTo>
                    <a:pt x="255669" y="0"/>
                  </a:lnTo>
                  <a:lnTo>
                    <a:pt x="28892" y="0"/>
                  </a:lnTo>
                  <a:lnTo>
                    <a:pt x="27602" y="4544"/>
                  </a:lnTo>
                  <a:lnTo>
                    <a:pt x="21291" y="24950"/>
                  </a:lnTo>
                  <a:lnTo>
                    <a:pt x="12866" y="52224"/>
                  </a:lnTo>
                  <a:lnTo>
                    <a:pt x="5044" y="77509"/>
                  </a:lnTo>
                  <a:lnTo>
                    <a:pt x="544" y="91947"/>
                  </a:lnTo>
                  <a:lnTo>
                    <a:pt x="168151" y="91947"/>
                  </a:lnTo>
                  <a:lnTo>
                    <a:pt x="254220" y="91947"/>
                  </a:lnTo>
                  <a:lnTo>
                    <a:pt x="285929" y="91947"/>
                  </a:lnTo>
                  <a:lnTo>
                    <a:pt x="290459" y="91947"/>
                  </a:lnTo>
                  <a:lnTo>
                    <a:pt x="286049" y="77722"/>
                  </a:lnTo>
                  <a:lnTo>
                    <a:pt x="278620" y="53551"/>
                  </a:lnTo>
                  <a:lnTo>
                    <a:pt x="270345" y="26727"/>
                  </a:lnTo>
                  <a:lnTo>
                    <a:pt x="263399" y="454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38667" y="1952506"/>
              <a:ext cx="244034" cy="83287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49778" y="2888619"/>
              <a:ext cx="495524" cy="278524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54528" y="3083693"/>
              <a:ext cx="495524" cy="278499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23078" y="2888644"/>
              <a:ext cx="495524" cy="278524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27828" y="3083693"/>
              <a:ext cx="495524" cy="278524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9569555" y="2622669"/>
              <a:ext cx="1846580" cy="1228725"/>
            </a:xfrm>
            <a:custGeom>
              <a:avLst/>
              <a:gdLst/>
              <a:ahLst/>
              <a:cxnLst/>
              <a:rect l="l" t="t" r="r" b="b"/>
              <a:pathLst>
                <a:path w="1846579" h="1228725">
                  <a:moveTo>
                    <a:pt x="0" y="0"/>
                  </a:moveTo>
                  <a:lnTo>
                    <a:pt x="1846496" y="0"/>
                  </a:lnTo>
                  <a:lnTo>
                    <a:pt x="1846496" y="1228497"/>
                  </a:lnTo>
                  <a:lnTo>
                    <a:pt x="0" y="12284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636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796205" y="3927417"/>
            <a:ext cx="10546080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Times New Roman"/>
              <a:cs typeface="Times New Roman"/>
            </a:endParaRPr>
          </a:p>
          <a:p>
            <a:pPr marR="140970" algn="ctr">
              <a:lnSpc>
                <a:spcPct val="100000"/>
              </a:lnSpc>
              <a:tabLst>
                <a:tab pos="671830" algn="l"/>
                <a:tab pos="1328420" algn="l"/>
                <a:tab pos="1996439" algn="l"/>
                <a:tab pos="2637155" algn="l"/>
              </a:tabLst>
            </a:pPr>
            <a:r>
              <a:rPr sz="700" spc="-10" dirty="0">
                <a:solidFill>
                  <a:srgbClr val="FFFFFF"/>
                </a:solidFill>
                <a:latin typeface="Arial Black"/>
                <a:cs typeface="Arial Black"/>
              </a:rPr>
              <a:t>PHYSICAL</a:t>
            </a:r>
            <a:r>
              <a:rPr sz="700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700" spc="-10" dirty="0">
                <a:solidFill>
                  <a:srgbClr val="FFFFFF"/>
                </a:solidFill>
                <a:latin typeface="Arial Black"/>
                <a:cs typeface="Arial Black"/>
              </a:rPr>
              <a:t>VIRTUAL</a:t>
            </a:r>
            <a:r>
              <a:rPr sz="700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700" spc="-10" dirty="0">
                <a:solidFill>
                  <a:srgbClr val="FFFFFF"/>
                </a:solidFill>
                <a:latin typeface="Arial Black"/>
                <a:cs typeface="Arial Black"/>
              </a:rPr>
              <a:t>PRIVATE</a:t>
            </a:r>
            <a:r>
              <a:rPr sz="700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700" spc="-10" dirty="0">
                <a:solidFill>
                  <a:srgbClr val="FFFFFF"/>
                </a:solidFill>
                <a:latin typeface="Arial Black"/>
                <a:cs typeface="Arial Black"/>
              </a:rPr>
              <a:t>PUBLIC</a:t>
            </a:r>
            <a:r>
              <a:rPr sz="700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700" spc="-10" dirty="0">
                <a:solidFill>
                  <a:srgbClr val="FFFFFF"/>
                </a:solidFill>
                <a:latin typeface="Arial Black"/>
                <a:cs typeface="Arial Black"/>
              </a:rPr>
              <a:t>HYBRID</a:t>
            </a:r>
            <a:endParaRPr sz="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3275" y="1073421"/>
            <a:ext cx="48056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대외망</a:t>
            </a:r>
            <a:r>
              <a:rPr sz="2800" spc="-165" dirty="0"/>
              <a:t> </a:t>
            </a:r>
            <a:r>
              <a:rPr sz="2800" dirty="0">
                <a:latin typeface="Arial"/>
                <a:cs typeface="Arial"/>
              </a:rPr>
              <a:t>- </a:t>
            </a:r>
            <a:r>
              <a:rPr sz="2800" dirty="0"/>
              <a:t>대내망</a:t>
            </a:r>
            <a:r>
              <a:rPr sz="2800" spc="-165" dirty="0"/>
              <a:t> </a:t>
            </a:r>
            <a:r>
              <a:rPr sz="2800" dirty="0"/>
              <a:t>아키텍처</a:t>
            </a:r>
            <a:r>
              <a:rPr sz="2800" spc="-160" dirty="0"/>
              <a:t> </a:t>
            </a:r>
            <a:r>
              <a:rPr sz="2800" spc="-25" dirty="0"/>
              <a:t>예시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3223" y="369610"/>
            <a:ext cx="533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0000"/>
                </a:solidFill>
                <a:latin typeface="Batang"/>
                <a:cs typeface="Batang"/>
              </a:rPr>
              <a:t>아키텍처</a:t>
            </a:r>
            <a:endParaRPr sz="1000">
              <a:latin typeface="Batang"/>
              <a:cs typeface="Batang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9298" y="2566369"/>
            <a:ext cx="988694" cy="991235"/>
          </a:xfrm>
          <a:custGeom>
            <a:avLst/>
            <a:gdLst/>
            <a:ahLst/>
            <a:cxnLst/>
            <a:rect l="l" t="t" r="r" b="b"/>
            <a:pathLst>
              <a:path w="988694" h="991235">
                <a:moveTo>
                  <a:pt x="0" y="0"/>
                </a:moveTo>
                <a:lnTo>
                  <a:pt x="988505" y="0"/>
                </a:lnTo>
                <a:lnTo>
                  <a:pt x="988505" y="990798"/>
                </a:lnTo>
                <a:lnTo>
                  <a:pt x="0" y="990798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1622" y="2586683"/>
            <a:ext cx="4845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44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DMZ </a:t>
            </a:r>
            <a:r>
              <a:rPr sz="1000" b="1" spc="-10" dirty="0">
                <a:latin typeface="Arial"/>
                <a:cs typeface="Arial"/>
              </a:rPr>
              <a:t>INFRA1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71883" y="2566669"/>
            <a:ext cx="988694" cy="991235"/>
          </a:xfrm>
          <a:custGeom>
            <a:avLst/>
            <a:gdLst/>
            <a:ahLst/>
            <a:cxnLst/>
            <a:rect l="l" t="t" r="r" b="b"/>
            <a:pathLst>
              <a:path w="988694" h="991235">
                <a:moveTo>
                  <a:pt x="0" y="0"/>
                </a:moveTo>
                <a:lnTo>
                  <a:pt x="988510" y="0"/>
                </a:lnTo>
                <a:lnTo>
                  <a:pt x="988510" y="990723"/>
                </a:lnTo>
                <a:lnTo>
                  <a:pt x="0" y="990723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24207" y="2586997"/>
            <a:ext cx="4845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44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DMZ </a:t>
            </a:r>
            <a:r>
              <a:rPr sz="1000" b="1" spc="-10" dirty="0">
                <a:latin typeface="Arial"/>
                <a:cs typeface="Arial"/>
              </a:rPr>
              <a:t>INFRA2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7576" y="4027766"/>
            <a:ext cx="2112645" cy="1172845"/>
          </a:xfrm>
          <a:custGeom>
            <a:avLst/>
            <a:gdLst/>
            <a:ahLst/>
            <a:cxnLst/>
            <a:rect l="l" t="t" r="r" b="b"/>
            <a:pathLst>
              <a:path w="2112645" h="1172845">
                <a:moveTo>
                  <a:pt x="0" y="0"/>
                </a:moveTo>
                <a:lnTo>
                  <a:pt x="2112268" y="0"/>
                </a:lnTo>
                <a:lnTo>
                  <a:pt x="2112268" y="1172747"/>
                </a:lnTo>
                <a:lnTo>
                  <a:pt x="0" y="1172747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9081" y="4135330"/>
            <a:ext cx="21189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0245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DMZ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NODE1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4276" y="1958620"/>
            <a:ext cx="10113010" cy="3651885"/>
            <a:chOff x="314276" y="1958620"/>
            <a:chExt cx="10113010" cy="3651885"/>
          </a:xfrm>
        </p:grpSpPr>
        <p:sp>
          <p:nvSpPr>
            <p:cNvPr id="11" name="object 11"/>
            <p:cNvSpPr/>
            <p:nvPr/>
          </p:nvSpPr>
          <p:spPr>
            <a:xfrm>
              <a:off x="320626" y="1964970"/>
              <a:ext cx="10100310" cy="3639185"/>
            </a:xfrm>
            <a:custGeom>
              <a:avLst/>
              <a:gdLst/>
              <a:ahLst/>
              <a:cxnLst/>
              <a:rect l="l" t="t" r="r" b="b"/>
              <a:pathLst>
                <a:path w="10100310" h="3639185">
                  <a:moveTo>
                    <a:pt x="0" y="4382"/>
                  </a:moveTo>
                  <a:lnTo>
                    <a:pt x="2600392" y="4382"/>
                  </a:lnTo>
                  <a:lnTo>
                    <a:pt x="2600392" y="3639167"/>
                  </a:lnTo>
                  <a:lnTo>
                    <a:pt x="0" y="3639167"/>
                  </a:lnTo>
                  <a:lnTo>
                    <a:pt x="0" y="4382"/>
                  </a:lnTo>
                  <a:close/>
                </a:path>
                <a:path w="10100310" h="3639185">
                  <a:moveTo>
                    <a:pt x="3081741" y="0"/>
                  </a:moveTo>
                  <a:lnTo>
                    <a:pt x="10100227" y="0"/>
                  </a:lnTo>
                  <a:lnTo>
                    <a:pt x="10100227" y="3634792"/>
                  </a:lnTo>
                  <a:lnTo>
                    <a:pt x="3081741" y="3634792"/>
                  </a:lnTo>
                  <a:lnTo>
                    <a:pt x="3081741" y="0"/>
                  </a:lnTo>
                  <a:close/>
                </a:path>
              </a:pathLst>
            </a:custGeom>
            <a:ln w="12699">
              <a:solidFill>
                <a:srgbClr val="97A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8825" y="2023013"/>
              <a:ext cx="440844" cy="19965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62696" y="2029396"/>
            <a:ext cx="9493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DMZ</a:t>
            </a:r>
            <a:r>
              <a:rPr sz="1000" b="1" spc="-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Router</a:t>
            </a:r>
            <a:r>
              <a:rPr sz="1000" b="1" spc="-5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LB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7215" y="2058516"/>
            <a:ext cx="440844" cy="19965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991086" y="2064886"/>
            <a:ext cx="1142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Master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LB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(</a:t>
            </a:r>
            <a:r>
              <a:rPr sz="1000" b="1" spc="-10" dirty="0">
                <a:latin typeface="Malgun Gothic"/>
                <a:cs typeface="Malgun Gothic"/>
              </a:rPr>
              <a:t>내부망</a:t>
            </a:r>
            <a:r>
              <a:rPr sz="1000" b="1" spc="-1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6709" y="2048549"/>
            <a:ext cx="440844" cy="19965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500594" y="2054932"/>
            <a:ext cx="10572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Malgun Gothic"/>
                <a:cs typeface="Malgun Gothic"/>
              </a:rPr>
              <a:t>내부망</a:t>
            </a:r>
            <a:r>
              <a:rPr sz="1000" b="1" spc="-90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Arial"/>
                <a:cs typeface="Arial"/>
              </a:rPr>
              <a:t>Router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LB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62167" y="4015766"/>
            <a:ext cx="1352550" cy="1172845"/>
          </a:xfrm>
          <a:custGeom>
            <a:avLst/>
            <a:gdLst/>
            <a:ahLst/>
            <a:cxnLst/>
            <a:rect l="l" t="t" r="r" b="b"/>
            <a:pathLst>
              <a:path w="1352550" h="1172845">
                <a:moveTo>
                  <a:pt x="0" y="0"/>
                </a:moveTo>
                <a:lnTo>
                  <a:pt x="1352272" y="0"/>
                </a:lnTo>
                <a:lnTo>
                  <a:pt x="1352272" y="1172722"/>
                </a:lnTo>
                <a:lnTo>
                  <a:pt x="0" y="1172722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69942" y="4043348"/>
            <a:ext cx="13322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Arial"/>
                <a:cs typeface="Arial"/>
              </a:rPr>
              <a:t>WORKER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NODE1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12314" y="4015766"/>
            <a:ext cx="1352550" cy="1172845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315"/>
              </a:spcBef>
            </a:pPr>
            <a:r>
              <a:rPr sz="1000" b="1" spc="-10" dirty="0">
                <a:latin typeface="Arial"/>
                <a:cs typeface="Arial"/>
              </a:rPr>
              <a:t>WORKER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NODE2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7178" y="3141418"/>
            <a:ext cx="593090" cy="321310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750"/>
              </a:spcBef>
            </a:pPr>
            <a:r>
              <a:rPr sz="800" spc="-10" dirty="0">
                <a:solidFill>
                  <a:srgbClr val="445469"/>
                </a:solidFill>
                <a:latin typeface="Arial"/>
                <a:cs typeface="Arial"/>
              </a:rPr>
              <a:t>Router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69760" y="3142468"/>
            <a:ext cx="593090" cy="321310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750"/>
              </a:spcBef>
            </a:pPr>
            <a:r>
              <a:rPr sz="800" spc="-10" dirty="0">
                <a:solidFill>
                  <a:srgbClr val="445469"/>
                </a:solidFill>
                <a:latin typeface="Arial"/>
                <a:cs typeface="Arial"/>
              </a:rPr>
              <a:t>Router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565017" y="2566394"/>
            <a:ext cx="1236345" cy="991235"/>
          </a:xfrm>
          <a:custGeom>
            <a:avLst/>
            <a:gdLst/>
            <a:ahLst/>
            <a:cxnLst/>
            <a:rect l="l" t="t" r="r" b="b"/>
            <a:pathLst>
              <a:path w="1236345" h="991235">
                <a:moveTo>
                  <a:pt x="0" y="0"/>
                </a:moveTo>
                <a:lnTo>
                  <a:pt x="1236022" y="0"/>
                </a:lnTo>
                <a:lnTo>
                  <a:pt x="1236022" y="990848"/>
                </a:lnTo>
                <a:lnTo>
                  <a:pt x="0" y="990848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849392" y="2586712"/>
            <a:ext cx="667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Arial"/>
                <a:cs typeface="Arial"/>
              </a:rPr>
              <a:t>MASTER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90515" y="2566394"/>
            <a:ext cx="1236345" cy="991235"/>
          </a:xfrm>
          <a:custGeom>
            <a:avLst/>
            <a:gdLst/>
            <a:ahLst/>
            <a:cxnLst/>
            <a:rect l="l" t="t" r="r" b="b"/>
            <a:pathLst>
              <a:path w="1236345" h="991235">
                <a:moveTo>
                  <a:pt x="0" y="0"/>
                </a:moveTo>
                <a:lnTo>
                  <a:pt x="1236022" y="0"/>
                </a:lnTo>
                <a:lnTo>
                  <a:pt x="1236022" y="990848"/>
                </a:lnTo>
                <a:lnTo>
                  <a:pt x="0" y="990848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174879" y="2586712"/>
            <a:ext cx="667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Arial"/>
                <a:cs typeface="Arial"/>
              </a:rPr>
              <a:t>MASTER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19537" y="2566394"/>
            <a:ext cx="1236345" cy="991235"/>
          </a:xfrm>
          <a:custGeom>
            <a:avLst/>
            <a:gdLst/>
            <a:ahLst/>
            <a:cxnLst/>
            <a:rect l="l" t="t" r="r" b="b"/>
            <a:pathLst>
              <a:path w="1236345" h="991235">
                <a:moveTo>
                  <a:pt x="0" y="0"/>
                </a:moveTo>
                <a:lnTo>
                  <a:pt x="1236022" y="0"/>
                </a:lnTo>
                <a:lnTo>
                  <a:pt x="1236022" y="990848"/>
                </a:lnTo>
                <a:lnTo>
                  <a:pt x="0" y="990848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03909" y="2586712"/>
            <a:ext cx="6673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Arial"/>
                <a:cs typeface="Arial"/>
              </a:rPr>
              <a:t>MASTER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57367" y="3022168"/>
            <a:ext cx="797560" cy="214629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800" spc="-20" dirty="0">
                <a:solidFill>
                  <a:srgbClr val="445469"/>
                </a:solidFill>
                <a:latin typeface="Arial"/>
                <a:cs typeface="Arial"/>
              </a:rPr>
              <a:t>Web-</a:t>
            </a:r>
            <a:r>
              <a:rPr sz="800" spc="-10" dirty="0">
                <a:solidFill>
                  <a:srgbClr val="445469"/>
                </a:solidFill>
                <a:latin typeface="Arial"/>
                <a:cs typeface="Arial"/>
              </a:rPr>
              <a:t>Console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57367" y="3236280"/>
            <a:ext cx="797560" cy="214629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800" spc="-20" dirty="0">
                <a:solidFill>
                  <a:srgbClr val="445469"/>
                </a:solidFill>
                <a:latin typeface="Arial"/>
                <a:cs typeface="Arial"/>
              </a:rPr>
              <a:t>Etcd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43014" y="3022168"/>
            <a:ext cx="797560" cy="214629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800" spc="-20" dirty="0">
                <a:solidFill>
                  <a:srgbClr val="445469"/>
                </a:solidFill>
                <a:latin typeface="Arial"/>
                <a:cs typeface="Arial"/>
              </a:rPr>
              <a:t>Web-</a:t>
            </a:r>
            <a:r>
              <a:rPr sz="800" spc="-10" dirty="0">
                <a:solidFill>
                  <a:srgbClr val="445469"/>
                </a:solidFill>
                <a:latin typeface="Arial"/>
                <a:cs typeface="Arial"/>
              </a:rPr>
              <a:t>Console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43014" y="3236280"/>
            <a:ext cx="797560" cy="214629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800" spc="-20" dirty="0">
                <a:solidFill>
                  <a:srgbClr val="445469"/>
                </a:solidFill>
                <a:latin typeface="Arial"/>
                <a:cs typeface="Arial"/>
              </a:rPr>
              <a:t>Etcd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60811" y="3022168"/>
            <a:ext cx="797560" cy="214629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800" spc="-20" dirty="0">
                <a:solidFill>
                  <a:srgbClr val="445469"/>
                </a:solidFill>
                <a:latin typeface="Arial"/>
                <a:cs typeface="Arial"/>
              </a:rPr>
              <a:t>Web-</a:t>
            </a:r>
            <a:r>
              <a:rPr sz="800" spc="-10" dirty="0">
                <a:solidFill>
                  <a:srgbClr val="445469"/>
                </a:solidFill>
                <a:latin typeface="Arial"/>
                <a:cs typeface="Arial"/>
              </a:rPr>
              <a:t>Console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60811" y="3236280"/>
            <a:ext cx="797560" cy="214629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800" spc="-20" dirty="0">
                <a:solidFill>
                  <a:srgbClr val="445469"/>
                </a:solidFill>
                <a:latin typeface="Arial"/>
                <a:cs typeface="Arial"/>
              </a:rPr>
              <a:t>Etcd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86958" y="2566094"/>
            <a:ext cx="1102360" cy="1134745"/>
          </a:xfrm>
          <a:custGeom>
            <a:avLst/>
            <a:gdLst/>
            <a:ahLst/>
            <a:cxnLst/>
            <a:rect l="l" t="t" r="r" b="b"/>
            <a:pathLst>
              <a:path w="1102359" h="1134745">
                <a:moveTo>
                  <a:pt x="0" y="0"/>
                </a:moveTo>
                <a:lnTo>
                  <a:pt x="1101997" y="0"/>
                </a:lnTo>
                <a:lnTo>
                  <a:pt x="1101997" y="1134272"/>
                </a:lnTo>
                <a:lnTo>
                  <a:pt x="0" y="1134272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086829" y="2586407"/>
            <a:ext cx="9023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Arial"/>
                <a:cs typeface="Arial"/>
              </a:rPr>
              <a:t>INTRA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INFRA1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186756" y="2566094"/>
            <a:ext cx="1102360" cy="1134745"/>
          </a:xfrm>
          <a:custGeom>
            <a:avLst/>
            <a:gdLst/>
            <a:ahLst/>
            <a:cxnLst/>
            <a:rect l="l" t="t" r="r" b="b"/>
            <a:pathLst>
              <a:path w="1102359" h="1134745">
                <a:moveTo>
                  <a:pt x="0" y="0"/>
                </a:moveTo>
                <a:lnTo>
                  <a:pt x="1101997" y="0"/>
                </a:lnTo>
                <a:lnTo>
                  <a:pt x="1101997" y="1134272"/>
                </a:lnTo>
                <a:lnTo>
                  <a:pt x="0" y="1134272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271336" y="2586407"/>
            <a:ext cx="9328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Arial"/>
                <a:cs typeface="Arial"/>
              </a:rPr>
              <a:t>INTRA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INFRA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8182683" y="2963143"/>
          <a:ext cx="661035" cy="662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1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Router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12700">
                      <a:solidFill>
                        <a:srgbClr val="31528E"/>
                      </a:solidFill>
                      <a:prstDash val="solid"/>
                    </a:lnT>
                    <a:lnB w="19050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1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Registry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19050">
                      <a:solidFill>
                        <a:srgbClr val="31528E"/>
                      </a:solidFill>
                      <a:prstDash val="solid"/>
                    </a:lnT>
                    <a:lnB w="19050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Metric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19050">
                      <a:solidFill>
                        <a:srgbClr val="31528E"/>
                      </a:solidFill>
                      <a:prstDash val="solid"/>
                    </a:lnT>
                    <a:lnB w="28575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Loki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28575">
                      <a:solidFill>
                        <a:srgbClr val="31528E"/>
                      </a:solidFill>
                      <a:prstDash val="solid"/>
                    </a:lnT>
                    <a:lnB w="12700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9427730" y="2963143"/>
          <a:ext cx="661035" cy="662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1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Router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12700">
                      <a:solidFill>
                        <a:srgbClr val="31528E"/>
                      </a:solidFill>
                      <a:prstDash val="solid"/>
                    </a:lnT>
                    <a:lnB w="19050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1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Registry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19050">
                      <a:solidFill>
                        <a:srgbClr val="31528E"/>
                      </a:solidFill>
                      <a:prstDash val="solid"/>
                    </a:lnT>
                    <a:lnB w="19050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Metric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19050">
                      <a:solidFill>
                        <a:srgbClr val="31528E"/>
                      </a:solidFill>
                      <a:prstDash val="solid"/>
                    </a:lnT>
                    <a:lnB w="28575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Loki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28575">
                      <a:solidFill>
                        <a:srgbClr val="31528E"/>
                      </a:solidFill>
                      <a:prstDash val="solid"/>
                    </a:lnT>
                    <a:lnB w="12700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object 41"/>
          <p:cNvSpPr/>
          <p:nvPr/>
        </p:nvSpPr>
        <p:spPr>
          <a:xfrm>
            <a:off x="10493103" y="2561669"/>
            <a:ext cx="1219200" cy="1395095"/>
          </a:xfrm>
          <a:custGeom>
            <a:avLst/>
            <a:gdLst/>
            <a:ahLst/>
            <a:cxnLst/>
            <a:rect l="l" t="t" r="r" b="b"/>
            <a:pathLst>
              <a:path w="1219200" h="1395095">
                <a:moveTo>
                  <a:pt x="0" y="0"/>
                </a:moveTo>
                <a:lnTo>
                  <a:pt x="1218922" y="0"/>
                </a:lnTo>
                <a:lnTo>
                  <a:pt x="1218922" y="1394672"/>
                </a:lnTo>
                <a:lnTo>
                  <a:pt x="0" y="1394672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0658829" y="2613820"/>
            <a:ext cx="88709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Malgun Gothic"/>
                <a:cs typeface="Malgun Gothic"/>
              </a:rPr>
              <a:t>내부</a:t>
            </a:r>
            <a:r>
              <a:rPr sz="1000" b="1" spc="-8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Arial"/>
                <a:cs typeface="Arial"/>
              </a:rPr>
              <a:t>Bastion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10551728" y="3018793"/>
          <a:ext cx="1064895" cy="848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2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DNS1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12700">
                      <a:solidFill>
                        <a:srgbClr val="31528E"/>
                      </a:solidFill>
                      <a:prstDash val="solid"/>
                    </a:lnT>
                    <a:lnB w="19050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80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YUM</a:t>
                      </a:r>
                      <a:r>
                        <a:rPr sz="800" spc="-5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Repo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19050">
                      <a:solidFill>
                        <a:srgbClr val="31528E"/>
                      </a:solidFill>
                      <a:prstDash val="solid"/>
                    </a:lnT>
                    <a:lnB w="19050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80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Ext.</a:t>
                      </a:r>
                      <a:r>
                        <a:rPr sz="800" spc="-35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Registry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19050">
                      <a:solidFill>
                        <a:srgbClr val="31528E"/>
                      </a:solidFill>
                      <a:prstDash val="solid"/>
                    </a:lnT>
                    <a:lnB w="28575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800" spc="-1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HA</a:t>
                      </a:r>
                      <a:r>
                        <a:rPr sz="800" spc="-5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445469"/>
                          </a:solidFill>
                          <a:latin typeface="Arial"/>
                          <a:cs typeface="Arial"/>
                        </a:rPr>
                        <a:t>Proxy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31528E"/>
                      </a:solidFill>
                      <a:prstDash val="solid"/>
                    </a:lnL>
                    <a:lnR w="12700">
                      <a:solidFill>
                        <a:srgbClr val="31528E"/>
                      </a:solidFill>
                      <a:prstDash val="solid"/>
                    </a:lnR>
                    <a:lnT w="28575">
                      <a:solidFill>
                        <a:srgbClr val="31528E"/>
                      </a:solidFill>
                      <a:prstDash val="solid"/>
                    </a:lnT>
                    <a:lnB w="12700">
                      <a:solidFill>
                        <a:srgbClr val="31528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10576978" y="4270966"/>
            <a:ext cx="1069975" cy="427990"/>
          </a:xfrm>
          <a:custGeom>
            <a:avLst/>
            <a:gdLst/>
            <a:ahLst/>
            <a:cxnLst/>
            <a:rect l="l" t="t" r="r" b="b"/>
            <a:pathLst>
              <a:path w="1069975" h="427989">
                <a:moveTo>
                  <a:pt x="0" y="0"/>
                </a:moveTo>
                <a:lnTo>
                  <a:pt x="1064697" y="0"/>
                </a:lnTo>
                <a:lnTo>
                  <a:pt x="1064697" y="212099"/>
                </a:lnTo>
                <a:lnTo>
                  <a:pt x="0" y="212099"/>
                </a:lnTo>
                <a:lnTo>
                  <a:pt x="0" y="0"/>
                </a:lnTo>
                <a:close/>
              </a:path>
              <a:path w="1069975" h="427989">
                <a:moveTo>
                  <a:pt x="4824" y="215824"/>
                </a:moveTo>
                <a:lnTo>
                  <a:pt x="1069522" y="215824"/>
                </a:lnTo>
                <a:lnTo>
                  <a:pt x="1069522" y="427924"/>
                </a:lnTo>
                <a:lnTo>
                  <a:pt x="4824" y="427924"/>
                </a:lnTo>
                <a:lnTo>
                  <a:pt x="4824" y="215824"/>
                </a:lnTo>
                <a:close/>
              </a:path>
            </a:pathLst>
          </a:custGeom>
          <a:ln w="12699">
            <a:solidFill>
              <a:srgbClr val="31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0499778" y="4022041"/>
            <a:ext cx="1219200" cy="816610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9"/>
              </a:spcBef>
            </a:pPr>
            <a:r>
              <a:rPr sz="1000" b="1" dirty="0">
                <a:latin typeface="Malgun Gothic"/>
                <a:cs typeface="Malgun Gothic"/>
              </a:rPr>
              <a:t>내부</a:t>
            </a:r>
            <a:r>
              <a:rPr sz="1000" b="1" spc="-85" dirty="0">
                <a:latin typeface="Malgun Gothic"/>
                <a:cs typeface="Malgun Gothic"/>
              </a:rPr>
              <a:t> </a:t>
            </a:r>
            <a:r>
              <a:rPr sz="1000" b="1" dirty="0">
                <a:latin typeface="Arial"/>
                <a:cs typeface="Arial"/>
              </a:rPr>
              <a:t>Bastion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sz="800" spc="-20" dirty="0">
                <a:solidFill>
                  <a:srgbClr val="445469"/>
                </a:solidFill>
                <a:latin typeface="Arial"/>
                <a:cs typeface="Arial"/>
              </a:rPr>
              <a:t>DNS2</a:t>
            </a:r>
            <a:endParaRPr sz="80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  <a:spcBef>
                <a:spcPts val="740"/>
              </a:spcBef>
            </a:pPr>
            <a:r>
              <a:rPr sz="800" spc="-10" dirty="0">
                <a:solidFill>
                  <a:srgbClr val="445469"/>
                </a:solidFill>
                <a:latin typeface="Arial"/>
                <a:cs typeface="Arial"/>
              </a:rPr>
              <a:t>HA</a:t>
            </a:r>
            <a:r>
              <a:rPr sz="800" spc="-50" dirty="0">
                <a:solidFill>
                  <a:srgbClr val="44546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45469"/>
                </a:solidFill>
                <a:latin typeface="Arial"/>
                <a:cs typeface="Arial"/>
              </a:rPr>
              <a:t>Proxy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23536" y="2217902"/>
            <a:ext cx="9978390" cy="3850640"/>
            <a:chOff x="323536" y="2217902"/>
            <a:chExt cx="9978390" cy="3850640"/>
          </a:xfrm>
        </p:grpSpPr>
        <p:sp>
          <p:nvSpPr>
            <p:cNvPr id="47" name="object 47"/>
            <p:cNvSpPr/>
            <p:nvPr/>
          </p:nvSpPr>
          <p:spPr>
            <a:xfrm>
              <a:off x="1143552" y="2222665"/>
              <a:ext cx="1123315" cy="1805305"/>
            </a:xfrm>
            <a:custGeom>
              <a:avLst/>
              <a:gdLst/>
              <a:ahLst/>
              <a:cxnLst/>
              <a:rect l="l" t="t" r="r" b="b"/>
              <a:pathLst>
                <a:path w="1123314" h="1805304">
                  <a:moveTo>
                    <a:pt x="225694" y="0"/>
                  </a:moveTo>
                  <a:lnTo>
                    <a:pt x="225694" y="171849"/>
                  </a:lnTo>
                  <a:lnTo>
                    <a:pt x="94" y="171849"/>
                  </a:lnTo>
                  <a:lnTo>
                    <a:pt x="94" y="343804"/>
                  </a:lnTo>
                </a:path>
                <a:path w="1123314" h="1805304">
                  <a:moveTo>
                    <a:pt x="225694" y="0"/>
                  </a:moveTo>
                  <a:lnTo>
                    <a:pt x="225694" y="172004"/>
                  </a:lnTo>
                  <a:lnTo>
                    <a:pt x="1122692" y="172004"/>
                  </a:lnTo>
                  <a:lnTo>
                    <a:pt x="1122692" y="344104"/>
                  </a:lnTo>
                </a:path>
                <a:path w="1123314" h="1805304">
                  <a:moveTo>
                    <a:pt x="0" y="1334502"/>
                  </a:moveTo>
                  <a:lnTo>
                    <a:pt x="0" y="1569801"/>
                  </a:lnTo>
                  <a:lnTo>
                    <a:pt x="560098" y="1569801"/>
                  </a:lnTo>
                  <a:lnTo>
                    <a:pt x="560098" y="1805201"/>
                  </a:lnTo>
                </a:path>
                <a:path w="1123314" h="1805304">
                  <a:moveTo>
                    <a:pt x="1122585" y="1334727"/>
                  </a:moveTo>
                  <a:lnTo>
                    <a:pt x="1122585" y="1569901"/>
                  </a:lnTo>
                  <a:lnTo>
                    <a:pt x="560086" y="1569901"/>
                  </a:lnTo>
                  <a:lnTo>
                    <a:pt x="560086" y="1805126"/>
                  </a:lnTo>
                </a:path>
              </a:pathLst>
            </a:custGeom>
            <a:ln w="9524">
              <a:solidFill>
                <a:srgbClr val="FDA7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5559" y="4625005"/>
              <a:ext cx="464904" cy="47151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8383" y="4624005"/>
              <a:ext cx="464901" cy="47151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759844" y="3061943"/>
              <a:ext cx="805815" cy="1552575"/>
            </a:xfrm>
            <a:custGeom>
              <a:avLst/>
              <a:gdLst/>
              <a:ahLst/>
              <a:cxnLst/>
              <a:rect l="l" t="t" r="r" b="b"/>
              <a:pathLst>
                <a:path w="805814" h="1552575">
                  <a:moveTo>
                    <a:pt x="549" y="99"/>
                  </a:moveTo>
                  <a:lnTo>
                    <a:pt x="402849" y="99"/>
                  </a:lnTo>
                  <a:lnTo>
                    <a:pt x="402849" y="699"/>
                  </a:lnTo>
                  <a:lnTo>
                    <a:pt x="805148" y="699"/>
                  </a:lnTo>
                </a:path>
                <a:path w="805814" h="1552575">
                  <a:moveTo>
                    <a:pt x="0" y="1552196"/>
                  </a:moveTo>
                  <a:lnTo>
                    <a:pt x="402574" y="1552196"/>
                  </a:lnTo>
                  <a:lnTo>
                    <a:pt x="402574" y="0"/>
                  </a:lnTo>
                  <a:lnTo>
                    <a:pt x="805198" y="0"/>
                  </a:lnTo>
                </a:path>
              </a:pathLst>
            </a:custGeom>
            <a:ln w="28574">
              <a:solidFill>
                <a:srgbClr val="91C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183141" y="2248202"/>
              <a:ext cx="5554980" cy="1775460"/>
            </a:xfrm>
            <a:custGeom>
              <a:avLst/>
              <a:gdLst/>
              <a:ahLst/>
              <a:cxnLst/>
              <a:rect l="l" t="t" r="r" b="b"/>
              <a:pathLst>
                <a:path w="5554980" h="1775460">
                  <a:moveTo>
                    <a:pt x="514498" y="9967"/>
                  </a:moveTo>
                  <a:lnTo>
                    <a:pt x="514498" y="164074"/>
                  </a:lnTo>
                  <a:lnTo>
                    <a:pt x="0" y="164074"/>
                  </a:lnTo>
                  <a:lnTo>
                    <a:pt x="0" y="318066"/>
                  </a:lnTo>
                </a:path>
                <a:path w="5554980" h="1775460">
                  <a:moveTo>
                    <a:pt x="514498" y="9967"/>
                  </a:moveTo>
                  <a:lnTo>
                    <a:pt x="514498" y="164074"/>
                  </a:lnTo>
                  <a:lnTo>
                    <a:pt x="1325397" y="164074"/>
                  </a:lnTo>
                  <a:lnTo>
                    <a:pt x="1325397" y="318066"/>
                  </a:lnTo>
                </a:path>
                <a:path w="5554980" h="1775460">
                  <a:moveTo>
                    <a:pt x="514498" y="9967"/>
                  </a:moveTo>
                  <a:lnTo>
                    <a:pt x="514498" y="164074"/>
                  </a:lnTo>
                  <a:lnTo>
                    <a:pt x="2654394" y="164074"/>
                  </a:lnTo>
                  <a:lnTo>
                    <a:pt x="2654394" y="318066"/>
                  </a:lnTo>
                </a:path>
                <a:path w="5554980" h="1775460">
                  <a:moveTo>
                    <a:pt x="4023991" y="0"/>
                  </a:moveTo>
                  <a:lnTo>
                    <a:pt x="4023991" y="158942"/>
                  </a:lnTo>
                  <a:lnTo>
                    <a:pt x="5554588" y="158942"/>
                  </a:lnTo>
                  <a:lnTo>
                    <a:pt x="5554588" y="317991"/>
                  </a:lnTo>
                </a:path>
                <a:path w="5554980" h="1775460">
                  <a:moveTo>
                    <a:pt x="4354816" y="1452164"/>
                  </a:moveTo>
                  <a:lnTo>
                    <a:pt x="4354816" y="1613489"/>
                  </a:lnTo>
                  <a:lnTo>
                    <a:pt x="55224" y="1613489"/>
                  </a:lnTo>
                  <a:lnTo>
                    <a:pt x="55224" y="1774963"/>
                  </a:lnTo>
                </a:path>
                <a:path w="5554980" h="1775460">
                  <a:moveTo>
                    <a:pt x="5554613" y="1452164"/>
                  </a:moveTo>
                  <a:lnTo>
                    <a:pt x="5554613" y="1613489"/>
                  </a:lnTo>
                  <a:lnTo>
                    <a:pt x="1523521" y="1613489"/>
                  </a:lnTo>
                  <a:lnTo>
                    <a:pt x="1523521" y="1774963"/>
                  </a:lnTo>
                </a:path>
              </a:pathLst>
            </a:custGeom>
            <a:ln w="9524">
              <a:solidFill>
                <a:srgbClr val="FDA7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6777" y="4573930"/>
              <a:ext cx="465702" cy="47151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4088" y="4573930"/>
              <a:ext cx="464894" cy="47151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760369" y="4850340"/>
              <a:ext cx="802005" cy="0"/>
            </a:xfrm>
            <a:custGeom>
              <a:avLst/>
              <a:gdLst/>
              <a:ahLst/>
              <a:cxnLst/>
              <a:rect l="l" t="t" r="r" b="b"/>
              <a:pathLst>
                <a:path w="802004">
                  <a:moveTo>
                    <a:pt x="0" y="0"/>
                  </a:moveTo>
                  <a:lnTo>
                    <a:pt x="270374" y="0"/>
                  </a:lnTo>
                </a:path>
                <a:path w="802004">
                  <a:moveTo>
                    <a:pt x="532273" y="0"/>
                  </a:moveTo>
                  <a:lnTo>
                    <a:pt x="801898" y="0"/>
                  </a:lnTo>
                </a:path>
              </a:pathLst>
            </a:custGeom>
            <a:ln w="38099">
              <a:solidFill>
                <a:srgbClr val="FDA7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6236" y="5631038"/>
              <a:ext cx="9952990" cy="424815"/>
            </a:xfrm>
            <a:custGeom>
              <a:avLst/>
              <a:gdLst/>
              <a:ahLst/>
              <a:cxnLst/>
              <a:rect l="l" t="t" r="r" b="b"/>
              <a:pathLst>
                <a:path w="9952990" h="424814">
                  <a:moveTo>
                    <a:pt x="9952492" y="424499"/>
                  </a:moveTo>
                  <a:lnTo>
                    <a:pt x="0" y="424499"/>
                  </a:lnTo>
                  <a:lnTo>
                    <a:pt x="0" y="0"/>
                  </a:lnTo>
                  <a:lnTo>
                    <a:pt x="9952492" y="0"/>
                  </a:lnTo>
                  <a:lnTo>
                    <a:pt x="9952492" y="4244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36236" y="5631038"/>
              <a:ext cx="9952990" cy="424815"/>
            </a:xfrm>
            <a:custGeom>
              <a:avLst/>
              <a:gdLst/>
              <a:ahLst/>
              <a:cxnLst/>
              <a:rect l="l" t="t" r="r" b="b"/>
              <a:pathLst>
                <a:path w="9952990" h="424814">
                  <a:moveTo>
                    <a:pt x="0" y="0"/>
                  </a:moveTo>
                  <a:lnTo>
                    <a:pt x="9952492" y="0"/>
                  </a:lnTo>
                  <a:lnTo>
                    <a:pt x="9952492" y="424499"/>
                  </a:lnTo>
                  <a:lnTo>
                    <a:pt x="0" y="4244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161733" y="5708665"/>
            <a:ext cx="23018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Arial"/>
                <a:cs typeface="Arial"/>
              </a:rPr>
              <a:t>Red</a:t>
            </a:r>
            <a:r>
              <a:rPr sz="15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Hat</a:t>
            </a:r>
            <a:r>
              <a:rPr sz="15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OpenShift</a:t>
            </a:r>
            <a:r>
              <a:rPr sz="15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535611" y="4007766"/>
            <a:ext cx="1352550" cy="1172845"/>
          </a:xfrm>
          <a:custGeom>
            <a:avLst/>
            <a:gdLst/>
            <a:ahLst/>
            <a:cxnLst/>
            <a:rect l="l" t="t" r="r" b="b"/>
            <a:pathLst>
              <a:path w="1352550" h="1172845">
                <a:moveTo>
                  <a:pt x="1352297" y="1172747"/>
                </a:moveTo>
                <a:lnTo>
                  <a:pt x="0" y="1172747"/>
                </a:lnTo>
                <a:lnTo>
                  <a:pt x="0" y="0"/>
                </a:lnTo>
                <a:lnTo>
                  <a:pt x="1352297" y="0"/>
                </a:lnTo>
                <a:lnTo>
                  <a:pt x="1352297" y="11727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535611" y="4015766"/>
            <a:ext cx="1352550" cy="1172845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254"/>
              </a:spcBef>
            </a:pPr>
            <a:r>
              <a:rPr sz="1000" b="1" spc="-10" dirty="0">
                <a:latin typeface="Arial"/>
                <a:cs typeface="Arial"/>
              </a:rPr>
              <a:t>WORKER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NODE3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985783" y="4007766"/>
            <a:ext cx="1352550" cy="1172845"/>
          </a:xfrm>
          <a:custGeom>
            <a:avLst/>
            <a:gdLst/>
            <a:ahLst/>
            <a:cxnLst/>
            <a:rect l="l" t="t" r="r" b="b"/>
            <a:pathLst>
              <a:path w="1352550" h="1172845">
                <a:moveTo>
                  <a:pt x="1352272" y="1172747"/>
                </a:moveTo>
                <a:lnTo>
                  <a:pt x="0" y="1172747"/>
                </a:lnTo>
                <a:lnTo>
                  <a:pt x="0" y="0"/>
                </a:lnTo>
                <a:lnTo>
                  <a:pt x="1352272" y="0"/>
                </a:lnTo>
                <a:lnTo>
                  <a:pt x="1352272" y="11727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985783" y="4015766"/>
            <a:ext cx="1352550" cy="1172845"/>
          </a:xfrm>
          <a:prstGeom prst="rect">
            <a:avLst/>
          </a:prstGeom>
          <a:ln w="12699">
            <a:solidFill>
              <a:srgbClr val="31528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254"/>
              </a:spcBef>
            </a:pPr>
            <a:r>
              <a:rPr sz="1000" b="1" spc="-10" dirty="0">
                <a:latin typeface="Arial"/>
                <a:cs typeface="Arial"/>
              </a:rPr>
              <a:t>WORKER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NODE4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024393" y="1958658"/>
            <a:ext cx="5606415" cy="3648075"/>
            <a:chOff x="3024393" y="1958658"/>
            <a:chExt cx="5606415" cy="3648075"/>
          </a:xfrm>
        </p:grpSpPr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4611" y="4544340"/>
              <a:ext cx="499523" cy="50692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31108" y="4544340"/>
              <a:ext cx="499523" cy="50692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030743" y="1965008"/>
              <a:ext cx="262255" cy="3635375"/>
            </a:xfrm>
            <a:custGeom>
              <a:avLst/>
              <a:gdLst/>
              <a:ahLst/>
              <a:cxnLst/>
              <a:rect l="l" t="t" r="r" b="b"/>
              <a:pathLst>
                <a:path w="262254" h="3635375">
                  <a:moveTo>
                    <a:pt x="261899" y="3634780"/>
                  </a:moveTo>
                  <a:lnTo>
                    <a:pt x="0" y="3634780"/>
                  </a:lnTo>
                  <a:lnTo>
                    <a:pt x="0" y="0"/>
                  </a:lnTo>
                  <a:lnTo>
                    <a:pt x="261899" y="0"/>
                  </a:lnTo>
                  <a:lnTo>
                    <a:pt x="261899" y="3634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030743" y="1965008"/>
              <a:ext cx="262255" cy="3635375"/>
            </a:xfrm>
            <a:custGeom>
              <a:avLst/>
              <a:gdLst/>
              <a:ahLst/>
              <a:cxnLst/>
              <a:rect l="l" t="t" r="r" b="b"/>
              <a:pathLst>
                <a:path w="262254" h="3635375">
                  <a:moveTo>
                    <a:pt x="0" y="3634780"/>
                  </a:moveTo>
                  <a:lnTo>
                    <a:pt x="0" y="0"/>
                  </a:lnTo>
                  <a:lnTo>
                    <a:pt x="261899" y="0"/>
                  </a:lnTo>
                  <a:lnTo>
                    <a:pt x="261899" y="3634780"/>
                  </a:lnTo>
                  <a:lnTo>
                    <a:pt x="0" y="363478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3060368" y="3516247"/>
            <a:ext cx="203200" cy="5588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580"/>
              </a:lnSpc>
            </a:pP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방화벽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91793" y="3941917"/>
            <a:ext cx="8901430" cy="2139315"/>
            <a:chOff x="591793" y="3941917"/>
            <a:chExt cx="8901430" cy="2139315"/>
          </a:xfrm>
        </p:grpSpPr>
        <p:sp>
          <p:nvSpPr>
            <p:cNvPr id="69" name="object 69"/>
            <p:cNvSpPr/>
            <p:nvPr/>
          </p:nvSpPr>
          <p:spPr>
            <a:xfrm>
              <a:off x="601318" y="3951442"/>
              <a:ext cx="8882380" cy="1317625"/>
            </a:xfrm>
            <a:custGeom>
              <a:avLst/>
              <a:gdLst/>
              <a:ahLst/>
              <a:cxnLst/>
              <a:rect l="l" t="t" r="r" b="b"/>
              <a:pathLst>
                <a:path w="8882380" h="1317625">
                  <a:moveTo>
                    <a:pt x="0" y="0"/>
                  </a:moveTo>
                  <a:lnTo>
                    <a:pt x="2183700" y="0"/>
                  </a:lnTo>
                  <a:lnTo>
                    <a:pt x="2183700" y="1316997"/>
                  </a:lnTo>
                  <a:lnTo>
                    <a:pt x="0" y="1316997"/>
                  </a:lnTo>
                  <a:lnTo>
                    <a:pt x="0" y="0"/>
                  </a:lnTo>
                  <a:close/>
                </a:path>
                <a:path w="8882380" h="1317625">
                  <a:moveTo>
                    <a:pt x="2880424" y="49"/>
                  </a:moveTo>
                  <a:lnTo>
                    <a:pt x="8881912" y="49"/>
                  </a:lnTo>
                  <a:lnTo>
                    <a:pt x="8881912" y="1317047"/>
                  </a:lnTo>
                  <a:lnTo>
                    <a:pt x="2880424" y="1317047"/>
                  </a:lnTo>
                  <a:lnTo>
                    <a:pt x="2880424" y="49"/>
                  </a:lnTo>
                  <a:close/>
                </a:path>
              </a:pathLst>
            </a:custGeom>
            <a:ln w="19049">
              <a:solidFill>
                <a:srgbClr val="F636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8777" y="5656563"/>
              <a:ext cx="1407139" cy="42439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4732" y="4541940"/>
              <a:ext cx="499523" cy="506923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8360" y="4544340"/>
              <a:ext cx="499523" cy="50692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7463" y="4573930"/>
              <a:ext cx="464918" cy="47151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6376" y="4573930"/>
              <a:ext cx="465702" cy="471517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10558078" y="5135364"/>
            <a:ext cx="897255" cy="212725"/>
          </a:xfrm>
          <a:prstGeom prst="rect">
            <a:avLst/>
          </a:prstGeom>
          <a:ln w="19049">
            <a:solidFill>
              <a:srgbClr val="F63636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95"/>
              </a:spcBef>
            </a:pPr>
            <a:r>
              <a:rPr sz="1000" dirty="0">
                <a:solidFill>
                  <a:srgbClr val="ED0000"/>
                </a:solidFill>
                <a:latin typeface="Arial"/>
                <a:cs typeface="Arial"/>
              </a:rPr>
              <a:t>worker</a:t>
            </a:r>
            <a:r>
              <a:rPr sz="1000" spc="-5" dirty="0">
                <a:solidFill>
                  <a:srgbClr val="ED000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ED0000"/>
                </a:solidFill>
                <a:latin typeface="Arial"/>
                <a:cs typeface="Arial"/>
              </a:rPr>
              <a:t>node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06899" y="6174555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Spec.&amp;</a:t>
            </a:r>
            <a:r>
              <a:rPr spc="-150" dirty="0"/>
              <a:t> </a:t>
            </a:r>
            <a:r>
              <a:rPr spc="-25" dirty="0"/>
              <a:t>Sizing</a:t>
            </a:r>
            <a:r>
              <a:rPr spc="-150" dirty="0"/>
              <a:t> </a:t>
            </a:r>
            <a:r>
              <a:rPr spc="-25" dirty="0"/>
              <a:t>가이드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6048" y="1134431"/>
            <a:ext cx="9248775" cy="672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 indent="-146685">
              <a:lnSpc>
                <a:spcPct val="100000"/>
              </a:lnSpc>
              <a:spcBef>
                <a:spcPts val="100"/>
              </a:spcBef>
              <a:buSzPct val="108333"/>
              <a:buFont typeface="Arial"/>
              <a:buChar char="•"/>
              <a:tabLst>
                <a:tab pos="159385" algn="l"/>
              </a:tabLst>
            </a:pPr>
            <a:r>
              <a:rPr sz="1200" dirty="0">
                <a:latin typeface="Batang"/>
                <a:cs typeface="Batang"/>
              </a:rPr>
              <a:t>컨테이너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플랫폼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구축을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위한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구성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요소인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노드들의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설치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최소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요구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사양과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운영을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위해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필요한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운영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구성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최소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요구사항을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정의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및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spc="-25" dirty="0">
                <a:latin typeface="Batang"/>
                <a:cs typeface="Batang"/>
              </a:rPr>
              <a:t>제시</a:t>
            </a:r>
            <a:endParaRPr sz="1200">
              <a:latin typeface="Batang"/>
              <a:cs typeface="Batang"/>
            </a:endParaRPr>
          </a:p>
          <a:p>
            <a:pPr marL="159385" indent="-146685">
              <a:lnSpc>
                <a:spcPct val="100000"/>
              </a:lnSpc>
              <a:spcBef>
                <a:spcPts val="120"/>
              </a:spcBef>
              <a:buSzPct val="108333"/>
              <a:buFont typeface="Arial"/>
              <a:buChar char="•"/>
              <a:tabLst>
                <a:tab pos="159385" algn="l"/>
              </a:tabLst>
            </a:pPr>
            <a:r>
              <a:rPr sz="1200" dirty="0">
                <a:latin typeface="Batang"/>
                <a:cs typeface="Batang"/>
              </a:rPr>
              <a:t>운영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구성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최소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요구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사양은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서비스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운영을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위해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필요한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자원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사양을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분석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후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반영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spc="-25" dirty="0">
                <a:latin typeface="Batang"/>
                <a:cs typeface="Batang"/>
              </a:rPr>
              <a:t>필요</a:t>
            </a:r>
            <a:endParaRPr sz="1200">
              <a:latin typeface="Batang"/>
              <a:cs typeface="Batang"/>
            </a:endParaRPr>
          </a:p>
          <a:p>
            <a:pPr marL="444500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Red</a:t>
            </a:r>
            <a:r>
              <a:rPr sz="1200" spc="-3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Hat</a:t>
            </a:r>
            <a:r>
              <a:rPr sz="1200" spc="-2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OpenShift</a:t>
            </a:r>
            <a:r>
              <a:rPr sz="1200" spc="-2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Container</a:t>
            </a:r>
            <a:r>
              <a:rPr sz="1200" spc="-2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Platform</a:t>
            </a:r>
            <a:r>
              <a:rPr sz="1200" spc="-2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Infrastructure</a:t>
            </a:r>
            <a:r>
              <a:rPr sz="1200" spc="-2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62626"/>
                </a:solidFill>
                <a:latin typeface="Arial"/>
                <a:cs typeface="Arial"/>
              </a:rPr>
              <a:t>Spec.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581" y="6174555"/>
            <a:ext cx="8509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latin typeface="Batang"/>
                <a:cs typeface="Batang"/>
              </a:rPr>
              <a:t>5</a:t>
            </a:r>
            <a:endParaRPr sz="800">
              <a:latin typeface="Batang"/>
              <a:cs typeface="Batang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98621" y="1881998"/>
          <a:ext cx="8781412" cy="4679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1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1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0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7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구분</a:t>
                      </a:r>
                      <a:endParaRPr sz="1200">
                        <a:latin typeface="Batang"/>
                        <a:cs typeface="Batang"/>
                      </a:endParaRPr>
                    </a:p>
                  </a:txBody>
                  <a:tcPr marL="0" marR="0" marT="8572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OS</a:t>
                      </a:r>
                      <a:endParaRPr sz="1200">
                        <a:latin typeface="Batang"/>
                        <a:cs typeface="Batang"/>
                      </a:endParaRPr>
                    </a:p>
                  </a:txBody>
                  <a:tcPr marL="0" marR="0" marT="8572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marL="68008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설치 최소 요구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사양</a:t>
                      </a:r>
                      <a:endParaRPr sz="1200">
                        <a:latin typeface="Batang"/>
                        <a:cs typeface="Batang"/>
                      </a:endParaRPr>
                    </a:p>
                  </a:txBody>
                  <a:tcPr marL="0" marR="0" marT="8572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170180" indent="177800">
                        <a:lnSpc>
                          <a:spcPts val="1300"/>
                        </a:lnSpc>
                        <a:spcBef>
                          <a:spcPts val="19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운영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구성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최소 요구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사양</a:t>
                      </a:r>
                      <a:endParaRPr sz="1200">
                        <a:latin typeface="Batang"/>
                        <a:cs typeface="Batang"/>
                      </a:endParaRPr>
                    </a:p>
                  </a:txBody>
                  <a:tcPr marL="0" marR="0" marT="241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수량</a:t>
                      </a:r>
                      <a:endParaRPr sz="1200">
                        <a:latin typeface="Batang"/>
                        <a:cs typeface="Batang"/>
                      </a:endParaRPr>
                    </a:p>
                  </a:txBody>
                  <a:tcPr marL="0" marR="0" marT="8572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비고</a:t>
                      </a:r>
                      <a:endParaRPr sz="1200">
                        <a:latin typeface="Batang"/>
                        <a:cs typeface="Batang"/>
                      </a:endParaRPr>
                    </a:p>
                  </a:txBody>
                  <a:tcPr marL="0" marR="0" marT="8572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36854" marR="92075" indent="-137795">
                        <a:lnSpc>
                          <a:spcPct val="80000"/>
                        </a:lnSpc>
                      </a:pPr>
                      <a:r>
                        <a:rPr sz="1050" spc="-30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Bootstrap 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Node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29565" marR="81280" indent="-162560">
                        <a:lnSpc>
                          <a:spcPct val="80000"/>
                        </a:lnSpc>
                      </a:pP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Red</a:t>
                      </a:r>
                      <a:r>
                        <a:rPr sz="105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Hat</a:t>
                      </a:r>
                      <a:r>
                        <a:rPr sz="105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Enterprise </a:t>
                      </a:r>
                      <a:r>
                        <a:rPr sz="1050" spc="-7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Linux</a:t>
                      </a:r>
                      <a:r>
                        <a:rPr sz="1050" spc="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CoreOS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44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120GB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여유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공간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44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4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16GB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300GB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설치용 임시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노드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36854" marR="160655" indent="-68580">
                        <a:lnSpc>
                          <a:spcPct val="80000"/>
                        </a:lnSpc>
                      </a:pPr>
                      <a:r>
                        <a:rPr sz="1050" spc="-25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Bastion 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Node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91185" marR="81280" indent="-424180">
                        <a:lnSpc>
                          <a:spcPct val="80000"/>
                        </a:lnSpc>
                      </a:pP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Red</a:t>
                      </a:r>
                      <a:r>
                        <a:rPr sz="105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Hat</a:t>
                      </a:r>
                      <a:r>
                        <a:rPr sz="105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Enterprise </a:t>
                      </a:r>
                      <a:r>
                        <a:rPr sz="105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Linux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44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120GB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여유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공간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74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4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16GB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300GB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7520" indent="2032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Image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registry,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565150" marR="470534" indent="-8763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Yum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repository, Internal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DNS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36854" marR="186690" indent="-43180">
                        <a:lnSpc>
                          <a:spcPct val="80000"/>
                        </a:lnSpc>
                      </a:pPr>
                      <a:r>
                        <a:rPr sz="1050" spc="-55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Master 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Node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7556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29565" marR="81280" indent="-162560">
                        <a:lnSpc>
                          <a:spcPct val="80000"/>
                        </a:lnSpc>
                      </a:pP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Red</a:t>
                      </a:r>
                      <a:r>
                        <a:rPr sz="105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Hat</a:t>
                      </a:r>
                      <a:r>
                        <a:rPr sz="105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Enterprise </a:t>
                      </a:r>
                      <a:r>
                        <a:rPr sz="1050" spc="-7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Linux</a:t>
                      </a:r>
                      <a:r>
                        <a:rPr sz="1050" spc="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CoreOS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7556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59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120GB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여유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공간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7556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894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4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32GB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300GB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11366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Kubernetes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Services,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619760" marR="612140" indent="8255" algn="just">
                        <a:lnSpc>
                          <a:spcPct val="127800"/>
                        </a:lnSpc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API,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etcd, </a:t>
                      </a: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Controller,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Scheduler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1968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spc="-30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Infra</a:t>
                      </a:r>
                      <a:r>
                        <a:rPr sz="1050" spc="-40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Node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8826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29565" marR="81280" indent="-162560">
                        <a:lnSpc>
                          <a:spcPct val="80000"/>
                        </a:lnSpc>
                      </a:pP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Red</a:t>
                      </a:r>
                      <a:r>
                        <a:rPr sz="105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Hat</a:t>
                      </a:r>
                      <a:r>
                        <a:rPr sz="105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Enterprise </a:t>
                      </a:r>
                      <a:r>
                        <a:rPr sz="1050" spc="-7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Linux</a:t>
                      </a:r>
                      <a:r>
                        <a:rPr sz="1050" spc="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CoreOS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44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120GB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여유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공간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74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4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64GB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300GB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6390" marR="318770" indent="-63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Internal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Registry,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Metrics(Prometheus),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Logging(EFK)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등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10731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4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36854" marR="179705" indent="-49530">
                        <a:lnSpc>
                          <a:spcPct val="80000"/>
                        </a:lnSpc>
                      </a:pPr>
                      <a:r>
                        <a:rPr sz="1050" spc="-75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Worker 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Node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29565" marR="81280" indent="-162560">
                        <a:lnSpc>
                          <a:spcPct val="80000"/>
                        </a:lnSpc>
                      </a:pP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Red</a:t>
                      </a:r>
                      <a:r>
                        <a:rPr sz="105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Hat</a:t>
                      </a:r>
                      <a:r>
                        <a:rPr sz="105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Enterprise </a:t>
                      </a:r>
                      <a:r>
                        <a:rPr sz="1050" spc="-7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Linux</a:t>
                      </a:r>
                      <a:r>
                        <a:rPr sz="1050" spc="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CoreOS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44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120GB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여유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공간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구동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Application에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따라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Spec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고려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필요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4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16GB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300GB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7366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 </a:t>
                      </a:r>
                      <a:r>
                        <a:rPr sz="9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61925" indent="35560">
                        <a:lnSpc>
                          <a:spcPct val="100000"/>
                        </a:lnSpc>
                      </a:pP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Application</a:t>
                      </a:r>
                      <a:r>
                        <a:rPr sz="900" spc="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컨테이너</a:t>
                      </a:r>
                      <a:r>
                        <a:rPr sz="900" spc="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구동.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781685" marR="154940" indent="-6203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Application</a:t>
                      </a:r>
                      <a:r>
                        <a:rPr sz="900" spc="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사용량에</a:t>
                      </a:r>
                      <a:r>
                        <a:rPr sz="900" spc="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따라서 증설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8636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3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36854" marR="192405" indent="-37465">
                        <a:lnSpc>
                          <a:spcPct val="80000"/>
                        </a:lnSpc>
                      </a:pPr>
                      <a:r>
                        <a:rPr sz="1050" spc="-45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Router </a:t>
                      </a:r>
                      <a:r>
                        <a:rPr sz="1050" spc="-20" dirty="0">
                          <a:solidFill>
                            <a:srgbClr val="3F3F3F"/>
                          </a:solidFill>
                          <a:latin typeface="Batang"/>
                          <a:cs typeface="Batang"/>
                        </a:rPr>
                        <a:t>Node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29565" marR="81280" indent="-162560">
                        <a:lnSpc>
                          <a:spcPct val="80000"/>
                        </a:lnSpc>
                      </a:pP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Red</a:t>
                      </a:r>
                      <a:r>
                        <a:rPr sz="105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Hat</a:t>
                      </a:r>
                      <a:r>
                        <a:rPr sz="105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Enterprise </a:t>
                      </a:r>
                      <a:r>
                        <a:rPr sz="1050" spc="-7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Linux</a:t>
                      </a:r>
                      <a:r>
                        <a:rPr sz="1050" spc="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105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CoreOS</a:t>
                      </a:r>
                      <a:endParaRPr sz="105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44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7975" indent="-142875">
                        <a:lnSpc>
                          <a:spcPct val="100000"/>
                        </a:lnSpc>
                        <a:spcBef>
                          <a:spcPts val="6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7975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최소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10GB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여유</a:t>
                      </a:r>
                      <a:r>
                        <a:rPr sz="9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공간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565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745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900" spc="-4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4vCPU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8GB</a:t>
                      </a:r>
                      <a:endParaRPr sz="900">
                        <a:latin typeface="Batang"/>
                        <a:cs typeface="Batang"/>
                      </a:endParaRPr>
                    </a:p>
                    <a:p>
                      <a:pPr marL="308610" indent="-142875">
                        <a:lnSpc>
                          <a:spcPct val="100000"/>
                        </a:lnSpc>
                        <a:spcBef>
                          <a:spcPts val="360"/>
                        </a:spcBef>
                        <a:buClr>
                          <a:srgbClr val="000000"/>
                        </a:buClr>
                        <a:buSzPct val="133333"/>
                        <a:buFont typeface="Arial"/>
                        <a:buChar char="•"/>
                        <a:tabLst>
                          <a:tab pos="308610" algn="l"/>
                        </a:tabLst>
                      </a:pPr>
                      <a:r>
                        <a:rPr sz="9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Disk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: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300GB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Router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(Ingress)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609653" y="5312564"/>
            <a:ext cx="1492885" cy="1022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900" dirty="0">
                <a:solidFill>
                  <a:srgbClr val="262626"/>
                </a:solidFill>
                <a:latin typeface="MS PGothic"/>
                <a:cs typeface="MS PGothic"/>
              </a:rPr>
              <a:t>※</a:t>
            </a:r>
            <a:r>
              <a:rPr sz="900" spc="-25" dirty="0">
                <a:solidFill>
                  <a:srgbClr val="262626"/>
                </a:solidFill>
                <a:latin typeface="MS PGothic"/>
                <a:cs typeface="MS PGothic"/>
              </a:rPr>
              <a:t>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운영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구성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spc="-25" dirty="0">
                <a:solidFill>
                  <a:srgbClr val="262626"/>
                </a:solidFill>
                <a:latin typeface="Batang"/>
                <a:cs typeface="Batang"/>
              </a:rPr>
              <a:t>최소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요구사양은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분석</a:t>
            </a:r>
            <a:r>
              <a:rPr sz="900" dirty="0">
                <a:solidFill>
                  <a:srgbClr val="262626"/>
                </a:solidFill>
                <a:latin typeface="Arial"/>
                <a:cs typeface="Arial"/>
              </a:rPr>
              <a:t>/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설계시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spc="-25" dirty="0">
                <a:solidFill>
                  <a:srgbClr val="262626"/>
                </a:solidFill>
                <a:latin typeface="Batang"/>
                <a:cs typeface="Batang"/>
              </a:rPr>
              <a:t>자원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요구사항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반영이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spc="-25" dirty="0">
                <a:solidFill>
                  <a:srgbClr val="262626"/>
                </a:solidFill>
                <a:latin typeface="Batang"/>
                <a:cs typeface="Batang"/>
              </a:rPr>
              <a:t>반드시 </a:t>
            </a:r>
            <a:r>
              <a:rPr sz="900" spc="-10" dirty="0">
                <a:solidFill>
                  <a:srgbClr val="262626"/>
                </a:solidFill>
                <a:latin typeface="Batang"/>
                <a:cs typeface="Batang"/>
              </a:rPr>
              <a:t>필요합니다</a:t>
            </a:r>
            <a:r>
              <a:rPr sz="900" spc="-10" dirty="0">
                <a:solidFill>
                  <a:srgbClr val="262626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700" marR="86995">
              <a:lnSpc>
                <a:spcPct val="114999"/>
              </a:lnSpc>
              <a:spcBef>
                <a:spcPts val="400"/>
              </a:spcBef>
            </a:pPr>
            <a:r>
              <a:rPr sz="900" dirty="0">
                <a:solidFill>
                  <a:srgbClr val="262626"/>
                </a:solidFill>
                <a:latin typeface="MS PGothic"/>
                <a:cs typeface="MS PGothic"/>
              </a:rPr>
              <a:t>※</a:t>
            </a:r>
            <a:r>
              <a:rPr sz="900" spc="-25" dirty="0">
                <a:solidFill>
                  <a:srgbClr val="262626"/>
                </a:solidFill>
                <a:latin typeface="MS PGothic"/>
                <a:cs typeface="MS PGothic"/>
              </a:rPr>
              <a:t>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위는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기본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spc="-10" dirty="0">
                <a:solidFill>
                  <a:srgbClr val="262626"/>
                </a:solidFill>
                <a:latin typeface="Batang"/>
                <a:cs typeface="Batang"/>
              </a:rPr>
              <a:t>운영환경을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위한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최소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dirty="0">
                <a:solidFill>
                  <a:srgbClr val="262626"/>
                </a:solidFill>
                <a:latin typeface="Batang"/>
                <a:cs typeface="Batang"/>
              </a:rPr>
              <a:t>요구</a:t>
            </a:r>
            <a:r>
              <a:rPr sz="900" spc="-5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900" spc="-10" dirty="0">
                <a:solidFill>
                  <a:srgbClr val="262626"/>
                </a:solidFill>
                <a:latin typeface="Batang"/>
                <a:cs typeface="Batang"/>
              </a:rPr>
              <a:t>사양입니다</a:t>
            </a:r>
            <a:r>
              <a:rPr sz="900" spc="-10" dirty="0">
                <a:solidFill>
                  <a:srgbClr val="262626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223" y="369610"/>
            <a:ext cx="8782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Arial"/>
                <a:cs typeface="Arial"/>
              </a:rPr>
              <a:t>Spec</a:t>
            </a:r>
            <a:r>
              <a:rPr sz="1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0000"/>
                </a:solidFill>
                <a:latin typeface="Batang"/>
                <a:cs typeface="Batang"/>
              </a:rPr>
              <a:t>및</a:t>
            </a:r>
            <a:r>
              <a:rPr sz="1000" spc="-130" dirty="0">
                <a:solidFill>
                  <a:srgbClr val="FF0000"/>
                </a:solidFill>
                <a:latin typeface="Batang"/>
                <a:cs typeface="Batang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Batang"/>
                <a:cs typeface="Batang"/>
              </a:rPr>
              <a:t>사이징</a:t>
            </a:r>
            <a:endParaRPr sz="1000">
              <a:latin typeface="Batang"/>
              <a:cs typeface="Batang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Spec.&amp;</a:t>
            </a:r>
            <a:r>
              <a:rPr spc="-150" dirty="0"/>
              <a:t> </a:t>
            </a:r>
            <a:r>
              <a:rPr spc="-25" dirty="0"/>
              <a:t>Sizing</a:t>
            </a:r>
            <a:r>
              <a:rPr spc="-150" dirty="0"/>
              <a:t> </a:t>
            </a:r>
            <a:r>
              <a:rPr spc="-25" dirty="0"/>
              <a:t>가이드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6038" y="1134441"/>
            <a:ext cx="10314940" cy="672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385" indent="-146685">
              <a:lnSpc>
                <a:spcPct val="100000"/>
              </a:lnSpc>
              <a:spcBef>
                <a:spcPts val="100"/>
              </a:spcBef>
              <a:buSzPct val="108333"/>
              <a:buFont typeface="Arial"/>
              <a:buChar char="•"/>
              <a:tabLst>
                <a:tab pos="159385" algn="l"/>
              </a:tabLst>
            </a:pPr>
            <a:r>
              <a:rPr sz="1200" dirty="0">
                <a:latin typeface="Batang"/>
                <a:cs typeface="Batang"/>
              </a:rPr>
              <a:t>사이징은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Arial"/>
                <a:cs typeface="Arial"/>
              </a:rPr>
              <a:t>Openshift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단일</a:t>
            </a:r>
            <a:r>
              <a:rPr sz="1200" b="1" spc="-1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클러스터에서의</a:t>
            </a:r>
            <a:r>
              <a:rPr sz="1200" b="1" spc="17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한계를</a:t>
            </a:r>
            <a:r>
              <a:rPr sz="1200" b="1" spc="2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고려</a:t>
            </a:r>
            <a:r>
              <a:rPr sz="1200" dirty="0">
                <a:latin typeface="Arial"/>
                <a:cs typeface="Arial"/>
              </a:rPr>
              <a:t>, </a:t>
            </a:r>
            <a:r>
              <a:rPr sz="1200" dirty="0">
                <a:latin typeface="Batang"/>
                <a:cs typeface="Batang"/>
              </a:rPr>
              <a:t>향후</a:t>
            </a:r>
            <a:r>
              <a:rPr sz="1200" spc="-65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서비스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확장을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고려하여</a:t>
            </a:r>
            <a:r>
              <a:rPr sz="1200" spc="-65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워커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노드의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최대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확장을</a:t>
            </a:r>
            <a:r>
              <a:rPr sz="1200" spc="-65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기준을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확립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후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마스터</a:t>
            </a:r>
            <a:r>
              <a:rPr sz="1200" spc="-65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노드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사이징</a:t>
            </a:r>
            <a:r>
              <a:rPr sz="1200" spc="-70" dirty="0">
                <a:latin typeface="Batang"/>
                <a:cs typeface="Batang"/>
              </a:rPr>
              <a:t> </a:t>
            </a:r>
            <a:r>
              <a:rPr sz="1200" spc="-25" dirty="0">
                <a:latin typeface="Batang"/>
                <a:cs typeface="Batang"/>
              </a:rPr>
              <a:t>설계</a:t>
            </a:r>
            <a:endParaRPr sz="1200">
              <a:latin typeface="Batang"/>
              <a:cs typeface="Batang"/>
            </a:endParaRPr>
          </a:p>
          <a:p>
            <a:pPr marL="159385" indent="-146685">
              <a:lnSpc>
                <a:spcPct val="100000"/>
              </a:lnSpc>
              <a:spcBef>
                <a:spcPts val="120"/>
              </a:spcBef>
              <a:buSzPct val="108333"/>
              <a:buFont typeface="Arial"/>
              <a:buChar char="•"/>
              <a:tabLst>
                <a:tab pos="159385" algn="l"/>
              </a:tabLst>
            </a:pPr>
            <a:r>
              <a:rPr sz="1200" dirty="0">
                <a:latin typeface="Batang"/>
                <a:cs typeface="Batang"/>
              </a:rPr>
              <a:t>애플리케이션</a:t>
            </a:r>
            <a:r>
              <a:rPr sz="1200" spc="-65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컨테이너에</a:t>
            </a:r>
            <a:r>
              <a:rPr sz="1200" spc="-65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대한</a:t>
            </a:r>
            <a:r>
              <a:rPr sz="1200" spc="-65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사이징은</a:t>
            </a:r>
            <a:r>
              <a:rPr sz="1200" spc="-60" dirty="0">
                <a:latin typeface="Batang"/>
                <a:cs typeface="Batang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업무</a:t>
            </a:r>
            <a:r>
              <a:rPr sz="1200" b="1" spc="-1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분석</a:t>
            </a:r>
            <a:r>
              <a:rPr sz="1200" b="1" dirty="0">
                <a:latin typeface="Arial"/>
                <a:cs typeface="Arial"/>
              </a:rPr>
              <a:t>/</a:t>
            </a:r>
            <a:r>
              <a:rPr sz="1200" b="1" dirty="0">
                <a:latin typeface="Malgun Gothic"/>
                <a:cs typeface="Malgun Gothic"/>
              </a:rPr>
              <a:t>설계를</a:t>
            </a:r>
            <a:r>
              <a:rPr sz="1200" b="1" spc="3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통해</a:t>
            </a:r>
            <a:r>
              <a:rPr sz="1200" b="1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Batang"/>
                <a:cs typeface="Batang"/>
              </a:rPr>
              <a:t>고객사의</a:t>
            </a:r>
            <a:r>
              <a:rPr sz="1200" spc="-60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기준</a:t>
            </a:r>
            <a:r>
              <a:rPr sz="1200" spc="-65" dirty="0">
                <a:latin typeface="Batang"/>
                <a:cs typeface="Batang"/>
              </a:rPr>
              <a:t> </a:t>
            </a:r>
            <a:r>
              <a:rPr sz="1200" dirty="0">
                <a:latin typeface="Batang"/>
                <a:cs typeface="Batang"/>
              </a:rPr>
              <a:t>정립</a:t>
            </a:r>
            <a:r>
              <a:rPr sz="1200" spc="-65" dirty="0">
                <a:latin typeface="Batang"/>
                <a:cs typeface="Batang"/>
              </a:rPr>
              <a:t> </a:t>
            </a:r>
            <a:r>
              <a:rPr sz="1200" spc="-25" dirty="0">
                <a:latin typeface="Batang"/>
                <a:cs typeface="Batang"/>
              </a:rPr>
              <a:t>필요</a:t>
            </a:r>
            <a:endParaRPr sz="1200">
              <a:latin typeface="Batang"/>
              <a:cs typeface="Batang"/>
            </a:endParaRPr>
          </a:p>
          <a:p>
            <a:pPr marL="444500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Red</a:t>
            </a:r>
            <a:r>
              <a:rPr sz="1200" spc="-3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Hat</a:t>
            </a:r>
            <a:r>
              <a:rPr sz="1200" spc="-2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OpenShift</a:t>
            </a:r>
            <a:r>
              <a:rPr sz="1200" spc="-2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Container</a:t>
            </a:r>
            <a:r>
              <a:rPr sz="1200" spc="-2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Platform</a:t>
            </a:r>
            <a:r>
              <a:rPr sz="1200" spc="-2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Sizing</a:t>
            </a:r>
            <a:r>
              <a:rPr sz="1200" spc="-1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62626"/>
                </a:solidFill>
                <a:latin typeface="Arial"/>
                <a:cs typeface="Arial"/>
              </a:rPr>
              <a:t>Guide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581" y="6174555"/>
            <a:ext cx="8509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latin typeface="Batang"/>
                <a:cs typeface="Batang"/>
              </a:rPr>
              <a:t>6</a:t>
            </a:r>
            <a:endParaRPr sz="800">
              <a:latin typeface="Batang"/>
              <a:cs typeface="Batang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3223" y="369610"/>
            <a:ext cx="8782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Arial"/>
                <a:cs typeface="Arial"/>
              </a:rPr>
              <a:t>Spec</a:t>
            </a:r>
            <a:r>
              <a:rPr sz="1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0000"/>
                </a:solidFill>
                <a:latin typeface="Batang"/>
                <a:cs typeface="Batang"/>
              </a:rPr>
              <a:t>및</a:t>
            </a:r>
            <a:r>
              <a:rPr sz="1000" spc="-130" dirty="0">
                <a:solidFill>
                  <a:srgbClr val="FF0000"/>
                </a:solidFill>
                <a:latin typeface="Batang"/>
                <a:cs typeface="Batang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Batang"/>
                <a:cs typeface="Batang"/>
              </a:rPr>
              <a:t>사이징</a:t>
            </a:r>
            <a:endParaRPr sz="1000">
              <a:latin typeface="Batang"/>
              <a:cs typeface="Batang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46489" y="1998493"/>
            <a:ext cx="4447540" cy="483234"/>
            <a:chOff x="1646489" y="1998493"/>
            <a:chExt cx="4447540" cy="483234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6489" y="1998493"/>
              <a:ext cx="4446966" cy="4826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5799" y="2054055"/>
              <a:ext cx="4328388" cy="3239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05761" y="2054055"/>
              <a:ext cx="4328795" cy="324485"/>
            </a:xfrm>
            <a:custGeom>
              <a:avLst/>
              <a:gdLst/>
              <a:ahLst/>
              <a:cxnLst/>
              <a:rect l="l" t="t" r="r" b="b"/>
              <a:pathLst>
                <a:path w="4328795" h="324485">
                  <a:moveTo>
                    <a:pt x="54134" y="0"/>
                  </a:moveTo>
                  <a:lnTo>
                    <a:pt x="4274326" y="0"/>
                  </a:lnTo>
                  <a:lnTo>
                    <a:pt x="4284929" y="1049"/>
                  </a:lnTo>
                  <a:lnTo>
                    <a:pt x="4319334" y="24084"/>
                  </a:lnTo>
                  <a:lnTo>
                    <a:pt x="4328426" y="54097"/>
                  </a:lnTo>
                  <a:lnTo>
                    <a:pt x="4328426" y="323999"/>
                  </a:lnTo>
                  <a:lnTo>
                    <a:pt x="37" y="323999"/>
                  </a:lnTo>
                  <a:lnTo>
                    <a:pt x="37" y="54097"/>
                  </a:lnTo>
                  <a:lnTo>
                    <a:pt x="4288" y="33040"/>
                  </a:lnTo>
                  <a:lnTo>
                    <a:pt x="15882" y="15844"/>
                  </a:lnTo>
                  <a:lnTo>
                    <a:pt x="33077" y="4251"/>
                  </a:lnTo>
                  <a:lnTo>
                    <a:pt x="54134" y="0"/>
                  </a:lnTo>
                  <a:close/>
                </a:path>
              </a:pathLst>
            </a:custGeom>
            <a:ln w="9524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61914" y="2125237"/>
            <a:ext cx="24752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FFFF"/>
                </a:solidFill>
                <a:latin typeface="Batang"/>
                <a:cs typeface="Batang"/>
              </a:rPr>
              <a:t>OpenShift </a:t>
            </a:r>
            <a:r>
              <a:rPr sz="1000" spc="-30" dirty="0">
                <a:solidFill>
                  <a:srgbClr val="FFFFFF"/>
                </a:solidFill>
                <a:latin typeface="Batang"/>
                <a:cs typeface="Batang"/>
              </a:rPr>
              <a:t>Container</a:t>
            </a:r>
            <a:r>
              <a:rPr sz="1000" spc="-15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Batang"/>
                <a:cs typeface="Batang"/>
              </a:rPr>
              <a:t>Platform</a:t>
            </a:r>
            <a:r>
              <a:rPr sz="1000" spc="-15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FFFFFF"/>
                </a:solidFill>
                <a:latin typeface="Batang"/>
                <a:cs typeface="Batang"/>
              </a:rPr>
              <a:t>권장</a:t>
            </a:r>
            <a:r>
              <a:rPr sz="1000" spc="-10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Batang"/>
                <a:cs typeface="Batang"/>
              </a:rPr>
              <a:t>사이징</a:t>
            </a:r>
            <a:endParaRPr sz="1000">
              <a:latin typeface="Batang"/>
              <a:cs typeface="Batang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00012" y="1998493"/>
            <a:ext cx="4447540" cy="483234"/>
            <a:chOff x="6100012" y="1998493"/>
            <a:chExt cx="4447540" cy="483234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0012" y="1998493"/>
              <a:ext cx="4446966" cy="4826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9337" y="2054055"/>
              <a:ext cx="4328391" cy="323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59287" y="2054055"/>
              <a:ext cx="4328795" cy="324485"/>
            </a:xfrm>
            <a:custGeom>
              <a:avLst/>
              <a:gdLst/>
              <a:ahLst/>
              <a:cxnLst/>
              <a:rect l="l" t="t" r="r" b="b"/>
              <a:pathLst>
                <a:path w="4328795" h="324485">
                  <a:moveTo>
                    <a:pt x="54149" y="0"/>
                  </a:moveTo>
                  <a:lnTo>
                    <a:pt x="4274341" y="0"/>
                  </a:lnTo>
                  <a:lnTo>
                    <a:pt x="4284944" y="1049"/>
                  </a:lnTo>
                  <a:lnTo>
                    <a:pt x="4319349" y="24084"/>
                  </a:lnTo>
                  <a:lnTo>
                    <a:pt x="4328441" y="54097"/>
                  </a:lnTo>
                  <a:lnTo>
                    <a:pt x="4328441" y="323999"/>
                  </a:lnTo>
                  <a:lnTo>
                    <a:pt x="49" y="323999"/>
                  </a:lnTo>
                  <a:lnTo>
                    <a:pt x="49" y="54097"/>
                  </a:lnTo>
                  <a:lnTo>
                    <a:pt x="4298" y="33040"/>
                  </a:lnTo>
                  <a:lnTo>
                    <a:pt x="15887" y="15844"/>
                  </a:lnTo>
                  <a:lnTo>
                    <a:pt x="33082" y="4251"/>
                  </a:lnTo>
                  <a:lnTo>
                    <a:pt x="54149" y="0"/>
                  </a:lnTo>
                  <a:close/>
                </a:path>
              </a:pathLst>
            </a:custGeom>
            <a:ln w="9524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56247" y="2125237"/>
            <a:ext cx="25958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FFFF"/>
                </a:solidFill>
                <a:latin typeface="Batang"/>
                <a:cs typeface="Batang"/>
              </a:rPr>
              <a:t>OpenShift</a:t>
            </a:r>
            <a:r>
              <a:rPr sz="1000" spc="-25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Batang"/>
                <a:cs typeface="Batang"/>
              </a:rPr>
              <a:t>Container</a:t>
            </a:r>
            <a:r>
              <a:rPr sz="1000" spc="-20" dirty="0">
                <a:solidFill>
                  <a:srgbClr val="FFFFFF"/>
                </a:solidFill>
                <a:latin typeface="Batang"/>
                <a:cs typeface="Batang"/>
              </a:rPr>
              <a:t> Platform</a:t>
            </a:r>
            <a:r>
              <a:rPr sz="1000" spc="-25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Batang"/>
                <a:cs typeface="Batang"/>
              </a:rPr>
              <a:t>Cluster</a:t>
            </a:r>
            <a:r>
              <a:rPr sz="1000" spc="-20" dirty="0">
                <a:solidFill>
                  <a:srgbClr val="FFFFFF"/>
                </a:solidFill>
                <a:latin typeface="Batang"/>
                <a:cs typeface="Batang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Batang"/>
                <a:cs typeface="Batang"/>
              </a:rPr>
              <a:t>Limits</a:t>
            </a:r>
            <a:endParaRPr sz="1000">
              <a:latin typeface="Batang"/>
              <a:cs typeface="Batang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697785" y="2399575"/>
          <a:ext cx="4338319" cy="348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1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5415">
                <a:tc gridSpan="8">
                  <a:txBody>
                    <a:bodyPr/>
                    <a:lstStyle/>
                    <a:p>
                      <a:pPr marR="21590" algn="ctr">
                        <a:lnSpc>
                          <a:spcPts val="900"/>
                        </a:lnSpc>
                        <a:spcBef>
                          <a:spcPts val="145"/>
                        </a:spcBef>
                      </a:pPr>
                      <a:r>
                        <a:rPr sz="800" spc="-3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Master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Node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Sizing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184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 gridSpan="3"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Number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of </a:t>
                      </a:r>
                      <a:r>
                        <a:rPr sz="800" spc="-6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Worker</a:t>
                      </a:r>
                      <a:r>
                        <a:rPr sz="800" spc="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nodes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800" spc="-4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cores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Memory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 gridSpan="3"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25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 gridSpan="3"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32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340">
                <a:tc gridSpan="3"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250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64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020">
                <a:tc gridSpan="8">
                  <a:txBody>
                    <a:bodyPr/>
                    <a:lstStyle/>
                    <a:p>
                      <a:pPr marL="1016635">
                        <a:lnSpc>
                          <a:spcPts val="900"/>
                        </a:lnSpc>
                        <a:spcBef>
                          <a:spcPts val="260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응용 프로그램 자원 요구사항에 따른 사이징 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예시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3302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Pod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Type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159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Pod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Quantity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159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Max</a:t>
                      </a:r>
                      <a:r>
                        <a:rPr sz="8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Memory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159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800" spc="-4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Cores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159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Persistent</a:t>
                      </a:r>
                      <a:r>
                        <a:rPr sz="800" spc="-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Storage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159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apache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500MB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0.5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node.js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postgresql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JBoss</a:t>
                      </a:r>
                      <a:r>
                        <a:rPr sz="800" spc="1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EAP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1GB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975">
                <a:tc gridSpan="8">
                  <a:txBody>
                    <a:bodyPr/>
                    <a:lstStyle/>
                    <a:p>
                      <a:pPr marR="965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6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*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예상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요구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사항 :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CPU 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Cores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550개,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450GB </a:t>
                      </a:r>
                      <a:r>
                        <a:rPr sz="800" spc="-4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RAM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및 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1.4TB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스토리지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290">
                <a:tc gridSpan="8">
                  <a:txBody>
                    <a:bodyPr/>
                    <a:lstStyle/>
                    <a:p>
                      <a:pPr marL="1016635">
                        <a:lnSpc>
                          <a:spcPts val="900"/>
                        </a:lnSpc>
                        <a:spcBef>
                          <a:spcPts val="265"/>
                        </a:spcBef>
                      </a:pPr>
                      <a:r>
                        <a:rPr sz="80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응용 프로그램 자원 요구사항에 따른 사이징 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예시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336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5100">
                <a:tc gridSpan="2"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Node</a:t>
                      </a:r>
                      <a:r>
                        <a:rPr sz="800" spc="-4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Type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Quantity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CPUs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4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RAM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(GB)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1E2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5100">
                <a:tc gridSpan="2"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Nodes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(option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5100">
                <a:tc gridSpan="2"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Nodes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(option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50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32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5100">
                <a:tc gridSpan="2"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Nodes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(option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25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64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652780">
                <a:tc gridSpan="8">
                  <a:txBody>
                    <a:bodyPr/>
                    <a:lstStyle/>
                    <a:p>
                      <a:pPr marL="127000" marR="25907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일부 응용 프로그램은 오버커밋이 적용된 환경에 적합 하지만 일부는 그렇지 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않습니다. Huge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Page를 사용하는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대부분의 Java 응용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프로그램 및 다른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응용 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프로그램은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오버커밋을 허용하지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않는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응용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프로그램의 예입니다.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해당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메모리는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다른 </a:t>
                      </a:r>
                      <a:r>
                        <a:rPr sz="800" spc="-2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응용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프로그램에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사용할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수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없습니다.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위의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예시에서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환경은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약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30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%의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오버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커밋이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적용된,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일반적인 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비율입니다.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186075" y="2400137"/>
          <a:ext cx="4296410" cy="3315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8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Limit</a:t>
                      </a:r>
                      <a:r>
                        <a:rPr sz="800" spc="-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Type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4.x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tested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maximum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nodes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2,000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[1]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pods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[2]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150,000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pods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node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500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[3]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pods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core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Batang"/>
                          <a:cs typeface="Batang"/>
                        </a:rPr>
                        <a:t>기본값은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없음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지원되는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최대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값은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노드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당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25" dirty="0">
                          <a:latin typeface="Batang"/>
                          <a:cs typeface="Batang"/>
                        </a:rPr>
                        <a:t>포드</a:t>
                      </a:r>
                      <a:endParaRPr sz="700">
                        <a:latin typeface="Batang"/>
                        <a:cs typeface="Batang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namespaces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[4]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10,000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66675" marR="219075">
                        <a:lnSpc>
                          <a:spcPct val="114300"/>
                        </a:lnSpc>
                        <a:spcBef>
                          <a:spcPts val="45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builds:</a:t>
                      </a:r>
                      <a:r>
                        <a:rPr sz="700" spc="3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Source-to-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Image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(S2I)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build</a:t>
                      </a:r>
                      <a:r>
                        <a:rPr sz="7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strategy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7207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10,000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(Default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RAM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512Mi)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5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7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S2I(Source-to-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Image)</a:t>
                      </a:r>
                      <a:r>
                        <a:rPr sz="7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빌드</a:t>
                      </a:r>
                      <a:r>
                        <a:rPr sz="700" spc="-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25" dirty="0">
                          <a:latin typeface="Batang"/>
                          <a:cs typeface="Batang"/>
                        </a:rPr>
                        <a:t>전략</a:t>
                      </a:r>
                      <a:endParaRPr sz="700">
                        <a:latin typeface="Batang"/>
                        <a:cs typeface="Batang"/>
                      </a:endParaRPr>
                    </a:p>
                  </a:txBody>
                  <a:tcPr marL="0" marR="0" marT="495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pods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namespace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[5]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25,000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services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[6]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10,000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services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namespace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5,000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back-ends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service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5,000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deployments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namespace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[5]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2,000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25220">
                <a:tc gridSpan="2">
                  <a:txBody>
                    <a:bodyPr/>
                    <a:lstStyle/>
                    <a:p>
                      <a:pPr marL="9525" marR="82550" indent="97790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/>
                        <a:tabLst>
                          <a:tab pos="107314" algn="l"/>
                        </a:tabLst>
                      </a:pPr>
                      <a:r>
                        <a:rPr sz="700" dirty="0">
                          <a:latin typeface="Arial"/>
                          <a:cs typeface="Arial"/>
                        </a:rPr>
                        <a:t>2000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노드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규모에서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OpenShift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Container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Platform</a:t>
                      </a:r>
                      <a:r>
                        <a:rPr sz="700" spc="-10" dirty="0">
                          <a:latin typeface="Batang"/>
                          <a:cs typeface="Batang"/>
                        </a:rPr>
                        <a:t>의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컨트롤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플레인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구성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요소를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완화하기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위해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Batang"/>
                          <a:cs typeface="Batang"/>
                        </a:rPr>
                        <a:t>일시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중지가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10" dirty="0">
                          <a:latin typeface="Batang"/>
                          <a:cs typeface="Batang"/>
                        </a:rPr>
                        <a:t>배포되었습니다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.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9525" marR="443230" indent="98425">
                        <a:lnSpc>
                          <a:spcPct val="100000"/>
                        </a:lnSpc>
                        <a:buFont typeface="Arial"/>
                        <a:buAutoNum type="arabicPeriod"/>
                        <a:tabLst>
                          <a:tab pos="107950" algn="l"/>
                        </a:tabLst>
                      </a:pPr>
                      <a:r>
                        <a:rPr sz="700" dirty="0">
                          <a:latin typeface="Batang"/>
                          <a:cs typeface="Batang"/>
                        </a:rPr>
                        <a:t>여기에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표시된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수는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테스트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수로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실제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수는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애플리케이션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메모리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CPU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및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20" dirty="0">
                          <a:latin typeface="Batang"/>
                          <a:cs typeface="Batang"/>
                        </a:rPr>
                        <a:t>스토리지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요구사항에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따라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10" dirty="0">
                          <a:latin typeface="Batang"/>
                          <a:cs typeface="Batang"/>
                        </a:rPr>
                        <a:t>달라집니다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.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107950" indent="-98425">
                        <a:lnSpc>
                          <a:spcPct val="100000"/>
                        </a:lnSpc>
                        <a:buFont typeface="Arial"/>
                        <a:buAutoNum type="arabicPeriod"/>
                        <a:tabLst>
                          <a:tab pos="107950" algn="l"/>
                        </a:tabLst>
                      </a:pPr>
                      <a:r>
                        <a:rPr sz="700" dirty="0">
                          <a:latin typeface="Batang"/>
                          <a:cs typeface="Batang"/>
                        </a:rPr>
                        <a:t>이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테스트는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워커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노드가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100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개이며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워커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노드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당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가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500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개인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클러스터에서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수행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기본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maxPods</a:t>
                      </a:r>
                      <a:r>
                        <a:rPr sz="700" spc="-10" dirty="0">
                          <a:latin typeface="Batang"/>
                          <a:cs typeface="Batang"/>
                        </a:rPr>
                        <a:t>는</a:t>
                      </a:r>
                      <a:endParaRPr sz="700">
                        <a:latin typeface="Batang"/>
                        <a:cs typeface="Batang"/>
                      </a:endParaRPr>
                    </a:p>
                    <a:p>
                      <a:pPr marL="9525" marR="4445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250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으로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500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이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되도록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하려면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사용자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정의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kubelet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구성을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사용하여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maxPos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를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500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으로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20" dirty="0">
                          <a:latin typeface="Batang"/>
                          <a:cs typeface="Batang"/>
                        </a:rPr>
                        <a:t>설정하여</a:t>
                      </a:r>
                      <a:r>
                        <a:rPr sz="700" spc="50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클러스터를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130" dirty="0">
                          <a:latin typeface="Batang"/>
                          <a:cs typeface="Batang"/>
                        </a:rPr>
                        <a:t>생성해🅓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합니다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500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개의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사용자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Pod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가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필요한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경우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노드에서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이미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실행되고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있는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시스템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145" dirty="0">
                          <a:latin typeface="Arial"/>
                          <a:cs typeface="Arial"/>
                        </a:rPr>
                        <a:t>Pod</a:t>
                      </a:r>
                      <a:r>
                        <a:rPr sz="700" spc="-145" dirty="0">
                          <a:latin typeface="Batang"/>
                          <a:cs typeface="Batang"/>
                        </a:rPr>
                        <a:t>가</a:t>
                      </a:r>
                      <a:r>
                        <a:rPr sz="700" spc="-1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10~15</a:t>
                      </a:r>
                      <a:r>
                        <a:rPr sz="700" spc="-10" dirty="0">
                          <a:latin typeface="Batang"/>
                          <a:cs typeface="Batang"/>
                        </a:rPr>
                        <a:t>개</a:t>
                      </a:r>
                      <a:r>
                        <a:rPr sz="700" spc="-3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가</a:t>
                      </a:r>
                      <a:r>
                        <a:rPr sz="700" spc="-3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있으므로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hostPrefix 22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가</a:t>
                      </a:r>
                      <a:r>
                        <a:rPr sz="700" spc="-3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10" dirty="0">
                          <a:latin typeface="Batang"/>
                          <a:cs typeface="Batang"/>
                        </a:rPr>
                        <a:t>필요합니다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.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9525" marR="88265" indent="98425">
                        <a:lnSpc>
                          <a:spcPct val="100000"/>
                        </a:lnSpc>
                        <a:buFont typeface="Arial"/>
                        <a:buAutoNum type="arabicPeriod" startAt="4"/>
                        <a:tabLst>
                          <a:tab pos="107950" algn="l"/>
                        </a:tabLst>
                      </a:pPr>
                      <a:r>
                        <a:rPr sz="700" dirty="0">
                          <a:latin typeface="Batang"/>
                          <a:cs typeface="Batang"/>
                        </a:rPr>
                        <a:t>활성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프로젝트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수가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많은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경우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키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공간이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지나치게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커져서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공간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할당량을</a:t>
                      </a:r>
                      <a:r>
                        <a:rPr sz="700" spc="-5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초과하면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etcd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성능이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저하될</a:t>
                      </a:r>
                      <a:r>
                        <a:rPr sz="700" spc="-40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60" dirty="0">
                          <a:latin typeface="Batang"/>
                          <a:cs typeface="Batang"/>
                        </a:rPr>
                        <a:t>수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 있습니다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자세한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사항은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참고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URL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을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dirty="0">
                          <a:latin typeface="Batang"/>
                          <a:cs typeface="Batang"/>
                        </a:rPr>
                        <a:t>참고</a:t>
                      </a:r>
                      <a:r>
                        <a:rPr sz="700" spc="-45" dirty="0">
                          <a:latin typeface="Batang"/>
                          <a:cs typeface="Batang"/>
                        </a:rPr>
                        <a:t> </a:t>
                      </a:r>
                      <a:r>
                        <a:rPr sz="700" spc="-10" dirty="0">
                          <a:latin typeface="Batang"/>
                          <a:cs typeface="Batang"/>
                        </a:rPr>
                        <a:t>하십시오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.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702396" y="5951663"/>
            <a:ext cx="8785225" cy="177800"/>
          </a:xfrm>
          <a:prstGeom prst="rect">
            <a:avLst/>
          </a:prstGeom>
          <a:solidFill>
            <a:srgbClr val="FDD6D6">
              <a:alpha val="24708"/>
            </a:srgbClr>
          </a:solidFill>
        </p:spPr>
        <p:txBody>
          <a:bodyPr vert="horz" wrap="square" lIns="0" tIns="3683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290"/>
              </a:spcBef>
            </a:pPr>
            <a:r>
              <a:rPr sz="900" dirty="0">
                <a:latin typeface="MS PGothic"/>
                <a:cs typeface="MS PGothic"/>
              </a:rPr>
              <a:t>※</a:t>
            </a:r>
            <a:r>
              <a:rPr sz="900" spc="-30" dirty="0">
                <a:latin typeface="MS PGothic"/>
                <a:cs typeface="MS PGothic"/>
              </a:rPr>
              <a:t> </a:t>
            </a:r>
            <a:r>
              <a:rPr sz="900" dirty="0">
                <a:latin typeface="Batang"/>
                <a:cs typeface="Batang"/>
              </a:rPr>
              <a:t>고객사의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요구사항에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따른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프로덕션</a:t>
            </a:r>
            <a:r>
              <a:rPr sz="900" spc="-50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환경의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최적의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설계를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위한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사이징</a:t>
            </a:r>
            <a:r>
              <a:rPr sz="900" spc="-50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가이드는</a:t>
            </a:r>
            <a:r>
              <a:rPr sz="900" spc="-60" dirty="0">
                <a:latin typeface="Batang"/>
                <a:cs typeface="Batang"/>
              </a:rPr>
              <a:t> </a:t>
            </a:r>
            <a:r>
              <a:rPr sz="900" dirty="0">
                <a:latin typeface="Arial"/>
                <a:cs typeface="Arial"/>
              </a:rPr>
              <a:t>Red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Hat</a:t>
            </a:r>
            <a:r>
              <a:rPr sz="900" dirty="0">
                <a:latin typeface="Batang"/>
                <a:cs typeface="Batang"/>
              </a:rPr>
              <a:t>의</a:t>
            </a:r>
            <a:r>
              <a:rPr sz="900" spc="-60" dirty="0">
                <a:latin typeface="Batang"/>
                <a:cs typeface="Batang"/>
              </a:rPr>
              <a:t> </a:t>
            </a:r>
            <a:r>
              <a:rPr sz="900" dirty="0">
                <a:latin typeface="Arial"/>
                <a:cs typeface="Arial"/>
              </a:rPr>
              <a:t>“Consulting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Service”</a:t>
            </a:r>
            <a:r>
              <a:rPr sz="900" dirty="0">
                <a:latin typeface="Batang"/>
                <a:cs typeface="Batang"/>
              </a:rPr>
              <a:t>를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통해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가이드</a:t>
            </a:r>
            <a:r>
              <a:rPr sz="900" spc="-55" dirty="0">
                <a:latin typeface="Batang"/>
                <a:cs typeface="Batang"/>
              </a:rPr>
              <a:t> </a:t>
            </a:r>
            <a:r>
              <a:rPr sz="900" dirty="0">
                <a:latin typeface="Batang"/>
                <a:cs typeface="Batang"/>
              </a:rPr>
              <a:t>제공</a:t>
            </a:r>
            <a:r>
              <a:rPr sz="900" spc="-50" dirty="0">
                <a:latin typeface="Batang"/>
                <a:cs typeface="Batang"/>
              </a:rPr>
              <a:t> </a:t>
            </a:r>
            <a:r>
              <a:rPr sz="900" spc="-25" dirty="0">
                <a:latin typeface="Batang"/>
                <a:cs typeface="Batang"/>
              </a:rPr>
              <a:t>가능</a:t>
            </a:r>
            <a:endParaRPr sz="900">
              <a:latin typeface="Batang"/>
              <a:cs typeface="Batang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98446" y="6310612"/>
            <a:ext cx="8721725" cy="177800"/>
          </a:xfrm>
          <a:prstGeom prst="rect">
            <a:avLst/>
          </a:prstGeom>
          <a:solidFill>
            <a:srgbClr val="FDD6D6">
              <a:alpha val="2470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700" i="1" spc="-10" dirty="0">
                <a:solidFill>
                  <a:srgbClr val="7E7E7E"/>
                </a:solidFill>
                <a:latin typeface="Arial"/>
                <a:cs typeface="Arial"/>
              </a:rPr>
              <a:t>Source:</a:t>
            </a:r>
            <a:r>
              <a:rPr sz="700" i="1" spc="3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700" i="1" u="sng" spc="-10" dirty="0">
                <a:solidFill>
                  <a:srgbClr val="ED0000"/>
                </a:solidFill>
                <a:uFill>
                  <a:solidFill>
                    <a:srgbClr val="ED0000"/>
                  </a:solidFill>
                </a:uFill>
                <a:latin typeface="Arial"/>
                <a:cs typeface="Arial"/>
                <a:hlinkClick r:id="rId5"/>
              </a:rPr>
              <a:t>https://docs.openshift.com/container-platform/4.10/scalability_and_performance/recommended-host-practices.html</a:t>
            </a:r>
            <a:endParaRPr sz="700">
              <a:latin typeface="Arial"/>
              <a:cs typeface="Arial"/>
            </a:endParaRPr>
          </a:p>
          <a:p>
            <a:pPr>
              <a:lnSpc>
                <a:spcPts val="805"/>
              </a:lnSpc>
            </a:pPr>
            <a:r>
              <a:rPr sz="700" i="1" spc="-10" dirty="0">
                <a:solidFill>
                  <a:srgbClr val="7E7E7E"/>
                </a:solidFill>
                <a:latin typeface="Arial"/>
                <a:cs typeface="Arial"/>
              </a:rPr>
              <a:t>Source:</a:t>
            </a:r>
            <a:r>
              <a:rPr sz="700" i="1" spc="345" dirty="0">
                <a:solidFill>
                  <a:srgbClr val="7E7E7E"/>
                </a:solidFill>
                <a:latin typeface="Arial"/>
                <a:cs typeface="Arial"/>
              </a:rPr>
              <a:t>  </a:t>
            </a:r>
            <a:r>
              <a:rPr sz="700" i="1" u="sng" spc="-10" dirty="0">
                <a:solidFill>
                  <a:srgbClr val="ED0000"/>
                </a:solidFill>
                <a:uFill>
                  <a:solidFill>
                    <a:srgbClr val="ED0000"/>
                  </a:solidFill>
                </a:uFill>
                <a:latin typeface="Arial"/>
                <a:cs typeface="Arial"/>
                <a:hlinkClick r:id="rId6"/>
              </a:rPr>
              <a:t>https://docs.openshift.com/container-</a:t>
            </a:r>
            <a:r>
              <a:rPr sz="700" i="1" u="sng" dirty="0">
                <a:solidFill>
                  <a:srgbClr val="ED0000"/>
                </a:solidFill>
                <a:uFill>
                  <a:solidFill>
                    <a:srgbClr val="ED0000"/>
                  </a:solidFill>
                </a:uFill>
                <a:latin typeface="Arial"/>
                <a:cs typeface="Arial"/>
                <a:hlinkClick r:id="rId6"/>
              </a:rPr>
              <a:t>platform/4.10/scalability_and_performance/planning-</a:t>
            </a:r>
            <a:r>
              <a:rPr sz="700" i="1" u="sng" spc="-10" dirty="0">
                <a:solidFill>
                  <a:srgbClr val="ED0000"/>
                </a:solidFill>
                <a:uFill>
                  <a:solidFill>
                    <a:srgbClr val="ED0000"/>
                  </a:solidFill>
                </a:uFill>
                <a:latin typeface="Arial"/>
                <a:cs typeface="Arial"/>
                <a:hlinkClick r:id="rId6"/>
              </a:rPr>
              <a:t>your-environment-according-to-object-maximums.html#planning-your-environment-according-to-object-maximums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Spec.&amp;</a:t>
            </a:r>
            <a:r>
              <a:rPr spc="-150" dirty="0"/>
              <a:t> </a:t>
            </a:r>
            <a:r>
              <a:rPr spc="-25" dirty="0"/>
              <a:t>Sizing</a:t>
            </a:r>
            <a:r>
              <a:rPr spc="-150" dirty="0"/>
              <a:t> </a:t>
            </a:r>
            <a:r>
              <a:rPr spc="-25" dirty="0"/>
              <a:t>가이드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223" y="369610"/>
            <a:ext cx="8782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Arial"/>
                <a:cs typeface="Arial"/>
              </a:rPr>
              <a:t>Spec</a:t>
            </a:r>
            <a:r>
              <a:rPr sz="1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0000"/>
                </a:solidFill>
                <a:latin typeface="Batang"/>
                <a:cs typeface="Batang"/>
              </a:rPr>
              <a:t>및</a:t>
            </a:r>
            <a:r>
              <a:rPr sz="1000" spc="-130" dirty="0">
                <a:solidFill>
                  <a:srgbClr val="FF0000"/>
                </a:solidFill>
                <a:latin typeface="Batang"/>
                <a:cs typeface="Batang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Batang"/>
                <a:cs typeface="Batang"/>
              </a:rPr>
              <a:t>사이징</a:t>
            </a:r>
            <a:endParaRPr sz="1000">
              <a:latin typeface="Batang"/>
              <a:cs typeface="Batang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48309" y="1897671"/>
            <a:ext cx="8896350" cy="878205"/>
            <a:chOff x="1648309" y="1897671"/>
            <a:chExt cx="8896350" cy="878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8309" y="1897671"/>
              <a:ext cx="8896307" cy="8776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03871" y="1915126"/>
              <a:ext cx="8785225" cy="767080"/>
            </a:xfrm>
            <a:custGeom>
              <a:avLst/>
              <a:gdLst/>
              <a:ahLst/>
              <a:cxnLst/>
              <a:rect l="l" t="t" r="r" b="b"/>
              <a:pathLst>
                <a:path w="8785225" h="767080">
                  <a:moveTo>
                    <a:pt x="8780757" y="766493"/>
                  </a:moveTo>
                  <a:lnTo>
                    <a:pt x="4434" y="766493"/>
                  </a:lnTo>
                  <a:lnTo>
                    <a:pt x="0" y="762068"/>
                  </a:lnTo>
                  <a:lnTo>
                    <a:pt x="0" y="9902"/>
                  </a:lnTo>
                  <a:lnTo>
                    <a:pt x="0" y="4432"/>
                  </a:lnTo>
                  <a:lnTo>
                    <a:pt x="4434" y="0"/>
                  </a:lnTo>
                  <a:lnTo>
                    <a:pt x="8777907" y="0"/>
                  </a:lnTo>
                  <a:lnTo>
                    <a:pt x="8780432" y="1042"/>
                  </a:lnTo>
                  <a:lnTo>
                    <a:pt x="8784132" y="4757"/>
                  </a:lnTo>
                  <a:lnTo>
                    <a:pt x="8785182" y="7274"/>
                  </a:lnTo>
                  <a:lnTo>
                    <a:pt x="8785182" y="762068"/>
                  </a:lnTo>
                  <a:lnTo>
                    <a:pt x="8780757" y="766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03871" y="1915126"/>
              <a:ext cx="8785225" cy="767080"/>
            </a:xfrm>
            <a:custGeom>
              <a:avLst/>
              <a:gdLst/>
              <a:ahLst/>
              <a:cxnLst/>
              <a:rect l="l" t="t" r="r" b="b"/>
              <a:pathLst>
                <a:path w="8785225" h="767080">
                  <a:moveTo>
                    <a:pt x="0" y="9902"/>
                  </a:moveTo>
                  <a:lnTo>
                    <a:pt x="0" y="4432"/>
                  </a:lnTo>
                  <a:lnTo>
                    <a:pt x="4434" y="0"/>
                  </a:lnTo>
                  <a:lnTo>
                    <a:pt x="9904" y="0"/>
                  </a:lnTo>
                  <a:lnTo>
                    <a:pt x="8775282" y="0"/>
                  </a:lnTo>
                  <a:lnTo>
                    <a:pt x="8777907" y="0"/>
                  </a:lnTo>
                  <a:lnTo>
                    <a:pt x="8780432" y="1042"/>
                  </a:lnTo>
                  <a:lnTo>
                    <a:pt x="8782282" y="2899"/>
                  </a:lnTo>
                  <a:lnTo>
                    <a:pt x="8784132" y="4757"/>
                  </a:lnTo>
                  <a:lnTo>
                    <a:pt x="8785182" y="7274"/>
                  </a:lnTo>
                  <a:lnTo>
                    <a:pt x="8785182" y="9902"/>
                  </a:lnTo>
                  <a:lnTo>
                    <a:pt x="8785182" y="756593"/>
                  </a:lnTo>
                  <a:lnTo>
                    <a:pt x="8785182" y="762068"/>
                  </a:lnTo>
                  <a:lnTo>
                    <a:pt x="8780757" y="766493"/>
                  </a:lnTo>
                  <a:lnTo>
                    <a:pt x="8775282" y="766493"/>
                  </a:lnTo>
                  <a:lnTo>
                    <a:pt x="9904" y="766493"/>
                  </a:lnTo>
                  <a:lnTo>
                    <a:pt x="4434" y="766493"/>
                  </a:lnTo>
                  <a:lnTo>
                    <a:pt x="0" y="762068"/>
                  </a:lnTo>
                  <a:lnTo>
                    <a:pt x="0" y="756593"/>
                  </a:lnTo>
                  <a:lnTo>
                    <a:pt x="0" y="9902"/>
                  </a:lnTo>
                  <a:close/>
                </a:path>
              </a:pathLst>
            </a:custGeom>
            <a:ln w="9524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70" indent="-146685">
              <a:lnSpc>
                <a:spcPct val="100000"/>
              </a:lnSpc>
              <a:spcBef>
                <a:spcPts val="100"/>
              </a:spcBef>
              <a:buSzPct val="108333"/>
              <a:buFont typeface="Arial"/>
              <a:buChar char="•"/>
              <a:tabLst>
                <a:tab pos="192405" algn="l"/>
              </a:tabLst>
            </a:pPr>
            <a:r>
              <a:rPr dirty="0"/>
              <a:t>컨테이너</a:t>
            </a:r>
            <a:r>
              <a:rPr spc="-75" dirty="0"/>
              <a:t> </a:t>
            </a:r>
            <a:r>
              <a:rPr dirty="0"/>
              <a:t>플랫폼의</a:t>
            </a:r>
            <a:r>
              <a:rPr spc="-70" dirty="0"/>
              <a:t> </a:t>
            </a:r>
            <a:r>
              <a:rPr dirty="0"/>
              <a:t>관리</a:t>
            </a:r>
            <a:r>
              <a:rPr dirty="0">
                <a:latin typeface="Arial"/>
                <a:cs typeface="Arial"/>
              </a:rPr>
              <a:t>/</a:t>
            </a:r>
            <a:r>
              <a:rPr dirty="0"/>
              <a:t>인프라</a:t>
            </a:r>
            <a:r>
              <a:rPr spc="-70" dirty="0"/>
              <a:t> </a:t>
            </a:r>
            <a:r>
              <a:rPr dirty="0"/>
              <a:t>노드의</a:t>
            </a:r>
            <a:r>
              <a:rPr spc="-75" dirty="0"/>
              <a:t> </a:t>
            </a:r>
            <a:r>
              <a:rPr dirty="0"/>
              <a:t>용량은</a:t>
            </a:r>
            <a:r>
              <a:rPr spc="-70" dirty="0"/>
              <a:t> </a:t>
            </a:r>
            <a:r>
              <a:rPr dirty="0"/>
              <a:t>워크노드</a:t>
            </a:r>
            <a:r>
              <a:rPr spc="-75" dirty="0"/>
              <a:t> </a:t>
            </a:r>
            <a:r>
              <a:rPr dirty="0"/>
              <a:t>수량</a:t>
            </a:r>
            <a:r>
              <a:rPr spc="-70" dirty="0"/>
              <a:t> </a:t>
            </a:r>
            <a:r>
              <a:rPr dirty="0"/>
              <a:t>및</a:t>
            </a:r>
            <a:r>
              <a:rPr spc="-70" dirty="0"/>
              <a:t> </a:t>
            </a:r>
            <a:r>
              <a:rPr dirty="0">
                <a:latin typeface="Arial"/>
                <a:cs typeface="Arial"/>
              </a:rPr>
              <a:t>pod</a:t>
            </a:r>
            <a:r>
              <a:rPr dirty="0"/>
              <a:t>의</a:t>
            </a:r>
            <a:r>
              <a:rPr spc="-75" dirty="0"/>
              <a:t> </a:t>
            </a:r>
            <a:r>
              <a:rPr dirty="0"/>
              <a:t>수</a:t>
            </a:r>
            <a:r>
              <a:rPr dirty="0">
                <a:latin typeface="Arial"/>
                <a:cs typeface="Arial"/>
              </a:rPr>
              <a:t>, </a:t>
            </a:r>
            <a:r>
              <a:rPr dirty="0"/>
              <a:t>메트릭</a:t>
            </a:r>
            <a:r>
              <a:rPr dirty="0">
                <a:latin typeface="Arial"/>
                <a:cs typeface="Arial"/>
              </a:rPr>
              <a:t>/</a:t>
            </a:r>
            <a:r>
              <a:rPr dirty="0"/>
              <a:t>로깅의</a:t>
            </a:r>
            <a:r>
              <a:rPr spc="-70" dirty="0"/>
              <a:t> </a:t>
            </a:r>
            <a:r>
              <a:rPr dirty="0"/>
              <a:t>양과</a:t>
            </a:r>
            <a:r>
              <a:rPr spc="-75" dirty="0"/>
              <a:t> </a:t>
            </a:r>
            <a:r>
              <a:rPr dirty="0"/>
              <a:t>보존</a:t>
            </a:r>
            <a:r>
              <a:rPr spc="-70" dirty="0"/>
              <a:t> </a:t>
            </a:r>
            <a:r>
              <a:rPr dirty="0"/>
              <a:t>기간등을</a:t>
            </a:r>
            <a:r>
              <a:rPr spc="-70" dirty="0"/>
              <a:t> </a:t>
            </a:r>
            <a:r>
              <a:rPr dirty="0"/>
              <a:t>고려하여</a:t>
            </a:r>
            <a:r>
              <a:rPr spc="-75" dirty="0"/>
              <a:t> </a:t>
            </a:r>
            <a:r>
              <a:rPr dirty="0"/>
              <a:t>설계</a:t>
            </a:r>
            <a:r>
              <a:rPr spc="-70" dirty="0"/>
              <a:t> </a:t>
            </a:r>
            <a:r>
              <a:rPr dirty="0"/>
              <a:t>및</a:t>
            </a:r>
            <a:r>
              <a:rPr spc="-70" dirty="0"/>
              <a:t> </a:t>
            </a:r>
            <a:r>
              <a:rPr dirty="0"/>
              <a:t>구성</a:t>
            </a:r>
            <a:r>
              <a:rPr spc="-75" dirty="0"/>
              <a:t> </a:t>
            </a:r>
            <a:r>
              <a:rPr spc="-25" dirty="0"/>
              <a:t>필요</a:t>
            </a:r>
          </a:p>
          <a:p>
            <a:pPr marL="32384">
              <a:lnSpc>
                <a:spcPct val="100000"/>
              </a:lnSpc>
              <a:spcBef>
                <a:spcPts val="670"/>
              </a:spcBef>
              <a:buFont typeface="Arial"/>
              <a:buChar char="•"/>
            </a:pPr>
            <a:endParaRPr spc="-25" dirty="0"/>
          </a:p>
          <a:p>
            <a:pPr marL="476884">
              <a:lnSpc>
                <a:spcPct val="100000"/>
              </a:lnSpc>
            </a:pPr>
            <a:r>
              <a:rPr dirty="0">
                <a:solidFill>
                  <a:srgbClr val="262626"/>
                </a:solidFill>
                <a:latin typeface="Arial"/>
                <a:cs typeface="Arial"/>
              </a:rPr>
              <a:t>Red</a:t>
            </a:r>
            <a:r>
              <a:rPr spc="-1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62626"/>
                </a:solidFill>
                <a:latin typeface="Arial"/>
                <a:cs typeface="Arial"/>
              </a:rPr>
              <a:t>Hat</a:t>
            </a:r>
            <a:r>
              <a:rPr spc="-1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62626"/>
                </a:solidFill>
                <a:latin typeface="Arial"/>
                <a:cs typeface="Arial"/>
              </a:rPr>
              <a:t>OpenShift</a:t>
            </a:r>
            <a:r>
              <a:rPr spc="-1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62626"/>
                </a:solidFill>
                <a:latin typeface="Arial"/>
                <a:cs typeface="Arial"/>
              </a:rPr>
              <a:t>Container</a:t>
            </a:r>
            <a:r>
              <a:rPr spc="-1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62626"/>
                </a:solidFill>
                <a:latin typeface="Arial"/>
                <a:cs typeface="Arial"/>
              </a:rPr>
              <a:t>Platform</a:t>
            </a:r>
            <a:r>
              <a:rPr spc="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62626"/>
                </a:solidFill>
              </a:rPr>
              <a:t>관리</a:t>
            </a:r>
            <a:r>
              <a:rPr spc="-80" dirty="0">
                <a:solidFill>
                  <a:srgbClr val="262626"/>
                </a:solidFill>
              </a:rPr>
              <a:t> </a:t>
            </a:r>
            <a:r>
              <a:rPr dirty="0">
                <a:solidFill>
                  <a:srgbClr val="262626"/>
                </a:solidFill>
              </a:rPr>
              <a:t>노드</a:t>
            </a:r>
            <a:r>
              <a:rPr spc="-75" dirty="0">
                <a:solidFill>
                  <a:srgbClr val="262626"/>
                </a:solidFill>
              </a:rPr>
              <a:t> </a:t>
            </a:r>
            <a:r>
              <a:rPr dirty="0">
                <a:solidFill>
                  <a:srgbClr val="262626"/>
                </a:solidFill>
              </a:rPr>
              <a:t>권장</a:t>
            </a:r>
            <a:r>
              <a:rPr spc="-75" dirty="0">
                <a:solidFill>
                  <a:srgbClr val="262626"/>
                </a:solidFill>
              </a:rPr>
              <a:t> </a:t>
            </a:r>
            <a:r>
              <a:rPr spc="-25" dirty="0">
                <a:solidFill>
                  <a:srgbClr val="262626"/>
                </a:solidFill>
              </a:rPr>
              <a:t>용량</a:t>
            </a:r>
          </a:p>
          <a:p>
            <a:pPr marL="32384">
              <a:lnSpc>
                <a:spcPct val="100000"/>
              </a:lnSpc>
              <a:spcBef>
                <a:spcPts val="385"/>
              </a:spcBef>
            </a:pPr>
            <a:endParaRPr spc="-25" dirty="0">
              <a:solidFill>
                <a:srgbClr val="262626"/>
              </a:solidFill>
            </a:endParaRPr>
          </a:p>
          <a:p>
            <a:pPr marL="513715" marR="146685" lvl="1" indent="-60960">
              <a:lnSpc>
                <a:spcPct val="100000"/>
              </a:lnSpc>
              <a:buSzPct val="80000"/>
              <a:buFont typeface="Arial"/>
              <a:buChar char="•"/>
              <a:tabLst>
                <a:tab pos="514350" algn="l"/>
              </a:tabLst>
            </a:pPr>
            <a:r>
              <a:rPr sz="1000" spc="-20" dirty="0">
                <a:solidFill>
                  <a:srgbClr val="262626"/>
                </a:solidFill>
                <a:latin typeface="Batang"/>
                <a:cs typeface="Batang"/>
              </a:rPr>
              <a:t>OpenShift</a:t>
            </a:r>
            <a:r>
              <a:rPr sz="1000" spc="-35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관리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노드:</a:t>
            </a:r>
            <a:r>
              <a:rPr sz="1000" spc="-35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spc="-45" dirty="0">
                <a:solidFill>
                  <a:srgbClr val="262626"/>
                </a:solidFill>
                <a:latin typeface="Batang"/>
                <a:cs typeface="Batang"/>
              </a:rPr>
              <a:t>Master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Node와</a:t>
            </a:r>
            <a:r>
              <a:rPr sz="1000" spc="28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spc="-25" dirty="0">
                <a:solidFill>
                  <a:srgbClr val="262626"/>
                </a:solidFill>
                <a:latin typeface="Batang"/>
                <a:cs typeface="Batang"/>
              </a:rPr>
              <a:t>Infra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spc="-10" dirty="0">
                <a:solidFill>
                  <a:srgbClr val="262626"/>
                </a:solidFill>
                <a:latin typeface="Batang"/>
                <a:cs typeface="Batang"/>
              </a:rPr>
              <a:t>Node(Router,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Metric, </a:t>
            </a:r>
            <a:r>
              <a:rPr sz="1000" spc="-10" dirty="0">
                <a:solidFill>
                  <a:srgbClr val="262626"/>
                </a:solidFill>
                <a:latin typeface="Batang"/>
                <a:cs typeface="Batang"/>
              </a:rPr>
              <a:t>Logging)</a:t>
            </a:r>
            <a:r>
              <a:rPr sz="1000" spc="-25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같이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spc="-10" dirty="0">
                <a:solidFill>
                  <a:srgbClr val="262626"/>
                </a:solidFill>
                <a:latin typeface="Batang"/>
                <a:cs typeface="Batang"/>
              </a:rPr>
              <a:t>Application이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구동되는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Compute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Node를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제외한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OCP</a:t>
            </a:r>
            <a:r>
              <a:rPr sz="1000" spc="-30" dirty="0">
                <a:solidFill>
                  <a:srgbClr val="262626"/>
                </a:solidFill>
                <a:latin typeface="Batang"/>
                <a:cs typeface="Batang"/>
              </a:rPr>
              <a:t> Control</a:t>
            </a:r>
            <a:r>
              <a:rPr sz="1000" spc="-35" dirty="0">
                <a:solidFill>
                  <a:srgbClr val="262626"/>
                </a:solidFill>
                <a:latin typeface="Batang"/>
                <a:cs typeface="Batang"/>
              </a:rPr>
              <a:t> </a:t>
            </a:r>
            <a:r>
              <a:rPr sz="1000" spc="-10" dirty="0">
                <a:solidFill>
                  <a:srgbClr val="262626"/>
                </a:solidFill>
                <a:latin typeface="Batang"/>
                <a:cs typeface="Batang"/>
              </a:rPr>
              <a:t>Plane과 </a:t>
            </a:r>
            <a:r>
              <a:rPr sz="1000" dirty="0">
                <a:solidFill>
                  <a:srgbClr val="262626"/>
                </a:solidFill>
                <a:latin typeface="Batang"/>
                <a:cs typeface="Batang"/>
              </a:rPr>
              <a:t>기타 인프라 서비스를 제공하는 노드에 대한 권장 용량에 대해서 아래와 같이 가이드를 제공 </a:t>
            </a:r>
            <a:r>
              <a:rPr sz="1000" spc="-10" dirty="0">
                <a:solidFill>
                  <a:srgbClr val="262626"/>
                </a:solidFill>
                <a:latin typeface="Batang"/>
                <a:cs typeface="Batang"/>
              </a:rPr>
              <a:t>드립니다.</a:t>
            </a:r>
            <a:endParaRPr sz="1000">
              <a:latin typeface="Batang"/>
              <a:cs typeface="Batang"/>
            </a:endParaRPr>
          </a:p>
          <a:p>
            <a:pPr marL="513715" lvl="1" indent="-60960">
              <a:lnSpc>
                <a:spcPct val="100000"/>
              </a:lnSpc>
              <a:spcBef>
                <a:spcPts val="300"/>
              </a:spcBef>
              <a:buSzPct val="80000"/>
              <a:buFont typeface="Arial"/>
              <a:buChar char="•"/>
              <a:tabLst>
                <a:tab pos="514350" algn="l"/>
              </a:tabLst>
            </a:pPr>
            <a:r>
              <a:rPr sz="1000" b="1" spc="-30" dirty="0">
                <a:solidFill>
                  <a:srgbClr val="262626"/>
                </a:solidFill>
                <a:latin typeface="Malgun Gothic"/>
                <a:cs typeface="Malgun Gothic"/>
              </a:rPr>
              <a:t>Production </a:t>
            </a:r>
            <a:r>
              <a:rPr sz="1000" b="1" dirty="0">
                <a:solidFill>
                  <a:srgbClr val="262626"/>
                </a:solidFill>
                <a:latin typeface="Malgun Gothic"/>
                <a:cs typeface="Malgun Gothic"/>
              </a:rPr>
              <a:t>환경을</a:t>
            </a:r>
            <a:r>
              <a:rPr sz="1000" b="1" spc="-30" dirty="0">
                <a:solidFill>
                  <a:srgbClr val="262626"/>
                </a:solidFill>
                <a:latin typeface="Malgun Gothic"/>
                <a:cs typeface="Malgun Gothic"/>
              </a:rPr>
              <a:t> </a:t>
            </a:r>
            <a:r>
              <a:rPr sz="1000" b="1" dirty="0">
                <a:solidFill>
                  <a:srgbClr val="262626"/>
                </a:solidFill>
                <a:latin typeface="Malgun Gothic"/>
                <a:cs typeface="Malgun Gothic"/>
              </a:rPr>
              <a:t>위해서는</a:t>
            </a:r>
            <a:r>
              <a:rPr sz="1000" b="1" spc="-30" dirty="0">
                <a:solidFill>
                  <a:srgbClr val="262626"/>
                </a:solidFill>
                <a:latin typeface="Malgun Gothic"/>
                <a:cs typeface="Malgun Gothic"/>
              </a:rPr>
              <a:t> </a:t>
            </a:r>
            <a:r>
              <a:rPr sz="1000" b="1" dirty="0">
                <a:solidFill>
                  <a:srgbClr val="262626"/>
                </a:solidFill>
                <a:latin typeface="Malgun Gothic"/>
                <a:cs typeface="Malgun Gothic"/>
              </a:rPr>
              <a:t>Red</a:t>
            </a:r>
            <a:r>
              <a:rPr sz="1000" b="1" spc="-25" dirty="0">
                <a:solidFill>
                  <a:srgbClr val="262626"/>
                </a:solidFill>
                <a:latin typeface="Malgun Gothic"/>
                <a:cs typeface="Malgun Gothic"/>
              </a:rPr>
              <a:t> </a:t>
            </a:r>
            <a:r>
              <a:rPr sz="1000" b="1" spc="-20" dirty="0">
                <a:solidFill>
                  <a:srgbClr val="262626"/>
                </a:solidFill>
                <a:latin typeface="Malgun Gothic"/>
                <a:cs typeface="Malgun Gothic"/>
              </a:rPr>
              <a:t>Hat의</a:t>
            </a:r>
            <a:r>
              <a:rPr sz="1000" b="1" spc="-30" dirty="0">
                <a:solidFill>
                  <a:srgbClr val="262626"/>
                </a:solidFill>
                <a:latin typeface="Malgun Gothic"/>
                <a:cs typeface="Malgun Gothic"/>
              </a:rPr>
              <a:t> “Consulting </a:t>
            </a:r>
            <a:r>
              <a:rPr sz="1000" b="1" dirty="0">
                <a:solidFill>
                  <a:srgbClr val="262626"/>
                </a:solidFill>
                <a:latin typeface="Malgun Gothic"/>
                <a:cs typeface="Malgun Gothic"/>
              </a:rPr>
              <a:t>Service”통해</a:t>
            </a:r>
            <a:r>
              <a:rPr sz="1000" b="1" spc="-30" dirty="0">
                <a:solidFill>
                  <a:srgbClr val="262626"/>
                </a:solidFill>
                <a:latin typeface="Malgun Gothic"/>
                <a:cs typeface="Malgun Gothic"/>
              </a:rPr>
              <a:t> </a:t>
            </a:r>
            <a:r>
              <a:rPr sz="1000" b="1" dirty="0">
                <a:solidFill>
                  <a:srgbClr val="262626"/>
                </a:solidFill>
                <a:latin typeface="Malgun Gothic"/>
                <a:cs typeface="Malgun Gothic"/>
              </a:rPr>
              <a:t>보다</a:t>
            </a:r>
            <a:r>
              <a:rPr sz="1000" b="1" spc="-25" dirty="0">
                <a:solidFill>
                  <a:srgbClr val="262626"/>
                </a:solidFill>
                <a:latin typeface="Malgun Gothic"/>
                <a:cs typeface="Malgun Gothic"/>
              </a:rPr>
              <a:t> </a:t>
            </a:r>
            <a:r>
              <a:rPr sz="1000" b="1" dirty="0">
                <a:solidFill>
                  <a:srgbClr val="262626"/>
                </a:solidFill>
                <a:latin typeface="Malgun Gothic"/>
                <a:cs typeface="Malgun Gothic"/>
              </a:rPr>
              <a:t>정확한</a:t>
            </a:r>
            <a:r>
              <a:rPr sz="1000" b="1" spc="-30" dirty="0">
                <a:solidFill>
                  <a:srgbClr val="262626"/>
                </a:solidFill>
                <a:latin typeface="Malgun Gothic"/>
                <a:cs typeface="Malgun Gothic"/>
              </a:rPr>
              <a:t> </a:t>
            </a:r>
            <a:r>
              <a:rPr sz="1000" b="1" dirty="0">
                <a:solidFill>
                  <a:srgbClr val="262626"/>
                </a:solidFill>
                <a:latin typeface="Malgun Gothic"/>
                <a:cs typeface="Malgun Gothic"/>
              </a:rPr>
              <a:t>가이드를</a:t>
            </a:r>
            <a:r>
              <a:rPr sz="1000" b="1" spc="-30" dirty="0">
                <a:solidFill>
                  <a:srgbClr val="262626"/>
                </a:solidFill>
                <a:latin typeface="Malgun Gothic"/>
                <a:cs typeface="Malgun Gothic"/>
              </a:rPr>
              <a:t> </a:t>
            </a:r>
            <a:r>
              <a:rPr sz="1000" b="1" dirty="0">
                <a:solidFill>
                  <a:srgbClr val="262626"/>
                </a:solidFill>
                <a:latin typeface="Malgun Gothic"/>
                <a:cs typeface="Malgun Gothic"/>
              </a:rPr>
              <a:t>받길</a:t>
            </a:r>
            <a:r>
              <a:rPr sz="1000" b="1" spc="-30" dirty="0">
                <a:solidFill>
                  <a:srgbClr val="262626"/>
                </a:solidFill>
                <a:latin typeface="Malgun Gothic"/>
                <a:cs typeface="Malgun Gothic"/>
              </a:rPr>
              <a:t> </a:t>
            </a:r>
            <a:r>
              <a:rPr sz="1000" b="1" dirty="0">
                <a:solidFill>
                  <a:srgbClr val="262626"/>
                </a:solidFill>
                <a:latin typeface="Malgun Gothic"/>
                <a:cs typeface="Malgun Gothic"/>
              </a:rPr>
              <a:t>권장</a:t>
            </a:r>
            <a:r>
              <a:rPr sz="1000" b="1" spc="-25" dirty="0">
                <a:solidFill>
                  <a:srgbClr val="262626"/>
                </a:solidFill>
                <a:latin typeface="Malgun Gothic"/>
                <a:cs typeface="Malgun Gothic"/>
              </a:rPr>
              <a:t> </a:t>
            </a:r>
            <a:r>
              <a:rPr sz="1000" b="1" spc="-10" dirty="0">
                <a:solidFill>
                  <a:srgbClr val="262626"/>
                </a:solidFill>
                <a:latin typeface="Malgun Gothic"/>
                <a:cs typeface="Malgun Gothic"/>
              </a:rPr>
              <a:t>드립니다.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9189" y="4662103"/>
            <a:ext cx="88899" cy="666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9930" y="4905942"/>
            <a:ext cx="88899" cy="66674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699109" y="2792506"/>
          <a:ext cx="8785223" cy="2698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4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Node</a:t>
                      </a:r>
                      <a:r>
                        <a:rPr sz="800" spc="-4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Role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Components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marL="340995" marR="297180" indent="-501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CPU</a:t>
                      </a:r>
                      <a:r>
                        <a:rPr sz="800" spc="-4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용량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(Cores)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336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marL="480059" marR="302895" indent="-1892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4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Memory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용량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(GiB)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336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marL="407670" marR="314325" indent="-1079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2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Local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Storage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용량(GiB)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336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marL="363220" marR="306070" indent="-6159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7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PV</a:t>
                      </a:r>
                      <a:r>
                        <a:rPr sz="800" spc="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용량 </a:t>
                      </a:r>
                      <a:r>
                        <a:rPr sz="800" spc="-1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(GiB)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336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tc>
                  <a:txBody>
                    <a:bodyPr/>
                    <a:lstStyle/>
                    <a:p>
                      <a:pPr marL="508000" marR="50863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30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Node </a:t>
                      </a:r>
                      <a:r>
                        <a:rPr sz="800" spc="-25" dirty="0">
                          <a:solidFill>
                            <a:srgbClr val="FFFFFF"/>
                          </a:solidFill>
                          <a:latin typeface="Batang"/>
                          <a:cs typeface="Batang"/>
                        </a:rPr>
                        <a:t>수량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336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445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Master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669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API,</a:t>
                      </a:r>
                      <a:r>
                        <a:rPr sz="800" spc="-6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ETCD,</a:t>
                      </a:r>
                      <a:r>
                        <a:rPr sz="8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Web</a:t>
                      </a:r>
                      <a:r>
                        <a:rPr sz="800" spc="-6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Console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669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DE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669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64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669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150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669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669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3EA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669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Infra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(Metric)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Prometheus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DE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150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3EA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Infra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(Logging)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5905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Loki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5905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DE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16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5905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50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5905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150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5905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5905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3EA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5905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Infra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(Router)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route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DE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150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3EA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26034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Infra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(Bastion)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>
                  <a:txBody>
                    <a:bodyPr/>
                    <a:lstStyle/>
                    <a:p>
                      <a:pPr marL="875030" marR="149225" indent="-778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DNS,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7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YUM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Repository,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Container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Image Registry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336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EDE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8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8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2EA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9461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25">
                <a:tc gridSpan="2">
                  <a:txBody>
                    <a:bodyPr/>
                    <a:lstStyle/>
                    <a:p>
                      <a:pPr marL="6203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800" spc="-4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Total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Resource(전체</a:t>
                      </a:r>
                      <a:r>
                        <a:rPr sz="800" spc="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요구</a:t>
                      </a:r>
                      <a:r>
                        <a:rPr sz="800" spc="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자원</a:t>
                      </a:r>
                      <a:r>
                        <a:rPr sz="800" spc="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합계)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6350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  <a:solidFill>
                      <a:srgbClr val="DBDF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146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6350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8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442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6350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2600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6350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3600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6350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800" spc="-2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14EA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63500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5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※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위의 용량 산정은 기준치로 제공한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“200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Compute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Node, Pods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1000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PODs”, </a:t>
                      </a:r>
                      <a:r>
                        <a:rPr sz="800" spc="-3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“Metric/Logging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30초 단위, 30일 저장”을</a:t>
                      </a:r>
                      <a:r>
                        <a:rPr sz="800" spc="-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기준</a:t>
                      </a:r>
                      <a:r>
                        <a:rPr sz="800" spc="13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 </a:t>
                      </a:r>
                      <a:r>
                        <a:rPr sz="8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로 </a:t>
                      </a:r>
                      <a:r>
                        <a:rPr sz="800" spc="-1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작성되었습니다.</a:t>
                      </a:r>
                      <a:endParaRPr sz="800">
                        <a:latin typeface="Batang"/>
                        <a:cs typeface="Batang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※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Infra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Node는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각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components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별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개별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구성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또는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통합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구성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가능합니다.</a:t>
                      </a:r>
                      <a:endParaRPr sz="800">
                        <a:latin typeface="Batang"/>
                        <a:cs typeface="Batang"/>
                      </a:endParaRPr>
                    </a:p>
                    <a:p>
                      <a:pPr marR="79946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※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Logging</a:t>
                      </a:r>
                      <a:r>
                        <a:rPr sz="800" spc="-1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저장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공간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용량은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“Apache</a:t>
                      </a:r>
                      <a:r>
                        <a:rPr sz="800" spc="-1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Web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5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Server</a:t>
                      </a:r>
                      <a:r>
                        <a:rPr sz="800" spc="-1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기준,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256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Characters/sec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--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&gt;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15KB/min”</a:t>
                      </a:r>
                      <a:r>
                        <a:rPr sz="800" spc="12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로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산정하였기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때문에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Application</a:t>
                      </a:r>
                      <a:r>
                        <a:rPr sz="800" spc="-1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Logging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Size를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고려하여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용량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설계</a:t>
                      </a:r>
                      <a:r>
                        <a:rPr sz="800" spc="-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800" spc="-25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반영이 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Batang"/>
                          <a:cs typeface="Batang"/>
                        </a:rPr>
                        <a:t>필요합니다.</a:t>
                      </a:r>
                      <a:endParaRPr sz="800">
                        <a:latin typeface="Batang"/>
                        <a:cs typeface="Batang"/>
                      </a:endParaRPr>
                    </a:p>
                  </a:txBody>
                  <a:tcPr marL="0" marR="0" marT="8255" marB="0">
                    <a:lnL w="9525">
                      <a:solidFill>
                        <a:srgbClr val="BFBFBF"/>
                      </a:solidFill>
                      <a:prstDash val="solid"/>
                    </a:lnL>
                    <a:lnR w="9525">
                      <a:solidFill>
                        <a:srgbClr val="BFBFBF"/>
                      </a:solidFill>
                      <a:prstDash val="solid"/>
                    </a:lnR>
                    <a:lnT w="9525">
                      <a:solidFill>
                        <a:srgbClr val="BFBFBF"/>
                      </a:solidFill>
                      <a:prstDash val="solid"/>
                    </a:lnT>
                    <a:lnB w="9525">
                      <a:solidFill>
                        <a:srgbClr val="BFBFB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630">
                <a:tc gridSpan="7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00" dirty="0">
                          <a:solidFill>
                            <a:srgbClr val="262626"/>
                          </a:solidFill>
                          <a:latin typeface="MS PGothic"/>
                          <a:cs typeface="MS PGothic"/>
                        </a:rPr>
                        <a:t>※</a:t>
                      </a:r>
                      <a:r>
                        <a:rPr sz="900" spc="-30" dirty="0">
                          <a:solidFill>
                            <a:srgbClr val="262626"/>
                          </a:solidFill>
                          <a:latin typeface="MS PGothic"/>
                          <a:cs typeface="MS PGothic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고객사의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요구사항에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따른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프로덕션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환경의</a:t>
                      </a:r>
                      <a:r>
                        <a:rPr sz="9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최적의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설계를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위한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사이징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가이드는</a:t>
                      </a:r>
                      <a:r>
                        <a:rPr sz="900" spc="-6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Red</a:t>
                      </a:r>
                      <a:r>
                        <a:rPr sz="900" spc="-5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Hat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의</a:t>
                      </a:r>
                      <a:r>
                        <a:rPr sz="900" spc="-6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“Consulting</a:t>
                      </a:r>
                      <a:r>
                        <a:rPr sz="900" spc="-1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Service”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통해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가이드</a:t>
                      </a:r>
                      <a:r>
                        <a:rPr sz="900" spc="-5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제공</a:t>
                      </a:r>
                      <a:r>
                        <a:rPr sz="900" spc="-50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 </a:t>
                      </a:r>
                      <a:r>
                        <a:rPr sz="900" spc="-25" dirty="0">
                          <a:solidFill>
                            <a:srgbClr val="262626"/>
                          </a:solidFill>
                          <a:latin typeface="Batang"/>
                          <a:cs typeface="Batang"/>
                        </a:rPr>
                        <a:t>가능</a:t>
                      </a:r>
                      <a:endParaRPr sz="900">
                        <a:latin typeface="Batang"/>
                        <a:cs typeface="Batang"/>
                      </a:endParaRPr>
                    </a:p>
                  </a:txBody>
                  <a:tcPr marL="0" marR="0" marT="107950" marB="0">
                    <a:lnT w="9525">
                      <a:solidFill>
                        <a:srgbClr val="BFBFBF"/>
                      </a:solidFill>
                      <a:prstDash val="solid"/>
                    </a:lnT>
                    <a:solidFill>
                      <a:srgbClr val="FDD6D6">
                        <a:alpha val="2470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44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2" name="object 12"/>
          <p:cNvSpPr txBox="1"/>
          <p:nvPr/>
        </p:nvSpPr>
        <p:spPr>
          <a:xfrm>
            <a:off x="1702396" y="5543538"/>
            <a:ext cx="8785225" cy="357505"/>
          </a:xfrm>
          <a:prstGeom prst="rect">
            <a:avLst/>
          </a:prstGeom>
          <a:solidFill>
            <a:srgbClr val="FDD6D6">
              <a:alpha val="24708"/>
            </a:srgbClr>
          </a:solidFill>
        </p:spPr>
        <p:txBody>
          <a:bodyPr vert="horz" wrap="square" lIns="0" tIns="38735" rIns="0" bIns="0" rtlCol="0">
            <a:spAutoFit/>
          </a:bodyPr>
          <a:lstStyle/>
          <a:p>
            <a:pPr marL="97155" marR="3855085">
              <a:lnSpc>
                <a:spcPts val="770"/>
              </a:lnSpc>
              <a:spcBef>
                <a:spcPts val="305"/>
              </a:spcBef>
            </a:pPr>
            <a:r>
              <a:rPr sz="700" i="1" spc="-10" dirty="0">
                <a:solidFill>
                  <a:srgbClr val="7E7E7E"/>
                </a:solidFill>
                <a:latin typeface="Arial"/>
                <a:cs typeface="Arial"/>
              </a:rPr>
              <a:t>Source:</a:t>
            </a:r>
            <a:r>
              <a:rPr sz="700" i="1" spc="3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700" i="1" u="sng" spc="-10" dirty="0">
                <a:solidFill>
                  <a:srgbClr val="ED0000"/>
                </a:solidFill>
                <a:uFill>
                  <a:solidFill>
                    <a:srgbClr val="ED0000"/>
                  </a:solidFill>
                </a:uFill>
                <a:latin typeface="Arial"/>
                <a:cs typeface="Arial"/>
                <a:hlinkClick r:id="rId5"/>
              </a:rPr>
              <a:t>https://docs.openshift.com/container-platform/4.10/scalability_and_performance/recommended-host-practices.html</a:t>
            </a:r>
            <a:r>
              <a:rPr sz="700" i="1" spc="500" dirty="0">
                <a:solidFill>
                  <a:srgbClr val="ED0000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7E7E7E"/>
                </a:solidFill>
                <a:latin typeface="Arial"/>
                <a:cs typeface="Arial"/>
              </a:rPr>
              <a:t>Source:</a:t>
            </a:r>
            <a:r>
              <a:rPr sz="700" i="1" spc="3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700" i="1" u="sng" spc="-10" dirty="0">
                <a:solidFill>
                  <a:srgbClr val="ED0000"/>
                </a:solidFill>
                <a:uFill>
                  <a:solidFill>
                    <a:srgbClr val="ED0000"/>
                  </a:solidFill>
                </a:uFill>
                <a:latin typeface="Arial"/>
                <a:cs typeface="Arial"/>
                <a:hlinkClick r:id="rId6"/>
              </a:rPr>
              <a:t>https://docs.openshift.com/container-platform/4.10/scalability_and_performance/optimizing-storage.html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27611"/>
            <a:ext cx="12192000" cy="5330825"/>
            <a:chOff x="0" y="1527611"/>
            <a:chExt cx="12192000" cy="5330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27611"/>
              <a:ext cx="12191875" cy="53303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7766" y="6401687"/>
              <a:ext cx="0" cy="456565"/>
            </a:xfrm>
            <a:custGeom>
              <a:avLst/>
              <a:gdLst/>
              <a:ahLst/>
              <a:cxnLst/>
              <a:rect l="l" t="t" r="r" b="b"/>
              <a:pathLst>
                <a:path h="456565">
                  <a:moveTo>
                    <a:pt x="0" y="4562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E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11253" y="6313237"/>
              <a:ext cx="975847" cy="228124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47774" y="99"/>
            <a:ext cx="0" cy="887094"/>
          </a:xfrm>
          <a:custGeom>
            <a:avLst/>
            <a:gdLst/>
            <a:ahLst/>
            <a:cxnLst/>
            <a:rect l="l" t="t" r="r" b="b"/>
            <a:pathLst>
              <a:path h="887094">
                <a:moveTo>
                  <a:pt x="0" y="886498"/>
                </a:moveTo>
                <a:lnTo>
                  <a:pt x="0" y="0"/>
                </a:lnTo>
              </a:path>
            </a:pathLst>
          </a:custGeom>
          <a:ln w="9524">
            <a:solidFill>
              <a:srgbClr val="E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07428" y="4934722"/>
            <a:ext cx="28041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linkedin.com/company/red-</a:t>
            </a:r>
            <a:r>
              <a:rPr sz="1600" spc="40" dirty="0">
                <a:latin typeface="Arial"/>
                <a:cs typeface="Arial"/>
              </a:rPr>
              <a:t>hat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7428" y="5551398"/>
            <a:ext cx="3059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"/>
                <a:cs typeface="Arial"/>
              </a:rPr>
              <a:t>youtube.com/user/RedHatVideos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95358" y="4934722"/>
            <a:ext cx="2241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"/>
                <a:cs typeface="Arial"/>
              </a:rPr>
              <a:t>facebook.com/redhatinc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5358" y="5551398"/>
            <a:ext cx="18300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"/>
                <a:cs typeface="Arial"/>
              </a:rPr>
              <a:t>twitter.com/RedHat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6787" y="5547013"/>
            <a:ext cx="279699" cy="2944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6787" y="4930314"/>
            <a:ext cx="279699" cy="2944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9240" y="5547013"/>
            <a:ext cx="279681" cy="2944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09240" y="4930314"/>
            <a:ext cx="279681" cy="294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821935" y="1924719"/>
            <a:ext cx="5155565" cy="1301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350" spc="-100" dirty="0">
                <a:solidFill>
                  <a:srgbClr val="FF0000"/>
                </a:solidFill>
                <a:latin typeface="Arial"/>
                <a:cs typeface="Arial"/>
              </a:rPr>
              <a:t>Thank</a:t>
            </a:r>
            <a:r>
              <a:rPr sz="8350" spc="-4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350" spc="-20" dirty="0">
                <a:solidFill>
                  <a:srgbClr val="FF0000"/>
                </a:solidFill>
                <a:latin typeface="Arial"/>
                <a:cs typeface="Arial"/>
              </a:rPr>
              <a:t>you.</a:t>
            </a:r>
            <a:endParaRPr sz="835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44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16" name="object 16"/>
          <p:cNvSpPr txBox="1"/>
          <p:nvPr/>
        </p:nvSpPr>
        <p:spPr>
          <a:xfrm>
            <a:off x="1821925" y="3698541"/>
            <a:ext cx="8958580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45" dirty="0">
                <a:latin typeface="Arial"/>
                <a:cs typeface="Arial"/>
              </a:rPr>
              <a:t>Red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is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world’s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leading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provider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6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enterprise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open</a:t>
            </a:r>
            <a:r>
              <a:rPr sz="1600" spc="-20" dirty="0">
                <a:latin typeface="Arial"/>
                <a:cs typeface="Arial"/>
              </a:rPr>
              <a:t> source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software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solutions.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Award-</a:t>
            </a:r>
            <a:r>
              <a:rPr sz="1600" spc="-10" dirty="0">
                <a:latin typeface="Arial"/>
                <a:cs typeface="Arial"/>
              </a:rPr>
              <a:t>winning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600" dirty="0">
                <a:latin typeface="Arial"/>
                <a:cs typeface="Arial"/>
              </a:rPr>
              <a:t>support,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training,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consulting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services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30" dirty="0">
                <a:latin typeface="Arial"/>
                <a:cs typeface="Arial"/>
              </a:rPr>
              <a:t>make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Red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trusted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adviser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85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Fortune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55" dirty="0">
                <a:latin typeface="Arial"/>
                <a:cs typeface="Arial"/>
              </a:rPr>
              <a:t>500.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와이드스크린</PresentationFormat>
  <Slides>8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Theme</vt:lpstr>
      <vt:lpstr>Red Hat OpenShift Platform</vt:lpstr>
      <vt:lpstr>OpenShift 아키텍처</vt:lpstr>
      <vt:lpstr>OpenShift 기본 아키텍처</vt:lpstr>
      <vt:lpstr>대외망 - 대내망 아키텍처 예시</vt:lpstr>
      <vt:lpstr>Spec.&amp; Sizing 가이드</vt:lpstr>
      <vt:lpstr>Spec.&amp; Sizing 가이드</vt:lpstr>
      <vt:lpstr>Spec.&amp; Sizing 가이드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Hat OpenShift Platform_현대백화점</dc:title>
  <cp:revision>18</cp:revision>
  <dcterms:created xsi:type="dcterms:W3CDTF">2025-03-27T01:04:57Z</dcterms:created>
  <dcterms:modified xsi:type="dcterms:W3CDTF">2025-03-27T01:25:53Z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2025-03-27T00:00:00Z</vt:filetime>
  </property>
  <property fmtid="{D5CDD505-2E9C-101B-9397-08002B2CF9AE}" pid="3" name="Creator">
    <vt:lpwstr>Google</vt:lpwstr>
  </property>
  <property fmtid="{D5CDD505-2E9C-101B-9397-08002B2CF9AE}" pid="4" name="LastSaved">
    <vt:filetime>2025-03-27T00:00:00Z</vt:filetime>
  </property>
  <property fmtid="{D5CDD505-2E9C-101B-9397-08002B2CF9AE}" pid="5" name="Producer">
    <vt:lpwstr>3-Heights(TM) PDF Security Shell 4.8.25.2 (http://www.pdf-tools.com)</vt:lpwstr>
  </property>
</Properties>
</file>