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ED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ED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ED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81" cy="514348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35824" y="4800890"/>
            <a:ext cx="0" cy="342900"/>
          </a:xfrm>
          <a:custGeom>
            <a:avLst/>
            <a:gdLst/>
            <a:ahLst/>
            <a:cxnLst/>
            <a:rect l="l" t="t" r="r" b="b"/>
            <a:pathLst>
              <a:path w="0" h="342900">
                <a:moveTo>
                  <a:pt x="0" y="342599"/>
                </a:moveTo>
                <a:lnTo>
                  <a:pt x="0" y="0"/>
                </a:lnTo>
              </a:path>
            </a:pathLst>
          </a:custGeom>
          <a:ln w="9524">
            <a:solidFill>
              <a:srgbClr val="ED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3433" y="4734940"/>
            <a:ext cx="731886" cy="17107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557016" y="1240272"/>
            <a:ext cx="1043305" cy="0"/>
          </a:xfrm>
          <a:custGeom>
            <a:avLst/>
            <a:gdLst/>
            <a:ahLst/>
            <a:cxnLst/>
            <a:rect l="l" t="t" r="r" b="b"/>
            <a:pathLst>
              <a:path w="1043305" h="0">
                <a:moveTo>
                  <a:pt x="0" y="0"/>
                </a:moveTo>
                <a:lnTo>
                  <a:pt x="1043102" y="0"/>
                </a:lnTo>
              </a:path>
            </a:pathLst>
          </a:custGeom>
          <a:ln w="9524">
            <a:solidFill>
              <a:srgbClr val="ED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ED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5829" y="149"/>
            <a:ext cx="0" cy="664845"/>
          </a:xfrm>
          <a:custGeom>
            <a:avLst/>
            <a:gdLst/>
            <a:ahLst/>
            <a:cxnLst/>
            <a:rect l="l" t="t" r="r" b="b"/>
            <a:pathLst>
              <a:path w="0" h="664845">
                <a:moveTo>
                  <a:pt x="0" y="664798"/>
                </a:moveTo>
                <a:lnTo>
                  <a:pt x="0" y="0"/>
                </a:lnTo>
              </a:path>
            </a:pathLst>
          </a:custGeom>
          <a:ln w="9524">
            <a:solidFill>
              <a:srgbClr val="ED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335824" y="4800890"/>
            <a:ext cx="0" cy="342900"/>
          </a:xfrm>
          <a:custGeom>
            <a:avLst/>
            <a:gdLst/>
            <a:ahLst/>
            <a:cxnLst/>
            <a:rect l="l" t="t" r="r" b="b"/>
            <a:pathLst>
              <a:path w="0" h="342900">
                <a:moveTo>
                  <a:pt x="0" y="342599"/>
                </a:moveTo>
                <a:lnTo>
                  <a:pt x="0" y="0"/>
                </a:lnTo>
              </a:path>
            </a:pathLst>
          </a:custGeom>
          <a:ln w="9524">
            <a:solidFill>
              <a:srgbClr val="ED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33433" y="4734940"/>
            <a:ext cx="731886" cy="1710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2978" y="135371"/>
            <a:ext cx="6056849" cy="3686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ED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9441" y="1023935"/>
            <a:ext cx="8544560" cy="3531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jpg"/><Relationship Id="rId7" Type="http://schemas.openxmlformats.org/officeDocument/2006/relationships/image" Target="../media/image12.png"/><Relationship Id="rId8" Type="http://schemas.openxmlformats.org/officeDocument/2006/relationships/image" Target="../media/image13.jpg"/><Relationship Id="rId9" Type="http://schemas.openxmlformats.org/officeDocument/2006/relationships/image" Target="../media/image1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7.jpg"/><Relationship Id="rId4" Type="http://schemas.openxmlformats.org/officeDocument/2006/relationships/image" Target="../media/image1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ccess.redhat.com/documentation/en-us/red_hat_openshift_data_foundation/4.11/html-single/configuring_openshift_data_foundation_disaster_recovery_for_openshift_workloads/index#rdr-solution" TargetMode="External"/><Relationship Id="rId3" Type="http://schemas.openxmlformats.org/officeDocument/2006/relationships/hyperlink" Target="https://access.redhat.com/documentation/en-us/red_hat_openshift_data_foundation/4.11/html-single/configuring_openshift_data_foundation_disaster_recovery_for_openshift_workloads/index#creating-disaster-recovery-policy-on-hub-cluster_rdr" TargetMode="External"/><Relationship Id="rId4" Type="http://schemas.openxmlformats.org/officeDocument/2006/relationships/hyperlink" Target="https://access.redhat.com/documentation/en-us/red_hat_openshift_data_foundation/4.11/html-single/configuring_openshift_data_foundation_disaster_recovery_for_openshift_workloads/index#application-failover-between-managed-clusters_rdr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33.png"/><Relationship Id="rId7" Type="http://schemas.openxmlformats.org/officeDocument/2006/relationships/image" Target="../media/image17.png"/><Relationship Id="rId8" Type="http://schemas.openxmlformats.org/officeDocument/2006/relationships/image" Target="../media/image34.png"/><Relationship Id="rId9" Type="http://schemas.openxmlformats.org/officeDocument/2006/relationships/image" Target="../media/image3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51.png"/><Relationship Id="rId19" Type="http://schemas.openxmlformats.org/officeDocument/2006/relationships/image" Target="../media/image52.png"/><Relationship Id="rId20" Type="http://schemas.openxmlformats.org/officeDocument/2006/relationships/image" Target="../media/image53.png"/><Relationship Id="rId21" Type="http://schemas.openxmlformats.org/officeDocument/2006/relationships/image" Target="../media/image54.png"/><Relationship Id="rId22" Type="http://schemas.openxmlformats.org/officeDocument/2006/relationships/image" Target="../media/image55.png"/><Relationship Id="rId23" Type="http://schemas.openxmlformats.org/officeDocument/2006/relationships/image" Target="../media/image56.png"/><Relationship Id="rId24" Type="http://schemas.openxmlformats.org/officeDocument/2006/relationships/image" Target="../media/image18.png"/><Relationship Id="rId25" Type="http://schemas.openxmlformats.org/officeDocument/2006/relationships/image" Target="../media/image17.png"/><Relationship Id="rId26" Type="http://schemas.openxmlformats.org/officeDocument/2006/relationships/image" Target="../media/image3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hyperlink" Target="https://access.redhat.com/documentation/en-us/red_hat_openshift_data_foundation/4.11/html-single/configuring_openshift_data_foundation_disaster_recovery_for_openshift_workloads/index#metro-dr-solution" TargetMode="External"/><Relationship Id="rId4" Type="http://schemas.openxmlformats.org/officeDocument/2006/relationships/hyperlink" Target="https://access.redhat.com/documentation/en-us/red_hat_openshift_data_foundation/4.11/html-single/configuring_openshift_data_foundation_disaster_recovery_for_openshift_workloads/index#network_configuration_requirements" TargetMode="External"/><Relationship Id="rId5" Type="http://schemas.openxmlformats.org/officeDocument/2006/relationships/image" Target="../media/image57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18.png"/><Relationship Id="rId9" Type="http://schemas.openxmlformats.org/officeDocument/2006/relationships/image" Target="../media/image17.png"/><Relationship Id="rId10" Type="http://schemas.openxmlformats.org/officeDocument/2006/relationships/image" Target="../media/image5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36.png"/><Relationship Id="rId4" Type="http://schemas.openxmlformats.org/officeDocument/2006/relationships/image" Target="../media/image48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60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66.png"/><Relationship Id="rId19" Type="http://schemas.openxmlformats.org/officeDocument/2006/relationships/image" Target="../media/image67.png"/><Relationship Id="rId20" Type="http://schemas.openxmlformats.org/officeDocument/2006/relationships/image" Target="../media/image68.png"/><Relationship Id="rId21" Type="http://schemas.openxmlformats.org/officeDocument/2006/relationships/image" Target="../media/image54.png"/><Relationship Id="rId22" Type="http://schemas.openxmlformats.org/officeDocument/2006/relationships/image" Target="../media/image55.png"/><Relationship Id="rId23" Type="http://schemas.openxmlformats.org/officeDocument/2006/relationships/image" Target="../media/image56.png"/><Relationship Id="rId24" Type="http://schemas.openxmlformats.org/officeDocument/2006/relationships/image" Target="../media/image18.png"/><Relationship Id="rId25" Type="http://schemas.openxmlformats.org/officeDocument/2006/relationships/image" Target="../media/image17.png"/><Relationship Id="rId26" Type="http://schemas.openxmlformats.org/officeDocument/2006/relationships/image" Target="../media/image32.png"/><Relationship Id="rId27" Type="http://schemas.openxmlformats.org/officeDocument/2006/relationships/image" Target="../media/image1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70.png"/><Relationship Id="rId6" Type="http://schemas.openxmlformats.org/officeDocument/2006/relationships/image" Target="../media/image32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hyperlink" Target="https://kubernetes.io/docs/concepts/overview/working-with-objects/namespaces/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6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70.png"/><Relationship Id="rId7" Type="http://schemas.openxmlformats.org/officeDocument/2006/relationships/image" Target="../media/image32.png"/><Relationship Id="rId8" Type="http://schemas.openxmlformats.org/officeDocument/2006/relationships/image" Target="../media/image7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oud.redhat.com/blog/understanding-gitops-with-red-hat-advanced-cluster-management" TargetMode="External"/><Relationship Id="rId3" Type="http://schemas.openxmlformats.org/officeDocument/2006/relationships/image" Target="../media/image18.png"/><Relationship Id="rId4" Type="http://schemas.openxmlformats.org/officeDocument/2006/relationships/image" Target="../media/image76.png"/><Relationship Id="rId5" Type="http://schemas.openxmlformats.org/officeDocument/2006/relationships/image" Target="../media/image6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70.png"/><Relationship Id="rId9" Type="http://schemas.openxmlformats.org/officeDocument/2006/relationships/image" Target="../media/image32.png"/><Relationship Id="rId10" Type="http://schemas.openxmlformats.org/officeDocument/2006/relationships/image" Target="../media/image7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70.png"/><Relationship Id="rId6" Type="http://schemas.openxmlformats.org/officeDocument/2006/relationships/image" Target="../media/image32.png"/><Relationship Id="rId7" Type="http://schemas.openxmlformats.org/officeDocument/2006/relationships/image" Target="../media/image72.png"/><Relationship Id="rId8" Type="http://schemas.openxmlformats.org/officeDocument/2006/relationships/hyperlink" Target="https://dell.github.io/csm-docs/docs/replication/" TargetMode="External"/><Relationship Id="rId9" Type="http://schemas.openxmlformats.org/officeDocument/2006/relationships/image" Target="../media/image77.png"/><Relationship Id="rId10" Type="http://schemas.openxmlformats.org/officeDocument/2006/relationships/image" Target="../media/image73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ll.github.io/csm-docs/docs/replication/architecture/" TargetMode="Externa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8580"/>
            <a:chOff x="0" y="0"/>
            <a:chExt cx="9144000" cy="514858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3981" cy="514348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0134" y="4652990"/>
              <a:ext cx="1185197" cy="27957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35824" y="4800890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w="0" h="342900">
                  <a:moveTo>
                    <a:pt x="0" y="3425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ED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06430" y="1751599"/>
            <a:ext cx="650811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RED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14" b="1">
                <a:solidFill>
                  <a:srgbClr val="FFFFFF"/>
                </a:solidFill>
                <a:latin typeface="Arial"/>
                <a:cs typeface="Arial"/>
              </a:rPr>
              <a:t>HAT</a:t>
            </a:r>
            <a:r>
              <a:rPr dirty="0" sz="2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OPENSHIFT</a:t>
            </a:r>
            <a:r>
              <a:rPr dirty="0" sz="2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10" b="1">
                <a:solidFill>
                  <a:srgbClr val="FFFFFF"/>
                </a:solidFill>
                <a:latin typeface="Arial"/>
                <a:cs typeface="Arial"/>
              </a:rPr>
              <a:t>CONTAINER</a:t>
            </a:r>
            <a:r>
              <a:rPr dirty="0" sz="2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45" b="1">
                <a:solidFill>
                  <a:srgbClr val="FFFFFF"/>
                </a:solidFill>
                <a:latin typeface="Arial"/>
                <a:cs typeface="Arial"/>
              </a:rPr>
              <a:t>DR</a:t>
            </a:r>
            <a:r>
              <a:rPr dirty="0" sz="24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Malgun Gothic"/>
                <a:cs typeface="Malgun Gothic"/>
              </a:rPr>
              <a:t>구성</a:t>
            </a:r>
            <a:r>
              <a:rPr dirty="0" sz="2400" spc="-12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Malgun Gothic"/>
                <a:cs typeface="Malgun Gothic"/>
              </a:rPr>
              <a:t>방안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14898" y="3158800"/>
            <a:ext cx="14128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Red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Hat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Korea</a:t>
            </a:r>
            <a:r>
              <a:rPr dirty="0" sz="1000" spc="5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Solutions</a:t>
            </a:r>
            <a:r>
              <a:rPr dirty="0" sz="10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Architect</a:t>
            </a:r>
            <a:r>
              <a:rPr dirty="0" sz="1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219132" y="645626"/>
            <a:ext cx="1179195" cy="2297430"/>
            <a:chOff x="1219132" y="645626"/>
            <a:chExt cx="1179195" cy="2297430"/>
          </a:xfrm>
        </p:grpSpPr>
        <p:sp>
          <p:nvSpPr>
            <p:cNvPr id="9" name="object 9" descr=""/>
            <p:cNvSpPr/>
            <p:nvPr/>
          </p:nvSpPr>
          <p:spPr>
            <a:xfrm>
              <a:off x="1219132" y="2938269"/>
              <a:ext cx="245745" cy="0"/>
            </a:xfrm>
            <a:custGeom>
              <a:avLst/>
              <a:gdLst/>
              <a:ahLst/>
              <a:cxnLst/>
              <a:rect l="l" t="t" r="r" b="b"/>
              <a:pathLst>
                <a:path w="245744" h="0">
                  <a:moveTo>
                    <a:pt x="0" y="0"/>
                  </a:moveTo>
                  <a:lnTo>
                    <a:pt x="245699" y="0"/>
                  </a:lnTo>
                </a:path>
              </a:pathLst>
            </a:custGeom>
            <a:ln w="9524">
              <a:solidFill>
                <a:srgbClr val="ED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9132" y="645626"/>
              <a:ext cx="1178715" cy="409884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301940" y="4627671"/>
            <a:ext cx="6794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6973" y="1690446"/>
            <a:ext cx="39687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95">
                <a:latin typeface="Malgun Gothic"/>
                <a:cs typeface="Malgun Gothic"/>
              </a:rPr>
              <a:t>복구</a:t>
            </a:r>
            <a:r>
              <a:rPr dirty="0" sz="1100" spc="-130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지점</a:t>
            </a:r>
            <a:r>
              <a:rPr dirty="0" sz="1100" spc="-130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목표</a:t>
            </a:r>
            <a:r>
              <a:rPr dirty="0" sz="1100" spc="-130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및</a:t>
            </a:r>
            <a:r>
              <a:rPr dirty="0" sz="1100" spc="-125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복구</a:t>
            </a:r>
            <a:r>
              <a:rPr dirty="0" sz="1100" spc="-130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시간</a:t>
            </a:r>
            <a:r>
              <a:rPr dirty="0" sz="1100" spc="-130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목표는</a:t>
            </a:r>
            <a:r>
              <a:rPr dirty="0" sz="1100" spc="-125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개별</a:t>
            </a:r>
            <a:r>
              <a:rPr dirty="0" sz="1100" spc="-130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서비스에</a:t>
            </a:r>
            <a:r>
              <a:rPr dirty="0" sz="1100" spc="-130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관한</a:t>
            </a:r>
            <a:r>
              <a:rPr dirty="0" sz="1100" spc="-125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비즈니스</a:t>
            </a:r>
            <a:r>
              <a:rPr dirty="0" sz="1100" spc="-130">
                <a:latin typeface="Malgun Gothic"/>
                <a:cs typeface="Malgun Gothic"/>
              </a:rPr>
              <a:t> </a:t>
            </a:r>
            <a:r>
              <a:rPr dirty="0" sz="1100" spc="-90">
                <a:latin typeface="Malgun Gothic"/>
                <a:cs typeface="Malgun Gothic"/>
              </a:rPr>
              <a:t>목표 </a:t>
            </a:r>
            <a:r>
              <a:rPr dirty="0" sz="1100" spc="-50">
                <a:latin typeface="Malgun Gothic"/>
                <a:cs typeface="Malgun Gothic"/>
              </a:rPr>
              <a:t>0에</a:t>
            </a:r>
            <a:r>
              <a:rPr dirty="0" sz="1100" spc="-125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가까울수록</a:t>
            </a:r>
            <a:r>
              <a:rPr dirty="0" sz="1100" spc="-120">
                <a:latin typeface="Malgun Gothic"/>
                <a:cs typeface="Malgun Gothic"/>
              </a:rPr>
              <a:t> </a:t>
            </a:r>
            <a:r>
              <a:rPr dirty="0" sz="1100" spc="-95">
                <a:latin typeface="Malgun Gothic"/>
                <a:cs typeface="Malgun Gothic"/>
              </a:rPr>
              <a:t>비용이</a:t>
            </a:r>
            <a:r>
              <a:rPr dirty="0" sz="1100" spc="-120">
                <a:latin typeface="Malgun Gothic"/>
                <a:cs typeface="Malgun Gothic"/>
              </a:rPr>
              <a:t> </a:t>
            </a:r>
            <a:r>
              <a:rPr dirty="0" sz="1100" spc="-35">
                <a:latin typeface="Malgun Gothic"/>
                <a:cs typeface="Malgun Gothic"/>
              </a:rPr>
              <a:t>커짐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00270" y="4627671"/>
            <a:ext cx="711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23234" y="2732819"/>
            <a:ext cx="8461375" cy="1016000"/>
            <a:chOff x="323234" y="2732819"/>
            <a:chExt cx="8461375" cy="1016000"/>
          </a:xfrm>
        </p:grpSpPr>
        <p:sp>
          <p:nvSpPr>
            <p:cNvPr id="5" name="object 5" descr=""/>
            <p:cNvSpPr/>
            <p:nvPr/>
          </p:nvSpPr>
          <p:spPr>
            <a:xfrm>
              <a:off x="611161" y="3625617"/>
              <a:ext cx="3330575" cy="0"/>
            </a:xfrm>
            <a:custGeom>
              <a:avLst/>
              <a:gdLst/>
              <a:ahLst/>
              <a:cxnLst/>
              <a:rect l="l" t="t" r="r" b="b"/>
              <a:pathLst>
                <a:path w="3330575" h="0">
                  <a:moveTo>
                    <a:pt x="3330580" y="0"/>
                  </a:moveTo>
                  <a:lnTo>
                    <a:pt x="0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51809" y="3531217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5" h="189229">
                  <a:moveTo>
                    <a:pt x="259351" y="188799"/>
                  </a:moveTo>
                  <a:lnTo>
                    <a:pt x="0" y="94399"/>
                  </a:lnTo>
                  <a:lnTo>
                    <a:pt x="259351" y="0"/>
                  </a:lnTo>
                  <a:lnTo>
                    <a:pt x="259351" y="1887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51809" y="3531217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5" h="189229">
                  <a:moveTo>
                    <a:pt x="259351" y="0"/>
                  </a:moveTo>
                  <a:lnTo>
                    <a:pt x="0" y="94399"/>
                  </a:lnTo>
                  <a:lnTo>
                    <a:pt x="259351" y="188799"/>
                  </a:lnTo>
                  <a:lnTo>
                    <a:pt x="259351" y="0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7573" y="3266843"/>
              <a:ext cx="7578725" cy="360680"/>
            </a:xfrm>
            <a:custGeom>
              <a:avLst/>
              <a:gdLst/>
              <a:ahLst/>
              <a:cxnLst/>
              <a:rect l="l" t="t" r="r" b="b"/>
              <a:pathLst>
                <a:path w="7578725" h="360679">
                  <a:moveTo>
                    <a:pt x="2952394" y="0"/>
                  </a:moveTo>
                  <a:lnTo>
                    <a:pt x="2952394" y="360299"/>
                  </a:lnTo>
                </a:path>
                <a:path w="7578725" h="360679">
                  <a:moveTo>
                    <a:pt x="1943096" y="0"/>
                  </a:moveTo>
                  <a:lnTo>
                    <a:pt x="1943096" y="360299"/>
                  </a:lnTo>
                </a:path>
                <a:path w="7578725" h="360679">
                  <a:moveTo>
                    <a:pt x="1216022" y="0"/>
                  </a:moveTo>
                  <a:lnTo>
                    <a:pt x="1216022" y="360299"/>
                  </a:lnTo>
                </a:path>
                <a:path w="7578725" h="360679">
                  <a:moveTo>
                    <a:pt x="647698" y="0"/>
                  </a:moveTo>
                  <a:lnTo>
                    <a:pt x="647698" y="360299"/>
                  </a:lnTo>
                </a:path>
                <a:path w="7578725" h="360679">
                  <a:moveTo>
                    <a:pt x="0" y="0"/>
                  </a:moveTo>
                  <a:lnTo>
                    <a:pt x="0" y="360299"/>
                  </a:lnTo>
                </a:path>
                <a:path w="7578725" h="360679">
                  <a:moveTo>
                    <a:pt x="7578709" y="358774"/>
                  </a:moveTo>
                  <a:lnTo>
                    <a:pt x="2936819" y="358774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496282" y="3531217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5" h="189229">
                  <a:moveTo>
                    <a:pt x="0" y="188799"/>
                  </a:moveTo>
                  <a:lnTo>
                    <a:pt x="0" y="0"/>
                  </a:lnTo>
                  <a:lnTo>
                    <a:pt x="259349" y="94399"/>
                  </a:lnTo>
                  <a:lnTo>
                    <a:pt x="0" y="1887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496282" y="3531217"/>
              <a:ext cx="259715" cy="189230"/>
            </a:xfrm>
            <a:custGeom>
              <a:avLst/>
              <a:gdLst/>
              <a:ahLst/>
              <a:cxnLst/>
              <a:rect l="l" t="t" r="r" b="b"/>
              <a:pathLst>
                <a:path w="259715" h="189229">
                  <a:moveTo>
                    <a:pt x="0" y="188799"/>
                  </a:moveTo>
                  <a:lnTo>
                    <a:pt x="259349" y="94399"/>
                  </a:lnTo>
                  <a:lnTo>
                    <a:pt x="0" y="0"/>
                  </a:lnTo>
                  <a:lnTo>
                    <a:pt x="0" y="188799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389914" y="3266843"/>
              <a:ext cx="2800350" cy="360680"/>
            </a:xfrm>
            <a:custGeom>
              <a:avLst/>
              <a:gdLst/>
              <a:ahLst/>
              <a:cxnLst/>
              <a:rect l="l" t="t" r="r" b="b"/>
              <a:pathLst>
                <a:path w="2800350" h="360679">
                  <a:moveTo>
                    <a:pt x="2799969" y="0"/>
                  </a:moveTo>
                  <a:lnTo>
                    <a:pt x="2799969" y="360299"/>
                  </a:lnTo>
                </a:path>
                <a:path w="2800350" h="360679">
                  <a:moveTo>
                    <a:pt x="2152270" y="0"/>
                  </a:moveTo>
                  <a:lnTo>
                    <a:pt x="2152270" y="360299"/>
                  </a:lnTo>
                </a:path>
                <a:path w="2800350" h="360679">
                  <a:moveTo>
                    <a:pt x="1504571" y="0"/>
                  </a:moveTo>
                  <a:lnTo>
                    <a:pt x="1504571" y="360299"/>
                  </a:lnTo>
                </a:path>
                <a:path w="2800350" h="360679">
                  <a:moveTo>
                    <a:pt x="855298" y="0"/>
                  </a:moveTo>
                  <a:lnTo>
                    <a:pt x="855298" y="360299"/>
                  </a:lnTo>
                </a:path>
                <a:path w="2800350" h="360679">
                  <a:moveTo>
                    <a:pt x="0" y="0"/>
                  </a:moveTo>
                  <a:lnTo>
                    <a:pt x="0" y="360299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90940" y="360339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 h="0">
                  <a:moveTo>
                    <a:pt x="0" y="0"/>
                  </a:moveTo>
                  <a:lnTo>
                    <a:pt x="57149" y="0"/>
                  </a:lnTo>
                </a:path>
              </a:pathLst>
            </a:custGeom>
            <a:ln w="125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2833" y="2732819"/>
              <a:ext cx="768265" cy="864298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3775461" y="2980327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Batang"/>
                <a:cs typeface="Batang"/>
              </a:rPr>
              <a:t>초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758413" y="2980318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Batang"/>
                <a:cs typeface="Batang"/>
              </a:rPr>
              <a:t>분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98624" y="2981813"/>
            <a:ext cx="9232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3720" algn="l"/>
              </a:tabLst>
            </a:pPr>
            <a:r>
              <a:rPr dirty="0" sz="1400" spc="-25">
                <a:latin typeface="Batang"/>
                <a:cs typeface="Batang"/>
              </a:rPr>
              <a:t>일수</a:t>
            </a:r>
            <a:r>
              <a:rPr dirty="0" sz="1400">
                <a:latin typeface="Batang"/>
                <a:cs typeface="Batang"/>
              </a:rPr>
              <a:t>	</a:t>
            </a:r>
            <a:r>
              <a:rPr dirty="0" sz="1400" spc="-25">
                <a:latin typeface="Batang"/>
                <a:cs typeface="Batang"/>
              </a:rPr>
              <a:t>시간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65983" y="2981813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Batang"/>
                <a:cs typeface="Batang"/>
              </a:rPr>
              <a:t>주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381614" y="2761919"/>
            <a:ext cx="1008380" cy="216535"/>
          </a:xfrm>
          <a:custGeom>
            <a:avLst/>
            <a:gdLst/>
            <a:ahLst/>
            <a:cxnLst/>
            <a:rect l="l" t="t" r="r" b="b"/>
            <a:pathLst>
              <a:path w="1008379" h="216535">
                <a:moveTo>
                  <a:pt x="0" y="215999"/>
                </a:moveTo>
                <a:lnTo>
                  <a:pt x="6604" y="173959"/>
                </a:lnTo>
                <a:lnTo>
                  <a:pt x="24615" y="139630"/>
                </a:lnTo>
                <a:lnTo>
                  <a:pt x="51331" y="116486"/>
                </a:lnTo>
                <a:lnTo>
                  <a:pt x="84049" y="107999"/>
                </a:lnTo>
                <a:lnTo>
                  <a:pt x="419949" y="107999"/>
                </a:lnTo>
                <a:lnTo>
                  <a:pt x="452667" y="99513"/>
                </a:lnTo>
                <a:lnTo>
                  <a:pt x="479383" y="76368"/>
                </a:lnTo>
                <a:lnTo>
                  <a:pt x="497394" y="42039"/>
                </a:lnTo>
                <a:lnTo>
                  <a:pt x="503998" y="0"/>
                </a:lnTo>
                <a:lnTo>
                  <a:pt x="510603" y="42039"/>
                </a:lnTo>
                <a:lnTo>
                  <a:pt x="528614" y="76368"/>
                </a:lnTo>
                <a:lnTo>
                  <a:pt x="555330" y="99513"/>
                </a:lnTo>
                <a:lnTo>
                  <a:pt x="588048" y="107999"/>
                </a:lnTo>
                <a:lnTo>
                  <a:pt x="923948" y="107999"/>
                </a:lnTo>
                <a:lnTo>
                  <a:pt x="956666" y="116486"/>
                </a:lnTo>
                <a:lnTo>
                  <a:pt x="983382" y="139630"/>
                </a:lnTo>
                <a:lnTo>
                  <a:pt x="1001393" y="173959"/>
                </a:lnTo>
                <a:lnTo>
                  <a:pt x="1007997" y="2159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2057395" y="2761869"/>
            <a:ext cx="1806575" cy="182880"/>
          </a:xfrm>
          <a:custGeom>
            <a:avLst/>
            <a:gdLst/>
            <a:ahLst/>
            <a:cxnLst/>
            <a:rect l="l" t="t" r="r" b="b"/>
            <a:pathLst>
              <a:path w="1806575" h="182880">
                <a:moveTo>
                  <a:pt x="0" y="182699"/>
                </a:moveTo>
                <a:lnTo>
                  <a:pt x="5586" y="147142"/>
                </a:lnTo>
                <a:lnTo>
                  <a:pt x="20821" y="118106"/>
                </a:lnTo>
                <a:lnTo>
                  <a:pt x="43417" y="98528"/>
                </a:lnTo>
                <a:lnTo>
                  <a:pt x="71087" y="91349"/>
                </a:lnTo>
                <a:lnTo>
                  <a:pt x="832073" y="91349"/>
                </a:lnTo>
                <a:lnTo>
                  <a:pt x="859737" y="84170"/>
                </a:lnTo>
                <a:lnTo>
                  <a:pt x="882329" y="64593"/>
                </a:lnTo>
                <a:lnTo>
                  <a:pt x="897562" y="35556"/>
                </a:lnTo>
                <a:lnTo>
                  <a:pt x="903148" y="0"/>
                </a:lnTo>
                <a:lnTo>
                  <a:pt x="908734" y="35556"/>
                </a:lnTo>
                <a:lnTo>
                  <a:pt x="923966" y="64593"/>
                </a:lnTo>
                <a:lnTo>
                  <a:pt x="946559" y="84170"/>
                </a:lnTo>
                <a:lnTo>
                  <a:pt x="974223" y="91349"/>
                </a:lnTo>
                <a:lnTo>
                  <a:pt x="1735221" y="91349"/>
                </a:lnTo>
                <a:lnTo>
                  <a:pt x="1762885" y="98528"/>
                </a:lnTo>
                <a:lnTo>
                  <a:pt x="1785477" y="118106"/>
                </a:lnTo>
                <a:lnTo>
                  <a:pt x="1800710" y="147142"/>
                </a:lnTo>
                <a:lnTo>
                  <a:pt x="1806296" y="1826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2740469" y="2490429"/>
            <a:ext cx="3810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Batang"/>
                <a:cs typeface="Batang"/>
              </a:rPr>
              <a:t>복제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744535" y="2761919"/>
            <a:ext cx="1008380" cy="216535"/>
          </a:xfrm>
          <a:custGeom>
            <a:avLst/>
            <a:gdLst/>
            <a:ahLst/>
            <a:cxnLst/>
            <a:rect l="l" t="t" r="r" b="b"/>
            <a:pathLst>
              <a:path w="1008380" h="216535">
                <a:moveTo>
                  <a:pt x="0" y="215999"/>
                </a:moveTo>
                <a:lnTo>
                  <a:pt x="6604" y="173959"/>
                </a:lnTo>
                <a:lnTo>
                  <a:pt x="24615" y="139630"/>
                </a:lnTo>
                <a:lnTo>
                  <a:pt x="51330" y="116486"/>
                </a:lnTo>
                <a:lnTo>
                  <a:pt x="84044" y="107999"/>
                </a:lnTo>
                <a:lnTo>
                  <a:pt x="419956" y="107999"/>
                </a:lnTo>
                <a:lnTo>
                  <a:pt x="452669" y="99513"/>
                </a:lnTo>
                <a:lnTo>
                  <a:pt x="479383" y="76368"/>
                </a:lnTo>
                <a:lnTo>
                  <a:pt x="497394" y="42039"/>
                </a:lnTo>
                <a:lnTo>
                  <a:pt x="503998" y="0"/>
                </a:lnTo>
                <a:lnTo>
                  <a:pt x="510603" y="42039"/>
                </a:lnTo>
                <a:lnTo>
                  <a:pt x="528614" y="76368"/>
                </a:lnTo>
                <a:lnTo>
                  <a:pt x="555329" y="99513"/>
                </a:lnTo>
                <a:lnTo>
                  <a:pt x="588043" y="107999"/>
                </a:lnTo>
                <a:lnTo>
                  <a:pt x="923955" y="107999"/>
                </a:lnTo>
                <a:lnTo>
                  <a:pt x="956668" y="116486"/>
                </a:lnTo>
                <a:lnTo>
                  <a:pt x="983382" y="139630"/>
                </a:lnTo>
                <a:lnTo>
                  <a:pt x="1001393" y="173959"/>
                </a:lnTo>
                <a:lnTo>
                  <a:pt x="1007997" y="2159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882736" y="2495468"/>
            <a:ext cx="8305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Batang"/>
                <a:cs typeface="Batang"/>
              </a:rPr>
              <a:t>백업</a:t>
            </a:r>
            <a:r>
              <a:rPr dirty="0" sz="1400" spc="-10">
                <a:latin typeface="Lucida Sans"/>
                <a:cs typeface="Lucida Sans"/>
              </a:rPr>
              <a:t>/</a:t>
            </a:r>
            <a:r>
              <a:rPr dirty="0" sz="1400" spc="-10">
                <a:latin typeface="Batang"/>
                <a:cs typeface="Batang"/>
              </a:rPr>
              <a:t>복원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275405" y="2486657"/>
            <a:ext cx="1082675" cy="734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254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Batang"/>
                <a:cs typeface="Batang"/>
              </a:rPr>
              <a:t>대고객</a:t>
            </a:r>
            <a:r>
              <a:rPr dirty="0" sz="1400" spc="-65">
                <a:latin typeface="Batang"/>
                <a:cs typeface="Batang"/>
              </a:rPr>
              <a:t> </a:t>
            </a:r>
            <a:r>
              <a:rPr dirty="0" sz="1400" spc="-25">
                <a:latin typeface="Batang"/>
                <a:cs typeface="Batang"/>
              </a:rPr>
              <a:t>업무</a:t>
            </a:r>
            <a:endParaRPr sz="14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400">
              <a:latin typeface="Batang"/>
              <a:cs typeface="Batang"/>
            </a:endParaRPr>
          </a:p>
          <a:p>
            <a:pPr algn="r" marR="5080">
              <a:lnSpc>
                <a:spcPct val="100000"/>
              </a:lnSpc>
              <a:tabLst>
                <a:tab pos="878840" algn="l"/>
              </a:tabLst>
            </a:pPr>
            <a:r>
              <a:rPr dirty="0" sz="1400" spc="-50">
                <a:latin typeface="Batang"/>
                <a:cs typeface="Batang"/>
              </a:rPr>
              <a:t>초</a:t>
            </a:r>
            <a:r>
              <a:rPr dirty="0" sz="1400">
                <a:latin typeface="Batang"/>
                <a:cs typeface="Batang"/>
              </a:rPr>
              <a:t>	</a:t>
            </a:r>
            <a:r>
              <a:rPr dirty="0" baseline="1984" sz="2100" spc="-75">
                <a:latin typeface="Batang"/>
                <a:cs typeface="Batang"/>
              </a:rPr>
              <a:t>분</a:t>
            </a:r>
            <a:endParaRPr baseline="1984" sz="2100">
              <a:latin typeface="Batang"/>
              <a:cs typeface="Batang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6605586" y="2761919"/>
            <a:ext cx="1008380" cy="216535"/>
          </a:xfrm>
          <a:custGeom>
            <a:avLst/>
            <a:gdLst/>
            <a:ahLst/>
            <a:cxnLst/>
            <a:rect l="l" t="t" r="r" b="b"/>
            <a:pathLst>
              <a:path w="1008379" h="216535">
                <a:moveTo>
                  <a:pt x="0" y="215999"/>
                </a:moveTo>
                <a:lnTo>
                  <a:pt x="6603" y="173959"/>
                </a:lnTo>
                <a:lnTo>
                  <a:pt x="24612" y="139630"/>
                </a:lnTo>
                <a:lnTo>
                  <a:pt x="51320" y="116486"/>
                </a:lnTo>
                <a:lnTo>
                  <a:pt x="84024" y="107999"/>
                </a:lnTo>
                <a:lnTo>
                  <a:pt x="419949" y="107999"/>
                </a:lnTo>
                <a:lnTo>
                  <a:pt x="452656" y="99513"/>
                </a:lnTo>
                <a:lnTo>
                  <a:pt x="479374" y="76368"/>
                </a:lnTo>
                <a:lnTo>
                  <a:pt x="497391" y="42039"/>
                </a:lnTo>
                <a:lnTo>
                  <a:pt x="503998" y="0"/>
                </a:lnTo>
                <a:lnTo>
                  <a:pt x="510602" y="42039"/>
                </a:lnTo>
                <a:lnTo>
                  <a:pt x="528611" y="76368"/>
                </a:lnTo>
                <a:lnTo>
                  <a:pt x="555319" y="99513"/>
                </a:lnTo>
                <a:lnTo>
                  <a:pt x="588023" y="107999"/>
                </a:lnTo>
                <a:lnTo>
                  <a:pt x="923948" y="107999"/>
                </a:lnTo>
                <a:lnTo>
                  <a:pt x="956655" y="116486"/>
                </a:lnTo>
                <a:lnTo>
                  <a:pt x="983373" y="139630"/>
                </a:lnTo>
                <a:lnTo>
                  <a:pt x="1001390" y="173959"/>
                </a:lnTo>
                <a:lnTo>
                  <a:pt x="1007997" y="2159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6710034" y="2501631"/>
            <a:ext cx="1552575" cy="719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Batang"/>
                <a:cs typeface="Batang"/>
              </a:rPr>
              <a:t>내부</a:t>
            </a:r>
            <a:r>
              <a:rPr dirty="0" sz="1400" spc="-90">
                <a:latin typeface="Batang"/>
                <a:cs typeface="Batang"/>
              </a:rPr>
              <a:t> </a:t>
            </a:r>
            <a:r>
              <a:rPr dirty="0" sz="1400" spc="-25">
                <a:latin typeface="Batang"/>
                <a:cs typeface="Batang"/>
              </a:rPr>
              <a:t>업무</a:t>
            </a:r>
            <a:endParaRPr sz="14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400">
              <a:latin typeface="Batang"/>
              <a:cs typeface="Batang"/>
            </a:endParaRPr>
          </a:p>
          <a:p>
            <a:pPr marL="37465">
              <a:lnSpc>
                <a:spcPct val="100000"/>
              </a:lnSpc>
              <a:spcBef>
                <a:spcPts val="5"/>
              </a:spcBef>
              <a:tabLst>
                <a:tab pos="690245" algn="l"/>
                <a:tab pos="1361440" algn="l"/>
              </a:tabLst>
            </a:pPr>
            <a:r>
              <a:rPr dirty="0" sz="1400" spc="-25">
                <a:latin typeface="Batang"/>
                <a:cs typeface="Batang"/>
              </a:rPr>
              <a:t>시간</a:t>
            </a:r>
            <a:r>
              <a:rPr dirty="0" sz="1400">
                <a:latin typeface="Batang"/>
                <a:cs typeface="Batang"/>
              </a:rPr>
              <a:t>	</a:t>
            </a:r>
            <a:r>
              <a:rPr dirty="0" baseline="1984" sz="2100" spc="-37">
                <a:latin typeface="Batang"/>
                <a:cs typeface="Batang"/>
              </a:rPr>
              <a:t>일수</a:t>
            </a:r>
            <a:r>
              <a:rPr dirty="0" baseline="1984" sz="2100">
                <a:latin typeface="Batang"/>
                <a:cs typeface="Batang"/>
              </a:rPr>
              <a:t>	</a:t>
            </a:r>
            <a:r>
              <a:rPr dirty="0" baseline="1984" sz="2100" spc="-75">
                <a:latin typeface="Batang"/>
                <a:cs typeface="Batang"/>
              </a:rPr>
              <a:t>주</a:t>
            </a:r>
            <a:endParaRPr baseline="1984" sz="2100">
              <a:latin typeface="Batang"/>
              <a:cs typeface="Batang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2377112" y="784602"/>
            <a:ext cx="4309110" cy="322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000000"/>
                </a:solidFill>
                <a:latin typeface="Malgun Gothic"/>
                <a:cs typeface="Malgun Gothic"/>
              </a:rPr>
              <a:t>OpenShift에서</a:t>
            </a:r>
            <a:r>
              <a:rPr dirty="0" sz="1950" spc="-235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sz="1950" spc="-70">
                <a:solidFill>
                  <a:srgbClr val="000000"/>
                </a:solidFill>
                <a:latin typeface="Malgun Gothic"/>
                <a:cs typeface="Malgun Gothic"/>
              </a:rPr>
              <a:t>DR은</a:t>
            </a:r>
            <a:r>
              <a:rPr dirty="0" sz="1950" spc="-229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sz="1950" spc="-165">
                <a:solidFill>
                  <a:srgbClr val="000000"/>
                </a:solidFill>
                <a:latin typeface="Malgun Gothic"/>
                <a:cs typeface="Malgun Gothic"/>
              </a:rPr>
              <a:t>무엇을</a:t>
            </a:r>
            <a:r>
              <a:rPr dirty="0" sz="1950" spc="-229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sz="1950" spc="-110">
                <a:solidFill>
                  <a:srgbClr val="000000"/>
                </a:solidFill>
                <a:latin typeface="Malgun Gothic"/>
                <a:cs typeface="Malgun Gothic"/>
              </a:rPr>
              <a:t>의미하나요?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776854" y="3841310"/>
            <a:ext cx="12166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7145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Arial"/>
                <a:cs typeface="Arial"/>
              </a:rPr>
              <a:t>RPO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400" b="1">
                <a:latin typeface="Malgun Gothic"/>
                <a:cs typeface="Malgun Gothic"/>
              </a:rPr>
              <a:t>복구</a:t>
            </a:r>
            <a:r>
              <a:rPr dirty="0" sz="1400" spc="-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지점</a:t>
            </a:r>
            <a:r>
              <a:rPr dirty="0" sz="1400" spc="-5" b="1">
                <a:latin typeface="Malgun Gothic"/>
                <a:cs typeface="Malgun Gothic"/>
              </a:rPr>
              <a:t> </a:t>
            </a:r>
            <a:r>
              <a:rPr dirty="0" sz="1400" spc="-25" b="1">
                <a:latin typeface="Malgun Gothic"/>
                <a:cs typeface="Malgun Gothic"/>
              </a:rPr>
              <a:t>목표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096573" y="3869875"/>
            <a:ext cx="12166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778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Arial"/>
                <a:cs typeface="Arial"/>
              </a:rPr>
              <a:t>RTO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400" b="1">
                <a:latin typeface="Malgun Gothic"/>
                <a:cs typeface="Malgun Gothic"/>
              </a:rPr>
              <a:t>복구</a:t>
            </a:r>
            <a:r>
              <a:rPr dirty="0" sz="1400" spc="-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시간</a:t>
            </a:r>
            <a:r>
              <a:rPr dirty="0" sz="1400" spc="-5" b="1">
                <a:latin typeface="Malgun Gothic"/>
                <a:cs typeface="Malgun Gothic"/>
              </a:rPr>
              <a:t> </a:t>
            </a:r>
            <a:r>
              <a:rPr dirty="0" sz="1400" spc="-25" b="1">
                <a:latin typeface="Malgun Gothic"/>
                <a:cs typeface="Malgun Gothic"/>
              </a:rPr>
              <a:t>목표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48170" y="274070"/>
            <a:ext cx="10433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OpenShift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35">
                <a:latin typeface="Arial"/>
                <a:cs typeface="Arial"/>
              </a:rPr>
              <a:t>DR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Overview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984166" y="3955441"/>
            <a:ext cx="1626235" cy="671830"/>
          </a:xfrm>
          <a:custGeom>
            <a:avLst/>
            <a:gdLst/>
            <a:ahLst/>
            <a:cxnLst/>
            <a:rect l="l" t="t" r="r" b="b"/>
            <a:pathLst>
              <a:path w="1626235" h="671829">
                <a:moveTo>
                  <a:pt x="0" y="0"/>
                </a:moveTo>
                <a:lnTo>
                  <a:pt x="1625996" y="0"/>
                </a:lnTo>
                <a:lnTo>
                  <a:pt x="1625996" y="671698"/>
                </a:lnTo>
                <a:lnTo>
                  <a:pt x="0" y="6716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048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48170" y="274070"/>
            <a:ext cx="10433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OpenShift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35">
                <a:latin typeface="Arial"/>
                <a:cs typeface="Arial"/>
              </a:rPr>
              <a:t>DR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Overview</a:t>
            </a:r>
            <a:endParaRPr sz="7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68708" y="631205"/>
            <a:ext cx="2006600" cy="322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000000"/>
                </a:solidFill>
              </a:rPr>
              <a:t>DR</a:t>
            </a:r>
            <a:r>
              <a:rPr dirty="0" sz="1950" spc="-20">
                <a:solidFill>
                  <a:srgbClr val="000000"/>
                </a:solidFill>
              </a:rPr>
              <a:t> </a:t>
            </a:r>
            <a:r>
              <a:rPr dirty="0" sz="1950">
                <a:solidFill>
                  <a:srgbClr val="000000"/>
                </a:solidFill>
                <a:latin typeface="Batang"/>
                <a:cs typeface="Batang"/>
              </a:rPr>
              <a:t>구축</a:t>
            </a:r>
            <a:r>
              <a:rPr dirty="0" sz="1950" spc="-125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dirty="0" sz="1950" spc="-20">
                <a:solidFill>
                  <a:srgbClr val="000000"/>
                </a:solidFill>
                <a:latin typeface="Batang"/>
                <a:cs typeface="Batang"/>
              </a:rPr>
              <a:t>고려사항</a:t>
            </a:r>
            <a:endParaRPr sz="1950">
              <a:latin typeface="Batang"/>
              <a:cs typeface="Batang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07323" y="1714801"/>
          <a:ext cx="7713345" cy="1115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0594"/>
                <a:gridCol w="1748789"/>
                <a:gridCol w="2711449"/>
                <a:gridCol w="2211704"/>
              </a:tblGrid>
              <a:tr h="248285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 spc="-25">
                          <a:latin typeface="Batang"/>
                          <a:cs typeface="Batang"/>
                        </a:rPr>
                        <a:t>방식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Backup</a:t>
                      </a:r>
                      <a:r>
                        <a:rPr dirty="0" sz="8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8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Restore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Regional</a:t>
                      </a:r>
                      <a:r>
                        <a:rPr dirty="0" sz="8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DR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Metro</a:t>
                      </a:r>
                      <a:r>
                        <a:rPr dirty="0" sz="8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30">
                          <a:latin typeface="Arial"/>
                          <a:cs typeface="Arial"/>
                        </a:rPr>
                        <a:t>DR</a:t>
                      </a:r>
                      <a:r>
                        <a:rPr dirty="0" sz="8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(Stretch</a:t>
                      </a:r>
                      <a:r>
                        <a:rPr dirty="0" sz="8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Cluster)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56515" marR="27114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>
                          <a:latin typeface="Batang"/>
                          <a:cs typeface="Batang"/>
                        </a:rPr>
                        <a:t>클러스터</a:t>
                      </a:r>
                      <a:r>
                        <a:rPr dirty="0" sz="800" spc="-17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 spc="25">
                          <a:latin typeface="Arial"/>
                          <a:cs typeface="Arial"/>
                        </a:rPr>
                        <a:t>/DC </a:t>
                      </a:r>
                      <a:r>
                        <a:rPr dirty="0" sz="800" spc="-25">
                          <a:latin typeface="Batang"/>
                          <a:cs typeface="Batang"/>
                        </a:rPr>
                        <a:t>구성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 spc="-21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8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클러스터</a:t>
                      </a:r>
                      <a:r>
                        <a:rPr dirty="0" sz="800" spc="-17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/1</a:t>
                      </a:r>
                      <a:r>
                        <a:rPr dirty="0" sz="800" spc="-10">
                          <a:latin typeface="Batang"/>
                          <a:cs typeface="Batang"/>
                        </a:rPr>
                        <a:t>사이트</a:t>
                      </a:r>
                      <a:r>
                        <a:rPr dirty="0" sz="800" spc="-2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 spc="-25">
                          <a:latin typeface="Batang"/>
                          <a:cs typeface="Batang"/>
                        </a:rPr>
                        <a:t>배치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>
                          <a:latin typeface="Batang"/>
                          <a:cs typeface="Batang"/>
                        </a:rPr>
                        <a:t>사이트마다</a:t>
                      </a:r>
                      <a:r>
                        <a:rPr dirty="0" sz="800" spc="4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클러스터를</a:t>
                      </a:r>
                      <a:r>
                        <a:rPr dirty="0" sz="800" spc="5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Active/Passive</a:t>
                      </a:r>
                      <a:r>
                        <a:rPr dirty="0" sz="8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으로</a:t>
                      </a:r>
                      <a:r>
                        <a:rPr dirty="0" sz="800" spc="-3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 spc="-25">
                          <a:latin typeface="Batang"/>
                          <a:cs typeface="Batang"/>
                        </a:rPr>
                        <a:t>배치</a:t>
                      </a:r>
                      <a:endParaRPr sz="800">
                        <a:latin typeface="Batang"/>
                        <a:cs typeface="Batang"/>
                      </a:endParaRPr>
                    </a:p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(2</a:t>
                      </a:r>
                      <a:r>
                        <a:rPr dirty="0" sz="800" spc="-10">
                          <a:latin typeface="Batang"/>
                          <a:cs typeface="Batang"/>
                        </a:rPr>
                        <a:t>사이트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 spc="-2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800" spc="-25">
                          <a:latin typeface="Batang"/>
                          <a:cs typeface="Batang"/>
                        </a:rPr>
                        <a:t>클러스터를</a:t>
                      </a:r>
                      <a:r>
                        <a:rPr dirty="0" sz="800" spc="6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사이트에</a:t>
                      </a:r>
                      <a:r>
                        <a:rPr dirty="0" sz="800" spc="3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배치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(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다중</a:t>
                      </a:r>
                      <a:r>
                        <a:rPr dirty="0" sz="800" spc="-1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AZ)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 spc="-10">
                          <a:latin typeface="Batang"/>
                          <a:cs typeface="Batang"/>
                        </a:rPr>
                        <a:t>유스케이스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>
                          <a:latin typeface="Batang"/>
                          <a:cs typeface="Batang"/>
                        </a:rPr>
                        <a:t>클러스터</a:t>
                      </a:r>
                      <a:r>
                        <a:rPr dirty="0" sz="800" spc="1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계층에서의</a:t>
                      </a:r>
                      <a:r>
                        <a:rPr dirty="0" sz="800" spc="4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논리적</a:t>
                      </a:r>
                      <a:r>
                        <a:rPr dirty="0" sz="800" spc="-1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 spc="-25">
                          <a:latin typeface="Batang"/>
                          <a:cs typeface="Batang"/>
                        </a:rPr>
                        <a:t>장애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>
                          <a:latin typeface="Batang"/>
                          <a:cs typeface="Batang"/>
                        </a:rPr>
                        <a:t>네트워크나</a:t>
                      </a:r>
                      <a:r>
                        <a:rPr dirty="0" sz="800" spc="3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전력</a:t>
                      </a:r>
                      <a:r>
                        <a:rPr dirty="0" sz="800" spc="-3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공급등</a:t>
                      </a:r>
                      <a:r>
                        <a:rPr dirty="0" sz="800" spc="-1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광역에</a:t>
                      </a:r>
                      <a:r>
                        <a:rPr dirty="0" sz="800" spc="-1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 spc="-25">
                          <a:latin typeface="Batang"/>
                          <a:cs typeface="Batang"/>
                        </a:rPr>
                        <a:t>영향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>
                          <a:latin typeface="Batang"/>
                          <a:cs typeface="Batang"/>
                        </a:rPr>
                        <a:t>네트워크</a:t>
                      </a:r>
                      <a:r>
                        <a:rPr dirty="0" sz="800" spc="-15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 spc="-30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전원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설비</a:t>
                      </a:r>
                      <a:r>
                        <a:rPr dirty="0" sz="800" spc="1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등</a:t>
                      </a:r>
                      <a:r>
                        <a:rPr dirty="0" sz="800" spc="-1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>
                          <a:latin typeface="Batang"/>
                          <a:cs typeface="Batang"/>
                        </a:rPr>
                        <a:t>랙</a:t>
                      </a:r>
                      <a:r>
                        <a:rPr dirty="0" sz="800" spc="-2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800" spc="-25">
                          <a:latin typeface="Batang"/>
                          <a:cs typeface="Batang"/>
                        </a:rPr>
                        <a:t>장애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RPO/RPO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Days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Hours-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Minutes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Seconds-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Zero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811241" y="1013391"/>
            <a:ext cx="7519670" cy="60388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61620" indent="-248920">
              <a:lnSpc>
                <a:spcPct val="100000"/>
              </a:lnSpc>
              <a:spcBef>
                <a:spcPts val="295"/>
              </a:spcBef>
              <a:buChar char="●"/>
              <a:tabLst>
                <a:tab pos="261620" algn="l"/>
              </a:tabLst>
            </a:pPr>
            <a:r>
              <a:rPr dirty="0" sz="1100" spc="-20">
                <a:latin typeface="Arial"/>
                <a:cs typeface="Arial"/>
              </a:rPr>
              <a:t>RTO/RPO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Days(</a:t>
            </a:r>
            <a:r>
              <a:rPr dirty="0" sz="1100">
                <a:latin typeface="Batang"/>
                <a:cs typeface="Batang"/>
              </a:rPr>
              <a:t>수일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>
                <a:latin typeface="Batang"/>
                <a:cs typeface="Batang"/>
              </a:rPr>
              <a:t>이고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가용성이</a:t>
            </a:r>
            <a:r>
              <a:rPr dirty="0" sz="1100" spc="-1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낮으며</a:t>
            </a:r>
            <a:r>
              <a:rPr dirty="0" sz="1100" spc="-4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비용과</a:t>
            </a:r>
            <a:r>
              <a:rPr dirty="0" sz="1100" spc="-4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운영의</a:t>
            </a:r>
            <a:r>
              <a:rPr dirty="0" sz="1100" spc="-4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최소화를</a:t>
            </a:r>
            <a:r>
              <a:rPr dirty="0" sz="1100" spc="-1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요구하는</a:t>
            </a:r>
            <a:r>
              <a:rPr dirty="0" sz="1100" spc="-1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경우</a:t>
            </a:r>
            <a:r>
              <a:rPr dirty="0" sz="1100" spc="-65">
                <a:latin typeface="Batang"/>
                <a:cs typeface="Batang"/>
              </a:rPr>
              <a:t> </a:t>
            </a:r>
            <a:r>
              <a:rPr dirty="0" sz="1100" spc="50">
                <a:latin typeface="Arial"/>
                <a:cs typeface="Arial"/>
              </a:rPr>
              <a:t>-</a:t>
            </a:r>
            <a:r>
              <a:rPr dirty="0" sz="1100" spc="95">
                <a:latin typeface="Arial"/>
                <a:cs typeface="Arial"/>
              </a:rPr>
              <a:t>&gt;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Backup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>
                <a:latin typeface="MS PGothic"/>
                <a:cs typeface="MS PGothic"/>
              </a:rPr>
              <a:t>＆</a:t>
            </a:r>
            <a:r>
              <a:rPr dirty="0" sz="1100" spc="-60">
                <a:latin typeface="MS PGothic"/>
                <a:cs typeface="MS PGothic"/>
              </a:rPr>
              <a:t> </a:t>
            </a:r>
            <a:r>
              <a:rPr dirty="0" sz="1100" spc="-10">
                <a:latin typeface="Arial"/>
                <a:cs typeface="Arial"/>
              </a:rPr>
              <a:t>Restore</a:t>
            </a:r>
            <a:endParaRPr sz="1100">
              <a:latin typeface="Arial"/>
              <a:cs typeface="Arial"/>
            </a:endParaRPr>
          </a:p>
          <a:p>
            <a:pPr marL="261620" indent="-248920">
              <a:lnSpc>
                <a:spcPct val="100000"/>
              </a:lnSpc>
              <a:spcBef>
                <a:spcPts val="200"/>
              </a:spcBef>
              <a:buChar char="●"/>
              <a:tabLst>
                <a:tab pos="261620" algn="l"/>
              </a:tabLst>
            </a:pPr>
            <a:r>
              <a:rPr dirty="0" sz="1100" spc="-20">
                <a:latin typeface="Arial"/>
                <a:cs typeface="Arial"/>
              </a:rPr>
              <a:t>RTO/RPO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Mins~Hours(</a:t>
            </a:r>
            <a:r>
              <a:rPr dirty="0" sz="1100">
                <a:latin typeface="Batang"/>
                <a:cs typeface="Batang"/>
              </a:rPr>
              <a:t>수분</a:t>
            </a:r>
            <a:r>
              <a:rPr dirty="0" sz="1100">
                <a:latin typeface="Arial"/>
                <a:cs typeface="Arial"/>
              </a:rPr>
              <a:t>~</a:t>
            </a:r>
            <a:r>
              <a:rPr dirty="0" sz="1100">
                <a:latin typeface="Batang"/>
                <a:cs typeface="Batang"/>
              </a:rPr>
              <a:t>시간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>
                <a:latin typeface="Batang"/>
                <a:cs typeface="Batang"/>
              </a:rPr>
              <a:t>이고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자연</a:t>
            </a:r>
            <a:r>
              <a:rPr dirty="0" sz="1100" spc="-6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재해에</a:t>
            </a:r>
            <a:r>
              <a:rPr dirty="0" sz="1100" spc="-3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대해</a:t>
            </a:r>
            <a:r>
              <a:rPr dirty="0" sz="1100" spc="-6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높은</a:t>
            </a:r>
            <a:r>
              <a:rPr dirty="0" sz="1100" spc="-5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가용성을</a:t>
            </a:r>
            <a:r>
              <a:rPr dirty="0" sz="1100" spc="-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요구하는</a:t>
            </a:r>
            <a:r>
              <a:rPr dirty="0" sz="1100" spc="-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경우</a:t>
            </a:r>
            <a:r>
              <a:rPr dirty="0" sz="1100" spc="-55">
                <a:latin typeface="Batang"/>
                <a:cs typeface="Batang"/>
              </a:rPr>
              <a:t> </a:t>
            </a:r>
            <a:r>
              <a:rPr dirty="0" sz="1100" spc="50">
                <a:latin typeface="Arial"/>
                <a:cs typeface="Arial"/>
              </a:rPr>
              <a:t>-</a:t>
            </a:r>
            <a:r>
              <a:rPr dirty="0" sz="1100" spc="95">
                <a:latin typeface="Arial"/>
                <a:cs typeface="Arial"/>
              </a:rPr>
              <a:t>&gt;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Regional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DR</a:t>
            </a:r>
            <a:endParaRPr sz="1100">
              <a:latin typeface="Arial"/>
              <a:cs typeface="Arial"/>
            </a:endParaRPr>
          </a:p>
          <a:p>
            <a:pPr marL="261620" indent="-248920">
              <a:lnSpc>
                <a:spcPct val="100000"/>
              </a:lnSpc>
              <a:spcBef>
                <a:spcPts val="195"/>
              </a:spcBef>
              <a:buChar char="●"/>
              <a:tabLst>
                <a:tab pos="261620" algn="l"/>
              </a:tabLst>
            </a:pPr>
            <a:r>
              <a:rPr dirty="0" sz="1100" spc="-20">
                <a:latin typeface="Arial"/>
                <a:cs typeface="Arial"/>
              </a:rPr>
              <a:t>RTO/RPO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Seconds(</a:t>
            </a:r>
            <a:r>
              <a:rPr dirty="0" sz="1100">
                <a:latin typeface="Batang"/>
                <a:cs typeface="Batang"/>
              </a:rPr>
              <a:t>수초</a:t>
            </a:r>
            <a:r>
              <a:rPr dirty="0" sz="1100">
                <a:latin typeface="Arial"/>
                <a:cs typeface="Arial"/>
              </a:rPr>
              <a:t>)</a:t>
            </a:r>
            <a:r>
              <a:rPr dirty="0" sz="1100">
                <a:latin typeface="Batang"/>
                <a:cs typeface="Batang"/>
              </a:rPr>
              <a:t>이고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Data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Center</a:t>
            </a:r>
            <a:r>
              <a:rPr dirty="0" sz="1100">
                <a:latin typeface="Batang"/>
                <a:cs typeface="Batang"/>
              </a:rPr>
              <a:t>나</a:t>
            </a:r>
            <a:r>
              <a:rPr dirty="0" sz="1100" spc="-75">
                <a:latin typeface="Batang"/>
                <a:cs typeface="Batang"/>
              </a:rPr>
              <a:t> </a:t>
            </a:r>
            <a:r>
              <a:rPr dirty="0" sz="1100" spc="-55">
                <a:latin typeface="Arial"/>
                <a:cs typeface="Arial"/>
              </a:rPr>
              <a:t>HW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장애에</a:t>
            </a:r>
            <a:r>
              <a:rPr dirty="0" sz="1100" spc="-2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대해</a:t>
            </a:r>
            <a:r>
              <a:rPr dirty="0" sz="1100" spc="-4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무중단을</a:t>
            </a:r>
            <a:r>
              <a:rPr dirty="0" sz="1100" spc="1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요구하는</a:t>
            </a:r>
            <a:r>
              <a:rPr dirty="0" sz="1100" spc="1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경우</a:t>
            </a:r>
            <a:r>
              <a:rPr dirty="0" sz="1100" spc="-45">
                <a:latin typeface="Batang"/>
                <a:cs typeface="Batang"/>
              </a:rPr>
              <a:t> </a:t>
            </a:r>
            <a:r>
              <a:rPr dirty="0" sz="1100" spc="50">
                <a:latin typeface="Arial"/>
                <a:cs typeface="Arial"/>
              </a:rPr>
              <a:t>-</a:t>
            </a:r>
            <a:r>
              <a:rPr dirty="0" sz="1100" spc="95">
                <a:latin typeface="Arial"/>
                <a:cs typeface="Arial"/>
              </a:rPr>
              <a:t>&gt;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Metro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60">
                <a:latin typeface="Arial"/>
                <a:cs typeface="Arial"/>
              </a:rPr>
              <a:t>DR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(Stretch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Cluster)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385472" y="3063418"/>
            <a:ext cx="6394450" cy="1406525"/>
            <a:chOff x="1385472" y="3063418"/>
            <a:chExt cx="6394450" cy="1406525"/>
          </a:xfrm>
        </p:grpSpPr>
        <p:sp>
          <p:nvSpPr>
            <p:cNvPr id="8" name="object 8" descr=""/>
            <p:cNvSpPr/>
            <p:nvPr/>
          </p:nvSpPr>
          <p:spPr>
            <a:xfrm>
              <a:off x="1398172" y="3076118"/>
              <a:ext cx="6369050" cy="1381125"/>
            </a:xfrm>
            <a:custGeom>
              <a:avLst/>
              <a:gdLst/>
              <a:ahLst/>
              <a:cxnLst/>
              <a:rect l="l" t="t" r="r" b="b"/>
              <a:pathLst>
                <a:path w="6369050" h="1381125">
                  <a:moveTo>
                    <a:pt x="1979421" y="284324"/>
                  </a:moveTo>
                  <a:lnTo>
                    <a:pt x="4975814" y="284324"/>
                  </a:lnTo>
                  <a:lnTo>
                    <a:pt x="4975814" y="1380222"/>
                  </a:lnTo>
                  <a:lnTo>
                    <a:pt x="1979421" y="1380222"/>
                  </a:lnTo>
                  <a:lnTo>
                    <a:pt x="1979421" y="284324"/>
                  </a:lnTo>
                  <a:close/>
                </a:path>
                <a:path w="6369050" h="1381125">
                  <a:moveTo>
                    <a:pt x="0" y="0"/>
                  </a:moveTo>
                  <a:lnTo>
                    <a:pt x="6368687" y="0"/>
                  </a:lnTo>
                  <a:lnTo>
                    <a:pt x="6368687" y="1380597"/>
                  </a:lnTo>
                  <a:lnTo>
                    <a:pt x="0" y="1380597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6048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9216" y="3634942"/>
              <a:ext cx="750873" cy="54077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342366" y="3828392"/>
              <a:ext cx="360045" cy="280035"/>
            </a:xfrm>
            <a:custGeom>
              <a:avLst/>
              <a:gdLst/>
              <a:ahLst/>
              <a:cxnLst/>
              <a:rect l="l" t="t" r="r" b="b"/>
              <a:pathLst>
                <a:path w="360045" h="280035">
                  <a:moveTo>
                    <a:pt x="0" y="139774"/>
                  </a:moveTo>
                  <a:lnTo>
                    <a:pt x="9169" y="95593"/>
                  </a:lnTo>
                  <a:lnTo>
                    <a:pt x="34704" y="57223"/>
                  </a:lnTo>
                  <a:lnTo>
                    <a:pt x="73645" y="26967"/>
                  </a:lnTo>
                  <a:lnTo>
                    <a:pt x="123030" y="7125"/>
                  </a:lnTo>
                  <a:lnTo>
                    <a:pt x="179899" y="0"/>
                  </a:lnTo>
                  <a:lnTo>
                    <a:pt x="236756" y="7125"/>
                  </a:lnTo>
                  <a:lnTo>
                    <a:pt x="286134" y="26967"/>
                  </a:lnTo>
                  <a:lnTo>
                    <a:pt x="325071" y="57223"/>
                  </a:lnTo>
                  <a:lnTo>
                    <a:pt x="350604" y="95593"/>
                  </a:lnTo>
                  <a:lnTo>
                    <a:pt x="359774" y="139774"/>
                  </a:lnTo>
                  <a:lnTo>
                    <a:pt x="350604" y="183956"/>
                  </a:lnTo>
                  <a:lnTo>
                    <a:pt x="325071" y="222325"/>
                  </a:lnTo>
                  <a:lnTo>
                    <a:pt x="286134" y="252582"/>
                  </a:lnTo>
                  <a:lnTo>
                    <a:pt x="236756" y="272424"/>
                  </a:lnTo>
                  <a:lnTo>
                    <a:pt x="179899" y="279549"/>
                  </a:lnTo>
                  <a:lnTo>
                    <a:pt x="123030" y="272424"/>
                  </a:lnTo>
                  <a:lnTo>
                    <a:pt x="73645" y="252582"/>
                  </a:lnTo>
                  <a:lnTo>
                    <a:pt x="34704" y="222325"/>
                  </a:lnTo>
                  <a:lnTo>
                    <a:pt x="9169" y="183956"/>
                  </a:lnTo>
                  <a:lnTo>
                    <a:pt x="0" y="139774"/>
                  </a:lnTo>
                  <a:close/>
                </a:path>
              </a:pathLst>
            </a:custGeom>
            <a:ln w="25399">
              <a:solidFill>
                <a:srgbClr val="BA7C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9541" y="3885592"/>
              <a:ext cx="245424" cy="165174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4449029" y="376040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64564" y="4410166"/>
            <a:ext cx="3126293" cy="4199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7646489" y="4518046"/>
            <a:ext cx="3441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solidFill>
                  <a:srgbClr val="313131"/>
                </a:solidFill>
                <a:latin typeface="Arial"/>
                <a:cs typeface="Arial"/>
              </a:rPr>
              <a:t>Days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9623" y="4449091"/>
            <a:ext cx="3157793" cy="3419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339765" y="4517978"/>
            <a:ext cx="3441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solidFill>
                  <a:srgbClr val="313131"/>
                </a:solidFill>
                <a:latin typeface="Arial"/>
                <a:cs typeface="Arial"/>
              </a:rPr>
              <a:t>Days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035257" y="4433917"/>
            <a:ext cx="1648460" cy="65849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31140">
              <a:lnSpc>
                <a:spcPct val="100000"/>
              </a:lnSpc>
              <a:spcBef>
                <a:spcPts val="760"/>
              </a:spcBef>
              <a:tabLst>
                <a:tab pos="1145540" algn="l"/>
              </a:tabLst>
            </a:pPr>
            <a:r>
              <a:rPr dirty="0" sz="1100" spc="-10">
                <a:solidFill>
                  <a:srgbClr val="313131"/>
                </a:solidFill>
                <a:latin typeface="Arial"/>
                <a:cs typeface="Arial"/>
              </a:rPr>
              <a:t>Hours</a:t>
            </a:r>
            <a:r>
              <a:rPr dirty="0" sz="110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dirty="0" sz="1100" spc="-10">
                <a:solidFill>
                  <a:srgbClr val="313131"/>
                </a:solidFill>
                <a:latin typeface="Arial"/>
                <a:cs typeface="Arial"/>
              </a:rPr>
              <a:t>Minutes</a:t>
            </a:r>
            <a:endParaRPr sz="1100">
              <a:latin typeface="Arial"/>
              <a:cs typeface="Arial"/>
            </a:endParaRPr>
          </a:p>
          <a:p>
            <a:pPr algn="ctr" marR="316230">
              <a:lnSpc>
                <a:spcPct val="100000"/>
              </a:lnSpc>
              <a:spcBef>
                <a:spcPts val="600"/>
              </a:spcBef>
            </a:pPr>
            <a:r>
              <a:rPr dirty="0" sz="1000" spc="-20">
                <a:solidFill>
                  <a:srgbClr val="FF0000"/>
                </a:solidFill>
                <a:latin typeface="Arial"/>
                <a:cs typeface="Arial"/>
              </a:rPr>
              <a:t>Tolerance</a:t>
            </a:r>
            <a:r>
              <a:rPr dirty="0" sz="10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0000"/>
                </a:solidFill>
                <a:latin typeface="Arial"/>
                <a:cs typeface="Arial"/>
              </a:rPr>
              <a:t>for Data </a:t>
            </a:r>
            <a:r>
              <a:rPr dirty="0" sz="1000" spc="-2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endParaRPr sz="1000">
              <a:latin typeface="Arial"/>
              <a:cs typeface="Arial"/>
            </a:endParaRPr>
          </a:p>
          <a:p>
            <a:pPr algn="ctr" marR="281305">
              <a:lnSpc>
                <a:spcPct val="100000"/>
              </a:lnSpc>
            </a:pPr>
            <a:r>
              <a:rPr dirty="0" sz="1000" spc="-10">
                <a:solidFill>
                  <a:srgbClr val="FF0000"/>
                </a:solidFill>
                <a:latin typeface="Arial"/>
                <a:cs typeface="Arial"/>
              </a:rPr>
              <a:t>&lt;----</a:t>
            </a:r>
            <a:r>
              <a:rPr dirty="0" sz="100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10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0000"/>
                </a:solidFill>
                <a:latin typeface="Arial"/>
                <a:cs typeface="Arial"/>
              </a:rPr>
              <a:t>RPO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385149" y="2836874"/>
            <a:ext cx="668020" cy="548005"/>
            <a:chOff x="1385149" y="2836874"/>
            <a:chExt cx="668020" cy="548005"/>
          </a:xfrm>
        </p:grpSpPr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149" y="2836874"/>
              <a:ext cx="667678" cy="54799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530279" y="3003418"/>
              <a:ext cx="349250" cy="309245"/>
            </a:xfrm>
            <a:custGeom>
              <a:avLst/>
              <a:gdLst/>
              <a:ahLst/>
              <a:cxnLst/>
              <a:rect l="l" t="t" r="r" b="b"/>
              <a:pathLst>
                <a:path w="349250" h="309245">
                  <a:moveTo>
                    <a:pt x="0" y="154524"/>
                  </a:moveTo>
                  <a:lnTo>
                    <a:pt x="6235" y="113443"/>
                  </a:lnTo>
                  <a:lnTo>
                    <a:pt x="23833" y="76529"/>
                  </a:lnTo>
                  <a:lnTo>
                    <a:pt x="51130" y="45256"/>
                  </a:lnTo>
                  <a:lnTo>
                    <a:pt x="86460" y="21095"/>
                  </a:lnTo>
                  <a:lnTo>
                    <a:pt x="128162" y="5519"/>
                  </a:lnTo>
                  <a:lnTo>
                    <a:pt x="174569" y="0"/>
                  </a:lnTo>
                  <a:lnTo>
                    <a:pt x="220977" y="5519"/>
                  </a:lnTo>
                  <a:lnTo>
                    <a:pt x="262678" y="21095"/>
                  </a:lnTo>
                  <a:lnTo>
                    <a:pt x="298009" y="45256"/>
                  </a:lnTo>
                  <a:lnTo>
                    <a:pt x="325305" y="76529"/>
                  </a:lnTo>
                  <a:lnTo>
                    <a:pt x="342903" y="113443"/>
                  </a:lnTo>
                  <a:lnTo>
                    <a:pt x="349139" y="154524"/>
                  </a:lnTo>
                  <a:lnTo>
                    <a:pt x="342903" y="195606"/>
                  </a:lnTo>
                  <a:lnTo>
                    <a:pt x="325305" y="232519"/>
                  </a:lnTo>
                  <a:lnTo>
                    <a:pt x="298009" y="263793"/>
                  </a:lnTo>
                  <a:lnTo>
                    <a:pt x="262678" y="287954"/>
                  </a:lnTo>
                  <a:lnTo>
                    <a:pt x="220977" y="303530"/>
                  </a:lnTo>
                  <a:lnTo>
                    <a:pt x="174569" y="309049"/>
                  </a:lnTo>
                  <a:lnTo>
                    <a:pt x="128162" y="303530"/>
                  </a:lnTo>
                  <a:lnTo>
                    <a:pt x="86460" y="287954"/>
                  </a:lnTo>
                  <a:lnTo>
                    <a:pt x="51130" y="263793"/>
                  </a:lnTo>
                  <a:lnTo>
                    <a:pt x="23833" y="232519"/>
                  </a:lnTo>
                  <a:lnTo>
                    <a:pt x="6235" y="195606"/>
                  </a:lnTo>
                  <a:lnTo>
                    <a:pt x="0" y="154524"/>
                  </a:lnTo>
                  <a:close/>
                </a:path>
              </a:pathLst>
            </a:custGeom>
            <a:ln w="25399">
              <a:solidFill>
                <a:srgbClr val="BA7C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94841" y="3067968"/>
              <a:ext cx="220014" cy="179924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635388" y="2950173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454640" y="3577153"/>
            <a:ext cx="5772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Regional </a:t>
            </a:r>
            <a:r>
              <a:rPr dirty="0" sz="1100" spc="-25">
                <a:latin typeface="Arial"/>
                <a:cs typeface="Arial"/>
              </a:rPr>
              <a:t>DR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792657" y="3398655"/>
            <a:ext cx="11512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Backup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&amp;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Restore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3185068" y="3111458"/>
            <a:ext cx="2287270" cy="1226185"/>
            <a:chOff x="3185068" y="3111458"/>
            <a:chExt cx="2287270" cy="1226185"/>
          </a:xfrm>
        </p:grpSpPr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85068" y="3111458"/>
              <a:ext cx="870123" cy="511233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3621392" y="4149616"/>
              <a:ext cx="1851025" cy="187960"/>
            </a:xfrm>
            <a:custGeom>
              <a:avLst/>
              <a:gdLst/>
              <a:ahLst/>
              <a:cxnLst/>
              <a:rect l="l" t="t" r="r" b="b"/>
              <a:pathLst>
                <a:path w="1851025" h="187960">
                  <a:moveTo>
                    <a:pt x="1850696" y="187499"/>
                  </a:moveTo>
                  <a:lnTo>
                    <a:pt x="0" y="187499"/>
                  </a:lnTo>
                  <a:lnTo>
                    <a:pt x="0" y="0"/>
                  </a:lnTo>
                  <a:lnTo>
                    <a:pt x="1850696" y="0"/>
                  </a:lnTo>
                  <a:lnTo>
                    <a:pt x="1850696" y="18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3707929" y="4159892"/>
            <a:ext cx="3422650" cy="925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Metro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(Stretch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Cluster)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100">
              <a:latin typeface="Arial"/>
              <a:cs typeface="Arial"/>
            </a:endParaRPr>
          </a:p>
          <a:p>
            <a:pPr algn="ctr" marL="1652270">
              <a:lnSpc>
                <a:spcPct val="100000"/>
              </a:lnSpc>
              <a:tabLst>
                <a:tab pos="3023870" algn="l"/>
              </a:tabLst>
            </a:pPr>
            <a:r>
              <a:rPr dirty="0" sz="1100" spc="-10">
                <a:solidFill>
                  <a:srgbClr val="313131"/>
                </a:solidFill>
                <a:latin typeface="Arial"/>
                <a:cs typeface="Arial"/>
              </a:rPr>
              <a:t>Minutes</a:t>
            </a:r>
            <a:r>
              <a:rPr dirty="0" sz="110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dirty="0" sz="1100" spc="-10">
                <a:solidFill>
                  <a:srgbClr val="313131"/>
                </a:solidFill>
                <a:latin typeface="Arial"/>
                <a:cs typeface="Arial"/>
              </a:rPr>
              <a:t>Hours</a:t>
            </a:r>
            <a:endParaRPr sz="1100">
              <a:latin typeface="Arial"/>
              <a:cs typeface="Arial"/>
            </a:endParaRPr>
          </a:p>
          <a:p>
            <a:pPr algn="ctr" marL="1675130">
              <a:lnSpc>
                <a:spcPct val="100000"/>
              </a:lnSpc>
              <a:spcBef>
                <a:spcPts val="545"/>
              </a:spcBef>
            </a:pPr>
            <a:r>
              <a:rPr dirty="0" sz="1000" spc="-20">
                <a:solidFill>
                  <a:srgbClr val="FF0000"/>
                </a:solidFill>
                <a:latin typeface="Arial"/>
                <a:cs typeface="Arial"/>
              </a:rPr>
              <a:t>Tolerance</a:t>
            </a:r>
            <a:r>
              <a:rPr dirty="0" sz="1000">
                <a:solidFill>
                  <a:srgbClr val="FF0000"/>
                </a:solidFill>
                <a:latin typeface="Arial"/>
                <a:cs typeface="Arial"/>
              </a:rPr>
              <a:t> for</a:t>
            </a:r>
            <a:r>
              <a:rPr dirty="0" sz="1000" spc="-5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0000"/>
                </a:solidFill>
                <a:latin typeface="Arial"/>
                <a:cs typeface="Arial"/>
              </a:rPr>
              <a:t>App </a:t>
            </a:r>
            <a:r>
              <a:rPr dirty="0" sz="1000" spc="-10">
                <a:solidFill>
                  <a:srgbClr val="FF0000"/>
                </a:solidFill>
                <a:latin typeface="Arial"/>
                <a:cs typeface="Arial"/>
              </a:rPr>
              <a:t>downtime</a:t>
            </a:r>
            <a:endParaRPr sz="1000">
              <a:latin typeface="Arial"/>
              <a:cs typeface="Arial"/>
            </a:endParaRPr>
          </a:p>
          <a:p>
            <a:pPr algn="r" marR="241935">
              <a:lnSpc>
                <a:spcPct val="100000"/>
              </a:lnSpc>
            </a:pPr>
            <a:r>
              <a:rPr dirty="0" sz="1000">
                <a:solidFill>
                  <a:srgbClr val="FF0000"/>
                </a:solidFill>
                <a:latin typeface="Arial"/>
                <a:cs typeface="Arial"/>
              </a:rPr>
              <a:t>RTO</a:t>
            </a:r>
            <a:r>
              <a:rPr dirty="0" sz="1000" spc="254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FF0000"/>
                </a:solidFill>
                <a:latin typeface="Arial"/>
                <a:cs typeface="Arial"/>
              </a:rPr>
              <a:t>-----</a:t>
            </a:r>
            <a:r>
              <a:rPr dirty="0" sz="1000" spc="-50">
                <a:solidFill>
                  <a:srgbClr val="FF0000"/>
                </a:solidFill>
                <a:latin typeface="Arial"/>
                <a:cs typeface="Arial"/>
              </a:rPr>
              <a:t>&gt;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288672" y="4337116"/>
            <a:ext cx="6567170" cy="491490"/>
            <a:chOff x="1288672" y="4337116"/>
            <a:chExt cx="6567170" cy="491490"/>
          </a:xfrm>
        </p:grpSpPr>
        <p:sp>
          <p:nvSpPr>
            <p:cNvPr id="30" name="object 30" descr=""/>
            <p:cNvSpPr/>
            <p:nvPr/>
          </p:nvSpPr>
          <p:spPr>
            <a:xfrm>
              <a:off x="1288669" y="4337126"/>
              <a:ext cx="6567170" cy="357505"/>
            </a:xfrm>
            <a:custGeom>
              <a:avLst/>
              <a:gdLst/>
              <a:ahLst/>
              <a:cxnLst/>
              <a:rect l="l" t="t" r="r" b="b"/>
              <a:pathLst>
                <a:path w="6567170" h="357504">
                  <a:moveTo>
                    <a:pt x="6566687" y="0"/>
                  </a:moveTo>
                  <a:lnTo>
                    <a:pt x="0" y="0"/>
                  </a:lnTo>
                  <a:lnTo>
                    <a:pt x="0" y="187490"/>
                  </a:lnTo>
                  <a:lnTo>
                    <a:pt x="2718447" y="187490"/>
                  </a:lnTo>
                  <a:lnTo>
                    <a:pt x="2718447" y="357022"/>
                  </a:lnTo>
                  <a:lnTo>
                    <a:pt x="3869245" y="357022"/>
                  </a:lnTo>
                  <a:lnTo>
                    <a:pt x="3869245" y="187490"/>
                  </a:lnTo>
                  <a:lnTo>
                    <a:pt x="6566687" y="187490"/>
                  </a:lnTo>
                  <a:lnTo>
                    <a:pt x="6566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8641" y="4372591"/>
              <a:ext cx="676223" cy="4555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98861" y="4627671"/>
            <a:ext cx="7429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68998" y="1394463"/>
            <a:ext cx="15309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Arial"/>
                <a:cs typeface="Arial"/>
              </a:rPr>
              <a:t>Backup</a:t>
            </a:r>
            <a:r>
              <a:rPr dirty="0" sz="1500" spc="-8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&amp;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Restore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70598" y="1624587"/>
            <a:ext cx="3340100" cy="467359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400"/>
              </a:spcBef>
              <a:buFont typeface="MS PGothic"/>
              <a:buChar char="◗"/>
              <a:tabLst>
                <a:tab pos="253365" algn="l"/>
              </a:tabLst>
            </a:pPr>
            <a:r>
              <a:rPr dirty="0" sz="1200">
                <a:latin typeface="Batang"/>
                <a:cs typeface="Batang"/>
              </a:rPr>
              <a:t>논리적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장애에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대한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 spc="-35">
                <a:latin typeface="Batang"/>
                <a:cs typeface="Batang"/>
              </a:rPr>
              <a:t>보호</a:t>
            </a:r>
            <a:endParaRPr sz="1200">
              <a:latin typeface="Batang"/>
              <a:cs typeface="Batang"/>
            </a:endParaRPr>
          </a:p>
          <a:p>
            <a:pPr marL="253365" indent="-240665">
              <a:lnSpc>
                <a:spcPct val="100000"/>
              </a:lnSpc>
              <a:spcBef>
                <a:spcPts val="300"/>
              </a:spcBef>
              <a:buFont typeface="MS PGothic"/>
              <a:buChar char="◗"/>
              <a:tabLst>
                <a:tab pos="253365" algn="l"/>
              </a:tabLst>
            </a:pPr>
            <a:r>
              <a:rPr dirty="0" sz="1200">
                <a:latin typeface="Batang"/>
                <a:cs typeface="Batang"/>
              </a:rPr>
              <a:t>백업이나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스냅샷을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통한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백업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시점으로의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 spc="-25">
                <a:latin typeface="Batang"/>
                <a:cs typeface="Batang"/>
              </a:rPr>
              <a:t>복원</a:t>
            </a:r>
            <a:endParaRPr sz="1200">
              <a:latin typeface="Batang"/>
              <a:cs typeface="Batang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70598" y="2305051"/>
            <a:ext cx="4956175" cy="126365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dirty="0" sz="1500" spc="-25">
                <a:latin typeface="Arial"/>
                <a:cs typeface="Arial"/>
              </a:rPr>
              <a:t>Regional</a:t>
            </a:r>
            <a:r>
              <a:rPr dirty="0" sz="1500" spc="-1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or</a:t>
            </a:r>
            <a:r>
              <a:rPr dirty="0" sz="1500" spc="-10">
                <a:latin typeface="Arial"/>
                <a:cs typeface="Arial"/>
              </a:rPr>
              <a:t> </a:t>
            </a:r>
            <a:r>
              <a:rPr dirty="0" sz="1500" spc="-50">
                <a:latin typeface="Arial"/>
                <a:cs typeface="Arial"/>
              </a:rPr>
              <a:t>WAN</a:t>
            </a:r>
            <a:r>
              <a:rPr dirty="0" sz="1500" spc="-1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(Wide</a:t>
            </a:r>
            <a:r>
              <a:rPr dirty="0" sz="1500" spc="-1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Area</a:t>
            </a:r>
            <a:r>
              <a:rPr dirty="0" sz="1500" spc="-1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Network)</a:t>
            </a:r>
            <a:r>
              <a:rPr dirty="0" sz="1500" spc="-1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DR</a:t>
            </a:r>
            <a:endParaRPr sz="15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310"/>
              </a:spcBef>
              <a:buFont typeface="MS PGothic"/>
              <a:buChar char="◗"/>
              <a:tabLst>
                <a:tab pos="253365" algn="l"/>
              </a:tabLst>
            </a:pPr>
            <a:r>
              <a:rPr dirty="0" sz="1200">
                <a:latin typeface="Batang"/>
                <a:cs typeface="Batang"/>
              </a:rPr>
              <a:t>데이터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센터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장애에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대한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 spc="-25">
                <a:latin typeface="Batang"/>
                <a:cs typeface="Batang"/>
              </a:rPr>
              <a:t>보호</a:t>
            </a:r>
            <a:endParaRPr sz="1200">
              <a:latin typeface="Batang"/>
              <a:cs typeface="Batang"/>
            </a:endParaRPr>
          </a:p>
          <a:p>
            <a:pPr marL="253365" indent="-240665">
              <a:lnSpc>
                <a:spcPct val="100000"/>
              </a:lnSpc>
              <a:spcBef>
                <a:spcPts val="300"/>
              </a:spcBef>
              <a:buFont typeface="MS PGothic"/>
              <a:buChar char="◗"/>
              <a:tabLst>
                <a:tab pos="253365" algn="l"/>
              </a:tabLst>
            </a:pPr>
            <a:r>
              <a:rPr dirty="0" sz="1200">
                <a:latin typeface="Batang"/>
                <a:cs typeface="Batang"/>
              </a:rPr>
              <a:t>원격</a:t>
            </a:r>
            <a:r>
              <a:rPr dirty="0" sz="1200" spc="-95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사이트의</a:t>
            </a:r>
            <a:r>
              <a:rPr dirty="0" sz="1200" spc="-95">
                <a:latin typeface="Batang"/>
                <a:cs typeface="Batang"/>
              </a:rPr>
              <a:t> </a:t>
            </a:r>
            <a:r>
              <a:rPr dirty="0" sz="1200">
                <a:latin typeface="Arial"/>
                <a:cs typeface="Arial"/>
              </a:rPr>
              <a:t>Standby(HA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Batang"/>
                <a:cs typeface="Batang"/>
              </a:rPr>
              <a:t>구성</a:t>
            </a:r>
            <a:r>
              <a:rPr dirty="0" sz="1200">
                <a:latin typeface="Arial"/>
                <a:cs typeface="Arial"/>
              </a:rPr>
              <a:t>)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Batang"/>
                <a:cs typeface="Batang"/>
              </a:rPr>
              <a:t>또는</a:t>
            </a:r>
            <a:r>
              <a:rPr dirty="0" sz="1200" spc="-95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비동기</a:t>
            </a:r>
            <a:r>
              <a:rPr dirty="0" sz="1200" spc="-9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핫사이트로의</a:t>
            </a:r>
            <a:r>
              <a:rPr dirty="0" sz="1200" spc="-95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자동</a:t>
            </a:r>
            <a:r>
              <a:rPr dirty="0" sz="1200" spc="-95">
                <a:latin typeface="Batang"/>
                <a:cs typeface="Batang"/>
              </a:rPr>
              <a:t> </a:t>
            </a:r>
            <a:r>
              <a:rPr dirty="0" sz="1200" spc="-25">
                <a:latin typeface="Batang"/>
                <a:cs typeface="Batang"/>
              </a:rPr>
              <a:t>전환</a:t>
            </a:r>
            <a:endParaRPr sz="12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20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Arial"/>
                <a:cs typeface="Arial"/>
              </a:rPr>
              <a:t>Metro</a:t>
            </a:r>
            <a:r>
              <a:rPr dirty="0" sz="1500" spc="70">
                <a:latin typeface="Arial"/>
                <a:cs typeface="Arial"/>
              </a:rPr>
              <a:t> </a:t>
            </a:r>
            <a:r>
              <a:rPr dirty="0" sz="1500" spc="-75">
                <a:latin typeface="Arial"/>
                <a:cs typeface="Arial"/>
              </a:rPr>
              <a:t>DR</a:t>
            </a:r>
            <a:r>
              <a:rPr dirty="0" sz="1500" spc="7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(Stretch</a:t>
            </a:r>
            <a:r>
              <a:rPr dirty="0" sz="1500" spc="7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Cluster)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70598" y="3544823"/>
            <a:ext cx="4253865" cy="467359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400"/>
              </a:spcBef>
              <a:buFont typeface="MS PGothic"/>
              <a:buChar char="◗"/>
              <a:tabLst>
                <a:tab pos="253365" algn="l"/>
              </a:tabLst>
            </a:pPr>
            <a:r>
              <a:rPr dirty="0" sz="1200" spc="-35">
                <a:latin typeface="Arial"/>
                <a:cs typeface="Arial"/>
              </a:rPr>
              <a:t>HW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>
                <a:latin typeface="Batang"/>
                <a:cs typeface="Batang"/>
              </a:rPr>
              <a:t>장애에</a:t>
            </a:r>
            <a:r>
              <a:rPr dirty="0" sz="1200" spc="-114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대한</a:t>
            </a:r>
            <a:r>
              <a:rPr dirty="0" sz="1200" spc="-114">
                <a:latin typeface="Batang"/>
                <a:cs typeface="Batang"/>
              </a:rPr>
              <a:t> </a:t>
            </a:r>
            <a:r>
              <a:rPr dirty="0" sz="1200" spc="-25">
                <a:latin typeface="Batang"/>
                <a:cs typeface="Batang"/>
              </a:rPr>
              <a:t>보호</a:t>
            </a:r>
            <a:endParaRPr sz="1200">
              <a:latin typeface="Batang"/>
              <a:cs typeface="Batang"/>
            </a:endParaRPr>
          </a:p>
          <a:p>
            <a:pPr marL="253365" indent="-240665">
              <a:lnSpc>
                <a:spcPct val="100000"/>
              </a:lnSpc>
              <a:spcBef>
                <a:spcPts val="300"/>
              </a:spcBef>
              <a:buFont typeface="MS PGothic"/>
              <a:buChar char="◗"/>
              <a:tabLst>
                <a:tab pos="253365" algn="l"/>
              </a:tabLst>
            </a:pPr>
            <a:r>
              <a:rPr dirty="0" sz="1200">
                <a:latin typeface="Batang"/>
                <a:cs typeface="Batang"/>
              </a:rPr>
              <a:t>다중</a:t>
            </a:r>
            <a:r>
              <a:rPr dirty="0" sz="1200" spc="-12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가용성</a:t>
            </a:r>
            <a:r>
              <a:rPr dirty="0" sz="1200" spc="-114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영역으로</a:t>
            </a:r>
            <a:r>
              <a:rPr dirty="0" sz="1200" spc="-114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클러스터를</a:t>
            </a:r>
            <a:r>
              <a:rPr dirty="0" sz="1200" spc="-114">
                <a:latin typeface="Batang"/>
                <a:cs typeface="Batang"/>
              </a:rPr>
              <a:t> </a:t>
            </a:r>
            <a:r>
              <a:rPr dirty="0" sz="1200" spc="-10">
                <a:latin typeface="Batang"/>
                <a:cs typeface="Batang"/>
              </a:rPr>
              <a:t>구성하고</a:t>
            </a:r>
            <a:r>
              <a:rPr dirty="0" sz="1200" spc="-10">
                <a:latin typeface="Arial"/>
                <a:cs typeface="Arial"/>
              </a:rPr>
              <a:t>,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AZ</a:t>
            </a:r>
            <a:r>
              <a:rPr dirty="0" sz="1200" spc="-10">
                <a:latin typeface="Batang"/>
                <a:cs typeface="Batang"/>
              </a:rPr>
              <a:t>로</a:t>
            </a:r>
            <a:r>
              <a:rPr dirty="0" sz="1200" spc="-114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자동</a:t>
            </a:r>
            <a:r>
              <a:rPr dirty="0" sz="1200" spc="-114">
                <a:latin typeface="Batang"/>
                <a:cs typeface="Batang"/>
              </a:rPr>
              <a:t> </a:t>
            </a:r>
            <a:r>
              <a:rPr dirty="0" sz="1200" spc="-25">
                <a:latin typeface="Batang"/>
                <a:cs typeface="Batang"/>
              </a:rPr>
              <a:t>전환</a:t>
            </a:r>
            <a:endParaRPr sz="1200">
              <a:latin typeface="Batang"/>
              <a:cs typeface="Batang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33060" y="1170165"/>
            <a:ext cx="1009015" cy="1009015"/>
            <a:chOff x="833060" y="1170165"/>
            <a:chExt cx="1009015" cy="100901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060" y="1170165"/>
              <a:ext cx="1008577" cy="100857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052290" y="1476677"/>
              <a:ext cx="527685" cy="568960"/>
            </a:xfrm>
            <a:custGeom>
              <a:avLst/>
              <a:gdLst/>
              <a:ahLst/>
              <a:cxnLst/>
              <a:rect l="l" t="t" r="r" b="b"/>
              <a:pathLst>
                <a:path w="527685" h="568960">
                  <a:moveTo>
                    <a:pt x="0" y="284399"/>
                  </a:moveTo>
                  <a:lnTo>
                    <a:pt x="4248" y="233278"/>
                  </a:lnTo>
                  <a:lnTo>
                    <a:pt x="16497" y="185163"/>
                  </a:lnTo>
                  <a:lnTo>
                    <a:pt x="36002" y="140857"/>
                  </a:lnTo>
                  <a:lnTo>
                    <a:pt x="62018" y="101164"/>
                  </a:lnTo>
                  <a:lnTo>
                    <a:pt x="93801" y="66887"/>
                  </a:lnTo>
                  <a:lnTo>
                    <a:pt x="130605" y="38828"/>
                  </a:lnTo>
                  <a:lnTo>
                    <a:pt x="171686" y="17792"/>
                  </a:lnTo>
                  <a:lnTo>
                    <a:pt x="216299" y="4582"/>
                  </a:lnTo>
                  <a:lnTo>
                    <a:pt x="263699" y="0"/>
                  </a:lnTo>
                  <a:lnTo>
                    <a:pt x="315384" y="5515"/>
                  </a:lnTo>
                  <a:lnTo>
                    <a:pt x="364612" y="21648"/>
                  </a:lnTo>
                  <a:lnTo>
                    <a:pt x="410000" y="47782"/>
                  </a:lnTo>
                  <a:lnTo>
                    <a:pt x="450164" y="83299"/>
                  </a:lnTo>
                  <a:lnTo>
                    <a:pt x="483094" y="126615"/>
                  </a:lnTo>
                  <a:lnTo>
                    <a:pt x="507326" y="175564"/>
                  </a:lnTo>
                  <a:lnTo>
                    <a:pt x="522285" y="228656"/>
                  </a:lnTo>
                  <a:lnTo>
                    <a:pt x="527398" y="284399"/>
                  </a:lnTo>
                  <a:lnTo>
                    <a:pt x="523150" y="335520"/>
                  </a:lnTo>
                  <a:lnTo>
                    <a:pt x="510901" y="383635"/>
                  </a:lnTo>
                  <a:lnTo>
                    <a:pt x="491396" y="427941"/>
                  </a:lnTo>
                  <a:lnTo>
                    <a:pt x="465380" y="467634"/>
                  </a:lnTo>
                  <a:lnTo>
                    <a:pt x="433597" y="501911"/>
                  </a:lnTo>
                  <a:lnTo>
                    <a:pt x="396793" y="529970"/>
                  </a:lnTo>
                  <a:lnTo>
                    <a:pt x="355712" y="551006"/>
                  </a:lnTo>
                  <a:lnTo>
                    <a:pt x="311099" y="564216"/>
                  </a:lnTo>
                  <a:lnTo>
                    <a:pt x="263699" y="568798"/>
                  </a:lnTo>
                  <a:lnTo>
                    <a:pt x="216299" y="564216"/>
                  </a:lnTo>
                  <a:lnTo>
                    <a:pt x="171686" y="551006"/>
                  </a:lnTo>
                  <a:lnTo>
                    <a:pt x="130605" y="529970"/>
                  </a:lnTo>
                  <a:lnTo>
                    <a:pt x="93801" y="501911"/>
                  </a:lnTo>
                  <a:lnTo>
                    <a:pt x="62018" y="467634"/>
                  </a:lnTo>
                  <a:lnTo>
                    <a:pt x="36002" y="427941"/>
                  </a:lnTo>
                  <a:lnTo>
                    <a:pt x="16497" y="383635"/>
                  </a:lnTo>
                  <a:lnTo>
                    <a:pt x="4248" y="335520"/>
                  </a:lnTo>
                  <a:lnTo>
                    <a:pt x="0" y="284399"/>
                  </a:lnTo>
                  <a:close/>
                </a:path>
                <a:path w="527685" h="568960">
                  <a:moveTo>
                    <a:pt x="131849" y="284399"/>
                  </a:moveTo>
                  <a:lnTo>
                    <a:pt x="138571" y="332616"/>
                  </a:lnTo>
                  <a:lnTo>
                    <a:pt x="157288" y="374492"/>
                  </a:lnTo>
                  <a:lnTo>
                    <a:pt x="185830" y="407515"/>
                  </a:lnTo>
                  <a:lnTo>
                    <a:pt x="222024" y="429171"/>
                  </a:lnTo>
                  <a:lnTo>
                    <a:pt x="263699" y="436949"/>
                  </a:lnTo>
                  <a:lnTo>
                    <a:pt x="305373" y="429171"/>
                  </a:lnTo>
                  <a:lnTo>
                    <a:pt x="341567" y="407515"/>
                  </a:lnTo>
                  <a:lnTo>
                    <a:pt x="370109" y="374492"/>
                  </a:lnTo>
                  <a:lnTo>
                    <a:pt x="388827" y="332616"/>
                  </a:lnTo>
                  <a:lnTo>
                    <a:pt x="395549" y="284399"/>
                  </a:lnTo>
                  <a:lnTo>
                    <a:pt x="388827" y="236182"/>
                  </a:lnTo>
                  <a:lnTo>
                    <a:pt x="370109" y="194306"/>
                  </a:lnTo>
                  <a:lnTo>
                    <a:pt x="341567" y="161283"/>
                  </a:lnTo>
                  <a:lnTo>
                    <a:pt x="305373" y="139626"/>
                  </a:lnTo>
                  <a:lnTo>
                    <a:pt x="263699" y="131849"/>
                  </a:lnTo>
                  <a:lnTo>
                    <a:pt x="222024" y="139626"/>
                  </a:lnTo>
                  <a:lnTo>
                    <a:pt x="185830" y="161283"/>
                  </a:lnTo>
                  <a:lnTo>
                    <a:pt x="157288" y="194306"/>
                  </a:lnTo>
                  <a:lnTo>
                    <a:pt x="138571" y="236182"/>
                  </a:lnTo>
                  <a:lnTo>
                    <a:pt x="131849" y="284399"/>
                  </a:lnTo>
                  <a:close/>
                </a:path>
              </a:pathLst>
            </a:custGeom>
            <a:ln w="25399">
              <a:solidFill>
                <a:srgbClr val="BA7C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183504" y="1415126"/>
            <a:ext cx="372745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50" b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41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47535" y="3333818"/>
            <a:ext cx="994410" cy="876935"/>
            <a:chOff x="847535" y="3333818"/>
            <a:chExt cx="994410" cy="876935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535" y="3333818"/>
              <a:ext cx="994102" cy="876798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103247" y="3647467"/>
              <a:ext cx="476884" cy="453390"/>
            </a:xfrm>
            <a:custGeom>
              <a:avLst/>
              <a:gdLst/>
              <a:ahLst/>
              <a:cxnLst/>
              <a:rect l="l" t="t" r="r" b="b"/>
              <a:pathLst>
                <a:path w="476884" h="453389">
                  <a:moveTo>
                    <a:pt x="0" y="226649"/>
                  </a:moveTo>
                  <a:lnTo>
                    <a:pt x="4838" y="180971"/>
                  </a:lnTo>
                  <a:lnTo>
                    <a:pt x="18716" y="138427"/>
                  </a:lnTo>
                  <a:lnTo>
                    <a:pt x="40674" y="99927"/>
                  </a:lnTo>
                  <a:lnTo>
                    <a:pt x="69756" y="66384"/>
                  </a:lnTo>
                  <a:lnTo>
                    <a:pt x="105003" y="38708"/>
                  </a:lnTo>
                  <a:lnTo>
                    <a:pt x="145459" y="17811"/>
                  </a:lnTo>
                  <a:lnTo>
                    <a:pt x="190164" y="4604"/>
                  </a:lnTo>
                  <a:lnTo>
                    <a:pt x="238162" y="0"/>
                  </a:lnTo>
                  <a:lnTo>
                    <a:pt x="284842" y="4394"/>
                  </a:lnTo>
                  <a:lnTo>
                    <a:pt x="329303" y="17249"/>
                  </a:lnTo>
                  <a:lnTo>
                    <a:pt x="370295" y="38074"/>
                  </a:lnTo>
                  <a:lnTo>
                    <a:pt x="406569" y="66374"/>
                  </a:lnTo>
                  <a:lnTo>
                    <a:pt x="436311" y="100902"/>
                  </a:lnTo>
                  <a:lnTo>
                    <a:pt x="458195" y="139912"/>
                  </a:lnTo>
                  <a:lnTo>
                    <a:pt x="471705" y="182221"/>
                  </a:lnTo>
                  <a:lnTo>
                    <a:pt x="476324" y="226649"/>
                  </a:lnTo>
                  <a:lnTo>
                    <a:pt x="471485" y="272318"/>
                  </a:lnTo>
                  <a:lnTo>
                    <a:pt x="457608" y="314857"/>
                  </a:lnTo>
                  <a:lnTo>
                    <a:pt x="435650" y="353352"/>
                  </a:lnTo>
                  <a:lnTo>
                    <a:pt x="406568" y="386892"/>
                  </a:lnTo>
                  <a:lnTo>
                    <a:pt x="371321" y="414567"/>
                  </a:lnTo>
                  <a:lnTo>
                    <a:pt x="330866" y="435463"/>
                  </a:lnTo>
                  <a:lnTo>
                    <a:pt x="286160" y="448669"/>
                  </a:lnTo>
                  <a:lnTo>
                    <a:pt x="238162" y="453274"/>
                  </a:lnTo>
                  <a:lnTo>
                    <a:pt x="190164" y="448669"/>
                  </a:lnTo>
                  <a:lnTo>
                    <a:pt x="145459" y="435463"/>
                  </a:lnTo>
                  <a:lnTo>
                    <a:pt x="105003" y="414567"/>
                  </a:lnTo>
                  <a:lnTo>
                    <a:pt x="69756" y="386892"/>
                  </a:lnTo>
                  <a:lnTo>
                    <a:pt x="40674" y="353352"/>
                  </a:lnTo>
                  <a:lnTo>
                    <a:pt x="18716" y="314857"/>
                  </a:lnTo>
                  <a:lnTo>
                    <a:pt x="4838" y="272318"/>
                  </a:lnTo>
                  <a:lnTo>
                    <a:pt x="0" y="226649"/>
                  </a:lnTo>
                  <a:close/>
                </a:path>
                <a:path w="476884" h="453389">
                  <a:moveTo>
                    <a:pt x="113314" y="226649"/>
                  </a:moveTo>
                  <a:lnTo>
                    <a:pt x="123126" y="270751"/>
                  </a:lnTo>
                  <a:lnTo>
                    <a:pt x="149882" y="306765"/>
                  </a:lnTo>
                  <a:lnTo>
                    <a:pt x="189566" y="331045"/>
                  </a:lnTo>
                  <a:lnTo>
                    <a:pt x="238162" y="339949"/>
                  </a:lnTo>
                  <a:lnTo>
                    <a:pt x="286758" y="331045"/>
                  </a:lnTo>
                  <a:lnTo>
                    <a:pt x="326442" y="306765"/>
                  </a:lnTo>
                  <a:lnTo>
                    <a:pt x="353198" y="270751"/>
                  </a:lnTo>
                  <a:lnTo>
                    <a:pt x="363009" y="226649"/>
                  </a:lnTo>
                  <a:lnTo>
                    <a:pt x="353198" y="182533"/>
                  </a:lnTo>
                  <a:lnTo>
                    <a:pt x="326442" y="146512"/>
                  </a:lnTo>
                  <a:lnTo>
                    <a:pt x="286758" y="122228"/>
                  </a:lnTo>
                  <a:lnTo>
                    <a:pt x="238162" y="113324"/>
                  </a:lnTo>
                  <a:lnTo>
                    <a:pt x="189566" y="122228"/>
                  </a:lnTo>
                  <a:lnTo>
                    <a:pt x="149882" y="146512"/>
                  </a:lnTo>
                  <a:lnTo>
                    <a:pt x="123126" y="182533"/>
                  </a:lnTo>
                  <a:lnTo>
                    <a:pt x="113314" y="226649"/>
                  </a:lnTo>
                  <a:close/>
                </a:path>
              </a:pathLst>
            </a:custGeom>
            <a:ln w="25399">
              <a:solidFill>
                <a:srgbClr val="BA7C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226976" y="3528160"/>
            <a:ext cx="372745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50" b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410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6828" y="2300195"/>
            <a:ext cx="1300159" cy="838354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059616" y="631205"/>
            <a:ext cx="3025140" cy="322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000000"/>
                </a:solidFill>
                <a:latin typeface="Batang"/>
                <a:cs typeface="Batang"/>
              </a:rPr>
              <a:t>실제</a:t>
            </a:r>
            <a:r>
              <a:rPr dirty="0" sz="1950" spc="-11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dirty="0" sz="1950">
                <a:solidFill>
                  <a:srgbClr val="000000"/>
                </a:solidFill>
                <a:latin typeface="Batang"/>
                <a:cs typeface="Batang"/>
              </a:rPr>
              <a:t>사용</a:t>
            </a:r>
            <a:r>
              <a:rPr dirty="0" sz="1950" spc="-11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dirty="0" sz="1950">
                <a:solidFill>
                  <a:srgbClr val="000000"/>
                </a:solidFill>
                <a:latin typeface="Batang"/>
                <a:cs typeface="Batang"/>
              </a:rPr>
              <a:t>사례</a:t>
            </a:r>
            <a:r>
              <a:rPr dirty="0" sz="1950" spc="-11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dirty="0" sz="1950">
                <a:solidFill>
                  <a:srgbClr val="000000"/>
                </a:solidFill>
                <a:latin typeface="Batang"/>
                <a:cs typeface="Batang"/>
              </a:rPr>
              <a:t>및</a:t>
            </a:r>
            <a:r>
              <a:rPr dirty="0" sz="1950" spc="-110">
                <a:solidFill>
                  <a:srgbClr val="000000"/>
                </a:solidFill>
                <a:latin typeface="Batang"/>
                <a:cs typeface="Batang"/>
              </a:rPr>
              <a:t> </a:t>
            </a:r>
            <a:r>
              <a:rPr dirty="0" sz="1950" spc="-20">
                <a:solidFill>
                  <a:srgbClr val="000000"/>
                </a:solidFill>
                <a:latin typeface="Batang"/>
                <a:cs typeface="Batang"/>
              </a:rPr>
              <a:t>시나리오</a:t>
            </a:r>
            <a:endParaRPr sz="1950">
              <a:latin typeface="Batang"/>
              <a:cs typeface="Batang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48170" y="274070"/>
            <a:ext cx="10433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OpenShift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35">
                <a:latin typeface="Arial"/>
                <a:cs typeface="Arial"/>
              </a:rPr>
              <a:t>DR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Overview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067005" y="1309684"/>
          <a:ext cx="6815455" cy="3463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130"/>
                <a:gridCol w="1972310"/>
                <a:gridCol w="2018030"/>
                <a:gridCol w="1826260"/>
              </a:tblGrid>
              <a:tr h="521334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Solution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13906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OADP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Operator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Backup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Recovery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 (Cold 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DR)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marR="249554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0">
                          <a:latin typeface="Arial"/>
                          <a:cs typeface="Arial"/>
                        </a:rPr>
                        <a:t>Regional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Disaster</a:t>
                      </a:r>
                      <a:r>
                        <a:rPr dirty="0" sz="11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Recovery (Warm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DR)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marR="22288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Metro</a:t>
                      </a:r>
                      <a:r>
                        <a:rPr dirty="0" sz="11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Disaster</a:t>
                      </a:r>
                      <a:r>
                        <a:rPr dirty="0" sz="11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Recovery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(Hot</a:t>
                      </a:r>
                      <a:r>
                        <a:rPr dirty="0" sz="1100" spc="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DR)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3591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RPO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Mid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(mins/hours/days)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Low</a:t>
                      </a:r>
                      <a:r>
                        <a:rPr dirty="0" sz="11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(mins/hours)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Near</a:t>
                      </a:r>
                      <a:r>
                        <a:rPr dirty="0" sz="11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Zero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3591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Arial"/>
                          <a:cs typeface="Arial"/>
                        </a:rPr>
                        <a:t>RTO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Mid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(mins/hours/days)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Low</a:t>
                      </a:r>
                      <a:r>
                        <a:rPr dirty="0" sz="11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(mins/hours)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Low</a:t>
                      </a:r>
                      <a:r>
                        <a:rPr dirty="0" sz="11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(mins)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227012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Product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215817" y="3443881"/>
            <a:ext cx="723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 b="1"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30461" y="547135"/>
            <a:ext cx="473392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Red</a:t>
            </a:r>
            <a:r>
              <a:rPr dirty="0" spc="-130"/>
              <a:t> </a:t>
            </a:r>
            <a:r>
              <a:rPr dirty="0"/>
              <a:t>Hat</a:t>
            </a:r>
            <a:r>
              <a:rPr dirty="0">
                <a:latin typeface="Batang"/>
                <a:cs typeface="Batang"/>
              </a:rPr>
              <a:t>이</a:t>
            </a:r>
            <a:r>
              <a:rPr dirty="0" spc="-240">
                <a:latin typeface="Batang"/>
                <a:cs typeface="Batang"/>
              </a:rPr>
              <a:t> </a:t>
            </a:r>
            <a:r>
              <a:rPr dirty="0">
                <a:latin typeface="Batang"/>
                <a:cs typeface="Batang"/>
              </a:rPr>
              <a:t>제공하는</a:t>
            </a:r>
            <a:r>
              <a:rPr dirty="0" spc="-240">
                <a:latin typeface="Batang"/>
                <a:cs typeface="Batang"/>
              </a:rPr>
              <a:t> </a:t>
            </a:r>
            <a:r>
              <a:rPr dirty="0">
                <a:latin typeface="Batang"/>
                <a:cs typeface="Batang"/>
              </a:rPr>
              <a:t>솔루션</a:t>
            </a:r>
            <a:r>
              <a:rPr dirty="0" spc="-245">
                <a:latin typeface="Batang"/>
                <a:cs typeface="Batang"/>
              </a:rPr>
              <a:t> </a:t>
            </a:r>
            <a:r>
              <a:rPr dirty="0">
                <a:latin typeface="Batang"/>
                <a:cs typeface="Batang"/>
              </a:rPr>
              <a:t>및</a:t>
            </a:r>
            <a:r>
              <a:rPr dirty="0" spc="-240">
                <a:latin typeface="Batang"/>
                <a:cs typeface="Batang"/>
              </a:rPr>
              <a:t> </a:t>
            </a:r>
            <a:r>
              <a:rPr dirty="0">
                <a:latin typeface="Batang"/>
                <a:cs typeface="Batang"/>
              </a:rPr>
              <a:t>관련</a:t>
            </a:r>
            <a:r>
              <a:rPr dirty="0" spc="-245">
                <a:latin typeface="Batang"/>
                <a:cs typeface="Batang"/>
              </a:rPr>
              <a:t> </a:t>
            </a:r>
            <a:r>
              <a:rPr dirty="0" spc="-25">
                <a:latin typeface="Batang"/>
                <a:cs typeface="Batang"/>
              </a:rPr>
              <a:t>제품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498" y="2728274"/>
            <a:ext cx="1368107" cy="436219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4245291" y="2628024"/>
            <a:ext cx="1383665" cy="1516380"/>
            <a:chOff x="4245291" y="2628024"/>
            <a:chExt cx="1383665" cy="151638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5291" y="3093468"/>
              <a:ext cx="1287672" cy="4361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5291" y="2628024"/>
              <a:ext cx="1368107" cy="43621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5291" y="3572392"/>
              <a:ext cx="1383437" cy="571473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40762" y="4201121"/>
            <a:ext cx="1089075" cy="304744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6140762" y="2628024"/>
            <a:ext cx="1383665" cy="1516380"/>
            <a:chOff x="6140762" y="2628024"/>
            <a:chExt cx="1383665" cy="1516380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0762" y="3093468"/>
              <a:ext cx="1287672" cy="43619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0762" y="2628024"/>
              <a:ext cx="1368107" cy="43621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0762" y="3572392"/>
              <a:ext cx="1383437" cy="571473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811253" y="962335"/>
            <a:ext cx="713803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1620" indent="-248920">
              <a:lnSpc>
                <a:spcPct val="100000"/>
              </a:lnSpc>
              <a:spcBef>
                <a:spcPts val="100"/>
              </a:spcBef>
              <a:buChar char="●"/>
              <a:tabLst>
                <a:tab pos="261620" algn="l"/>
              </a:tabLst>
            </a:pPr>
            <a:r>
              <a:rPr dirty="0" sz="1100" spc="-35">
                <a:latin typeface="Arial"/>
                <a:cs typeface="Arial"/>
              </a:rPr>
              <a:t>Red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Hat</a:t>
            </a:r>
            <a:r>
              <a:rPr dirty="0" sz="1100">
                <a:latin typeface="Batang"/>
                <a:cs typeface="Batang"/>
              </a:rPr>
              <a:t>은</a:t>
            </a:r>
            <a:r>
              <a:rPr dirty="0" sz="1100" spc="-65">
                <a:latin typeface="Batang"/>
                <a:cs typeface="Batang"/>
              </a:rPr>
              <a:t> </a:t>
            </a:r>
            <a:r>
              <a:rPr dirty="0" sz="1100">
                <a:latin typeface="Arial"/>
                <a:cs typeface="Arial"/>
              </a:rPr>
              <a:t>OCP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클러스터의</a:t>
            </a:r>
            <a:r>
              <a:rPr dirty="0" sz="1100" spc="4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재해복구</a:t>
            </a:r>
            <a:r>
              <a:rPr dirty="0" sz="1100">
                <a:latin typeface="Arial"/>
                <a:cs typeface="Arial"/>
              </a:rPr>
              <a:t>(Disaster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Recovery)</a:t>
            </a:r>
            <a:r>
              <a:rPr dirty="0" sz="1100" spc="-10">
                <a:latin typeface="Batang"/>
                <a:cs typeface="Batang"/>
              </a:rPr>
              <a:t>에</a:t>
            </a:r>
            <a:r>
              <a:rPr dirty="0" sz="1100" spc="-7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대해</a:t>
            </a:r>
            <a:r>
              <a:rPr dirty="0" sz="1100" spc="-35">
                <a:latin typeface="Batang"/>
                <a:cs typeface="Batang"/>
              </a:rPr>
              <a:t> </a:t>
            </a:r>
            <a:r>
              <a:rPr dirty="0" sz="1100" spc="-10">
                <a:latin typeface="Arial"/>
                <a:cs typeface="Arial"/>
              </a:rPr>
              <a:t>RPO/RTO</a:t>
            </a:r>
            <a:r>
              <a:rPr dirty="0" sz="1100" spc="-10">
                <a:latin typeface="Batang"/>
                <a:cs typeface="Batang"/>
              </a:rPr>
              <a:t>에</a:t>
            </a:r>
            <a:r>
              <a:rPr dirty="0" sz="1100" spc="-7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따른</a:t>
            </a:r>
            <a:r>
              <a:rPr dirty="0" sz="1100" spc="-4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여러</a:t>
            </a:r>
            <a:r>
              <a:rPr dirty="0" sz="1100" spc="-4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솔루션을</a:t>
            </a:r>
            <a:r>
              <a:rPr dirty="0" sz="1100" spc="15">
                <a:latin typeface="Batang"/>
                <a:cs typeface="Batang"/>
              </a:rPr>
              <a:t> </a:t>
            </a:r>
            <a:r>
              <a:rPr dirty="0" sz="1100" spc="-10">
                <a:latin typeface="Batang"/>
                <a:cs typeface="Batang"/>
              </a:rPr>
              <a:t>제공합니다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48170" y="274070"/>
            <a:ext cx="10433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Arial"/>
                <a:cs typeface="Arial"/>
              </a:rPr>
              <a:t>OpenShift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35">
                <a:latin typeface="Arial"/>
                <a:cs typeface="Arial"/>
              </a:rPr>
              <a:t>DR</a:t>
            </a:r>
            <a:r>
              <a:rPr dirty="0" sz="750" spc="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Overview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13529" y="356003"/>
            <a:ext cx="871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RPO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Days </a:t>
            </a:r>
            <a:r>
              <a:rPr dirty="0" sz="1200">
                <a:latin typeface="Arial"/>
                <a:cs typeface="Arial"/>
              </a:rPr>
              <a:t>RTO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Days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00270" y="4627671"/>
            <a:ext cx="711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Backup</a:t>
            </a:r>
            <a:r>
              <a:rPr dirty="0" spc="-125"/>
              <a:t> </a:t>
            </a:r>
            <a:r>
              <a:rPr dirty="0" spc="-30"/>
              <a:t>&amp;</a:t>
            </a:r>
            <a:r>
              <a:rPr dirty="0" spc="-125"/>
              <a:t> </a:t>
            </a:r>
            <a:r>
              <a:rPr dirty="0" spc="-10"/>
              <a:t>Restore</a:t>
            </a:r>
            <a:r>
              <a:rPr dirty="0" spc="-125"/>
              <a:t> </a:t>
            </a:r>
            <a:r>
              <a:rPr dirty="0" spc="-10"/>
              <a:t>Solution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660836" y="1545494"/>
            <a:ext cx="4145915" cy="162496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52095" indent="-14351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252095" algn="l"/>
              </a:tabLst>
            </a:pPr>
            <a:r>
              <a:rPr dirty="0" sz="1000">
                <a:latin typeface="Batang"/>
                <a:cs typeface="Batang"/>
              </a:rPr>
              <a:t>동일</a:t>
            </a:r>
            <a:r>
              <a:rPr dirty="0" sz="1000" spc="-145">
                <a:latin typeface="Batang"/>
                <a:cs typeface="Batang"/>
              </a:rPr>
              <a:t> </a:t>
            </a:r>
            <a:r>
              <a:rPr dirty="0" sz="1000">
                <a:latin typeface="Arial"/>
                <a:cs typeface="Arial"/>
              </a:rPr>
              <a:t>Primary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Batang"/>
                <a:cs typeface="Batang"/>
              </a:rPr>
              <a:t>클러스터에서의특정</a:t>
            </a:r>
            <a:r>
              <a:rPr dirty="0" sz="1000" spc="-15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시점</a:t>
            </a:r>
            <a:r>
              <a:rPr dirty="0" sz="1000">
                <a:latin typeface="Arial"/>
                <a:cs typeface="Arial"/>
              </a:rPr>
              <a:t>(</a:t>
            </a:r>
            <a:r>
              <a:rPr dirty="0" sz="1000">
                <a:latin typeface="Batang"/>
                <a:cs typeface="Batang"/>
              </a:rPr>
              <a:t>증분</a:t>
            </a:r>
            <a:r>
              <a:rPr dirty="0" sz="1000">
                <a:latin typeface="Arial"/>
                <a:cs typeface="Arial"/>
              </a:rPr>
              <a:t>)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Batang"/>
                <a:cs typeface="Batang"/>
              </a:rPr>
              <a:t>복구를</a:t>
            </a:r>
            <a:r>
              <a:rPr dirty="0" sz="1000" spc="-17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통한</a:t>
            </a:r>
            <a:r>
              <a:rPr dirty="0" sz="1000" spc="-14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신속한</a:t>
            </a:r>
            <a:r>
              <a:rPr dirty="0" sz="1000" spc="-175">
                <a:latin typeface="Batang"/>
                <a:cs typeface="Batang"/>
              </a:rPr>
              <a:t> </a:t>
            </a:r>
            <a:r>
              <a:rPr dirty="0" sz="1000" spc="-25">
                <a:latin typeface="Batang"/>
                <a:cs typeface="Batang"/>
              </a:rPr>
              <a:t>복원</a:t>
            </a:r>
            <a:endParaRPr sz="1000">
              <a:latin typeface="Batang"/>
              <a:cs typeface="Batang"/>
            </a:endParaRPr>
          </a:p>
          <a:p>
            <a:pPr marL="264795" indent="-156210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264795" algn="l"/>
              </a:tabLst>
            </a:pPr>
            <a:r>
              <a:rPr dirty="0" sz="1000">
                <a:latin typeface="Batang"/>
                <a:cs typeface="Batang"/>
              </a:rPr>
              <a:t>스토리지의</a:t>
            </a:r>
            <a:r>
              <a:rPr dirty="0" sz="1000" spc="-229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용량</a:t>
            </a:r>
            <a:r>
              <a:rPr dirty="0" sz="1000" spc="-15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및</a:t>
            </a:r>
            <a:r>
              <a:rPr dirty="0" sz="1000" spc="-13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성능</a:t>
            </a:r>
            <a:r>
              <a:rPr dirty="0" sz="1000" spc="-15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면에서의</a:t>
            </a:r>
            <a:r>
              <a:rPr dirty="0" sz="1000" spc="-200">
                <a:latin typeface="Batang"/>
                <a:cs typeface="Batang"/>
              </a:rPr>
              <a:t> </a:t>
            </a:r>
            <a:r>
              <a:rPr dirty="0" sz="1000" spc="-25">
                <a:latin typeface="Batang"/>
                <a:cs typeface="Batang"/>
              </a:rPr>
              <a:t>한계</a:t>
            </a:r>
            <a:endParaRPr sz="1000">
              <a:latin typeface="Batang"/>
              <a:cs typeface="Batang"/>
            </a:endParaRPr>
          </a:p>
          <a:p>
            <a:pPr marL="264795" indent="-156210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264795" algn="l"/>
              </a:tabLst>
            </a:pPr>
            <a:r>
              <a:rPr dirty="0" sz="1000">
                <a:latin typeface="Batang"/>
                <a:cs typeface="Batang"/>
              </a:rPr>
              <a:t>주</a:t>
            </a:r>
            <a:r>
              <a:rPr dirty="0" sz="1000" spc="-13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클러스터가</a:t>
            </a:r>
            <a:r>
              <a:rPr dirty="0" sz="1000" spc="-229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작동을</a:t>
            </a:r>
            <a:r>
              <a:rPr dirty="0" sz="1000" spc="-18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멈추면</a:t>
            </a:r>
            <a:r>
              <a:rPr dirty="0" sz="1000" spc="-18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서비스도</a:t>
            </a:r>
            <a:r>
              <a:rPr dirty="0" sz="1000" spc="-20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함께</a:t>
            </a:r>
            <a:r>
              <a:rPr dirty="0" sz="1000" spc="-155">
                <a:latin typeface="Batang"/>
                <a:cs typeface="Batang"/>
              </a:rPr>
              <a:t> </a:t>
            </a:r>
            <a:r>
              <a:rPr dirty="0" sz="1000" spc="-25">
                <a:latin typeface="Batang"/>
                <a:cs typeface="Batang"/>
              </a:rPr>
              <a:t>중단</a:t>
            </a:r>
            <a:endParaRPr sz="10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940"/>
              </a:spcBef>
              <a:buFont typeface="Arial"/>
              <a:buChar char="•"/>
            </a:pPr>
            <a:endParaRPr sz="1000">
              <a:latin typeface="Batang"/>
              <a:cs typeface="Batang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95">
                <a:latin typeface="Arial Black"/>
                <a:cs typeface="Arial Black"/>
              </a:rPr>
              <a:t>Backup</a:t>
            </a:r>
            <a:r>
              <a:rPr dirty="0" sz="1200" spc="-120">
                <a:latin typeface="Arial Black"/>
                <a:cs typeface="Arial Black"/>
              </a:rPr>
              <a:t> </a:t>
            </a:r>
            <a:r>
              <a:rPr dirty="0" sz="1200" spc="-240">
                <a:latin typeface="Arial Black"/>
                <a:cs typeface="Arial Black"/>
              </a:rPr>
              <a:t>&amp;</a:t>
            </a:r>
            <a:r>
              <a:rPr dirty="0" sz="1200" spc="-114">
                <a:latin typeface="Arial Black"/>
                <a:cs typeface="Arial Black"/>
              </a:rPr>
              <a:t> </a:t>
            </a:r>
            <a:r>
              <a:rPr dirty="0" sz="1200" spc="-10">
                <a:latin typeface="Arial Black"/>
                <a:cs typeface="Arial Black"/>
              </a:rPr>
              <a:t>Restore</a:t>
            </a:r>
            <a:endParaRPr sz="1200">
              <a:latin typeface="Arial Black"/>
              <a:cs typeface="Arial Black"/>
            </a:endParaRPr>
          </a:p>
          <a:p>
            <a:pPr marL="252095" indent="-14351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52095" algn="l"/>
              </a:tabLst>
            </a:pPr>
            <a:r>
              <a:rPr dirty="0" sz="1000">
                <a:latin typeface="Batang"/>
                <a:cs typeface="Batang"/>
              </a:rPr>
              <a:t>오브젝트</a:t>
            </a:r>
            <a:r>
              <a:rPr dirty="0" sz="1000" spc="-21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스토리지로의스냅샷을</a:t>
            </a:r>
            <a:r>
              <a:rPr dirty="0" sz="1000" spc="-19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통한</a:t>
            </a:r>
            <a:r>
              <a:rPr dirty="0" sz="1000" spc="-14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비용</a:t>
            </a:r>
            <a:r>
              <a:rPr dirty="0" sz="1000" spc="-14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절감</a:t>
            </a:r>
            <a:r>
              <a:rPr dirty="0" sz="1000" spc="-14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및</a:t>
            </a:r>
            <a:r>
              <a:rPr dirty="0" sz="1000" spc="-114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높은</a:t>
            </a:r>
            <a:r>
              <a:rPr dirty="0" sz="1000" spc="-140">
                <a:latin typeface="Batang"/>
                <a:cs typeface="Batang"/>
              </a:rPr>
              <a:t> </a:t>
            </a:r>
            <a:r>
              <a:rPr dirty="0" sz="1000" spc="-25">
                <a:latin typeface="Batang"/>
                <a:cs typeface="Batang"/>
              </a:rPr>
              <a:t>확장성</a:t>
            </a:r>
            <a:endParaRPr sz="1000">
              <a:latin typeface="Batang"/>
              <a:cs typeface="Batang"/>
            </a:endParaRPr>
          </a:p>
          <a:p>
            <a:pPr marL="252095" indent="-14351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52095" algn="l"/>
              </a:tabLst>
            </a:pPr>
            <a:r>
              <a:rPr dirty="0" sz="1000">
                <a:latin typeface="Batang"/>
                <a:cs typeface="Batang"/>
              </a:rPr>
              <a:t>백업</a:t>
            </a:r>
            <a:r>
              <a:rPr dirty="0" sz="1000" spc="-15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데이터를</a:t>
            </a:r>
            <a:r>
              <a:rPr dirty="0" sz="1000" spc="-204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로컬</a:t>
            </a:r>
            <a:r>
              <a:rPr dirty="0" sz="1000" spc="-15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또는</a:t>
            </a:r>
            <a:r>
              <a:rPr dirty="0" sz="1000" spc="-145">
                <a:latin typeface="Batang"/>
                <a:cs typeface="Batang"/>
              </a:rPr>
              <a:t> </a:t>
            </a:r>
            <a:r>
              <a:rPr dirty="0" sz="1000" spc="-50">
                <a:latin typeface="Arial"/>
                <a:cs typeface="Arial"/>
              </a:rPr>
              <a:t>DR </a:t>
            </a:r>
            <a:r>
              <a:rPr dirty="0" sz="1000">
                <a:latin typeface="Batang"/>
                <a:cs typeface="Batang"/>
              </a:rPr>
              <a:t>대책을</a:t>
            </a:r>
            <a:r>
              <a:rPr dirty="0" sz="1000" spc="-18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고려하여</a:t>
            </a:r>
            <a:r>
              <a:rPr dirty="0" sz="1000" spc="-19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원격</a:t>
            </a:r>
            <a:r>
              <a:rPr dirty="0" sz="1000" spc="-15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사이트에</a:t>
            </a:r>
            <a:r>
              <a:rPr dirty="0" sz="1000" spc="-204">
                <a:latin typeface="Batang"/>
                <a:cs typeface="Batang"/>
              </a:rPr>
              <a:t> </a:t>
            </a:r>
            <a:r>
              <a:rPr dirty="0" sz="1000" spc="-25">
                <a:latin typeface="Batang"/>
                <a:cs typeface="Batang"/>
              </a:rPr>
              <a:t>저장</a:t>
            </a:r>
            <a:endParaRPr sz="1000">
              <a:latin typeface="Batang"/>
              <a:cs typeface="Batang"/>
            </a:endParaRPr>
          </a:p>
          <a:p>
            <a:pPr marL="252095" indent="-14351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52095" algn="l"/>
              </a:tabLst>
            </a:pPr>
            <a:r>
              <a:rPr dirty="0" sz="1000">
                <a:latin typeface="Batang"/>
                <a:cs typeface="Batang"/>
              </a:rPr>
              <a:t>아카이브</a:t>
            </a:r>
            <a:r>
              <a:rPr dirty="0" sz="1000" spc="-21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요구사항으로서의장기</a:t>
            </a:r>
            <a:r>
              <a:rPr dirty="0" sz="1000" spc="-14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보존에</a:t>
            </a:r>
            <a:r>
              <a:rPr dirty="0" sz="1000" spc="-170">
                <a:latin typeface="Batang"/>
                <a:cs typeface="Batang"/>
              </a:rPr>
              <a:t> </a:t>
            </a:r>
            <a:r>
              <a:rPr dirty="0" sz="1000" spc="-25">
                <a:latin typeface="Batang"/>
                <a:cs typeface="Batang"/>
              </a:rPr>
              <a:t>최적</a:t>
            </a:r>
            <a:endParaRPr sz="1000">
              <a:latin typeface="Batang"/>
              <a:cs typeface="Batang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148" y="1465667"/>
            <a:ext cx="3715797" cy="314930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626225" y="832017"/>
            <a:ext cx="5855335" cy="708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70">
                <a:latin typeface="Arial Black"/>
                <a:cs typeface="Arial Black"/>
              </a:rPr>
              <a:t>OADP</a:t>
            </a:r>
            <a:r>
              <a:rPr dirty="0" sz="1950" spc="-200">
                <a:latin typeface="Arial Black"/>
                <a:cs typeface="Arial Black"/>
              </a:rPr>
              <a:t> </a:t>
            </a:r>
            <a:r>
              <a:rPr dirty="0" sz="1950" spc="-80">
                <a:latin typeface="Arial Black"/>
                <a:cs typeface="Arial Black"/>
              </a:rPr>
              <a:t>Operator</a:t>
            </a:r>
            <a:r>
              <a:rPr dirty="0" sz="1950" spc="-200">
                <a:latin typeface="Arial Black"/>
                <a:cs typeface="Arial Black"/>
              </a:rPr>
              <a:t> </a:t>
            </a:r>
            <a:r>
              <a:rPr dirty="0" sz="1950" spc="-145">
                <a:latin typeface="Arial Black"/>
                <a:cs typeface="Arial Black"/>
              </a:rPr>
              <a:t>Backup</a:t>
            </a:r>
            <a:r>
              <a:rPr dirty="0" sz="1950" spc="-200">
                <a:latin typeface="Arial Black"/>
                <a:cs typeface="Arial Black"/>
              </a:rPr>
              <a:t> </a:t>
            </a:r>
            <a:r>
              <a:rPr dirty="0" sz="1950" spc="-110">
                <a:latin typeface="Arial Black"/>
                <a:cs typeface="Arial Black"/>
              </a:rPr>
              <a:t>and</a:t>
            </a:r>
            <a:r>
              <a:rPr dirty="0" sz="1950" spc="-200">
                <a:latin typeface="Arial Black"/>
                <a:cs typeface="Arial Black"/>
              </a:rPr>
              <a:t> </a:t>
            </a:r>
            <a:r>
              <a:rPr dirty="0" sz="1950" spc="-135">
                <a:latin typeface="Arial Black"/>
                <a:cs typeface="Arial Black"/>
              </a:rPr>
              <a:t>Recovery</a:t>
            </a:r>
            <a:r>
              <a:rPr dirty="0" sz="1950" spc="-200">
                <a:latin typeface="Arial Black"/>
                <a:cs typeface="Arial Black"/>
              </a:rPr>
              <a:t> </a:t>
            </a:r>
            <a:r>
              <a:rPr dirty="0" sz="1950" spc="-80">
                <a:latin typeface="Arial Black"/>
                <a:cs typeface="Arial Black"/>
              </a:rPr>
              <a:t>(Cold</a:t>
            </a:r>
            <a:r>
              <a:rPr dirty="0" sz="1950" spc="-200">
                <a:latin typeface="Arial Black"/>
                <a:cs typeface="Arial Black"/>
              </a:rPr>
              <a:t> </a:t>
            </a:r>
            <a:r>
              <a:rPr dirty="0" sz="1950" spc="-25">
                <a:latin typeface="Arial Black"/>
                <a:cs typeface="Arial Black"/>
              </a:rPr>
              <a:t>DR)</a:t>
            </a:r>
            <a:endParaRPr sz="1950">
              <a:latin typeface="Arial Black"/>
              <a:cs typeface="Arial Black"/>
            </a:endParaRPr>
          </a:p>
          <a:p>
            <a:pPr marL="3046730">
              <a:lnSpc>
                <a:spcPct val="100000"/>
              </a:lnSpc>
              <a:spcBef>
                <a:spcPts val="1590"/>
              </a:spcBef>
            </a:pPr>
            <a:r>
              <a:rPr dirty="0" sz="1200" spc="-95">
                <a:latin typeface="Arial Black"/>
                <a:cs typeface="Arial Black"/>
              </a:rPr>
              <a:t>Local</a:t>
            </a:r>
            <a:r>
              <a:rPr dirty="0" sz="1200" spc="-110">
                <a:latin typeface="Arial Black"/>
                <a:cs typeface="Arial Black"/>
              </a:rPr>
              <a:t> </a:t>
            </a:r>
            <a:r>
              <a:rPr dirty="0" sz="1200" spc="-10">
                <a:latin typeface="Arial Black"/>
                <a:cs typeface="Arial Black"/>
              </a:rPr>
              <a:t>Snapshot</a:t>
            </a:r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9832" y="1871845"/>
            <a:ext cx="10737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marR="5080" indent="-114935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OpenShift</a:t>
            </a:r>
            <a:r>
              <a:rPr dirty="0" sz="1100" spc="8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native backup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utility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OpenShift</a:t>
            </a:r>
            <a:r>
              <a:rPr dirty="0" spc="-40"/>
              <a:t> </a:t>
            </a:r>
            <a:r>
              <a:rPr dirty="0" spc="-30"/>
              <a:t>API</a:t>
            </a:r>
            <a:r>
              <a:rPr dirty="0" spc="-35"/>
              <a:t> </a:t>
            </a:r>
            <a:r>
              <a:rPr dirty="0" spc="95"/>
              <a:t>for</a:t>
            </a:r>
            <a:r>
              <a:rPr dirty="0" spc="-35"/>
              <a:t> </a:t>
            </a:r>
            <a:r>
              <a:rPr dirty="0"/>
              <a:t>Data</a:t>
            </a:r>
            <a:r>
              <a:rPr dirty="0" spc="-35"/>
              <a:t> </a:t>
            </a:r>
            <a:r>
              <a:rPr dirty="0"/>
              <a:t>Protection</a:t>
            </a:r>
            <a:r>
              <a:rPr dirty="0" spc="-35"/>
              <a:t> </a:t>
            </a:r>
            <a:r>
              <a:rPr dirty="0" spc="-10"/>
              <a:t>(OADP)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69695" y="787584"/>
            <a:ext cx="7491730" cy="55118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317500" algn="l"/>
              </a:tabLst>
            </a:pPr>
            <a:r>
              <a:rPr dirty="0" sz="1000" spc="-10">
                <a:latin typeface="Arial"/>
                <a:cs typeface="Arial"/>
              </a:rPr>
              <a:t>OADP</a:t>
            </a:r>
            <a:r>
              <a:rPr dirty="0" sz="1000" spc="-10">
                <a:latin typeface="Batang"/>
                <a:cs typeface="Batang"/>
              </a:rPr>
              <a:t>는</a:t>
            </a:r>
            <a:r>
              <a:rPr dirty="0" sz="1000" spc="-120">
                <a:latin typeface="Batang"/>
                <a:cs typeface="Batang"/>
              </a:rPr>
              <a:t> </a:t>
            </a:r>
            <a:r>
              <a:rPr dirty="0" sz="1000" spc="-20">
                <a:latin typeface="Arial"/>
                <a:cs typeface="Arial"/>
              </a:rPr>
              <a:t>API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Batang"/>
                <a:cs typeface="Batang"/>
              </a:rPr>
              <a:t>오브젝트와</a:t>
            </a:r>
            <a:r>
              <a:rPr dirty="0" sz="1000" spc="-220">
                <a:latin typeface="Batang"/>
                <a:cs typeface="Batang"/>
              </a:rPr>
              <a:t> </a:t>
            </a:r>
            <a:r>
              <a:rPr dirty="0" sz="1000" spc="-20">
                <a:latin typeface="Arial"/>
                <a:cs typeface="Arial"/>
              </a:rPr>
              <a:t>PV</a:t>
            </a:r>
            <a:r>
              <a:rPr dirty="0" sz="1000" spc="-20">
                <a:latin typeface="Batang"/>
                <a:cs typeface="Batang"/>
              </a:rPr>
              <a:t>의</a:t>
            </a:r>
            <a:r>
              <a:rPr dirty="0" sz="1000" spc="-12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백업</a:t>
            </a:r>
            <a:r>
              <a:rPr dirty="0" sz="1000" spc="-14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및</a:t>
            </a:r>
            <a:r>
              <a:rPr dirty="0" sz="1000" spc="-12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복원을</a:t>
            </a:r>
            <a:r>
              <a:rPr dirty="0" sz="1000" spc="-170">
                <a:latin typeface="Batang"/>
                <a:cs typeface="Batang"/>
              </a:rPr>
              <a:t> </a:t>
            </a:r>
            <a:r>
              <a:rPr dirty="0" sz="1000" spc="-30">
                <a:latin typeface="Batang"/>
                <a:cs typeface="Batang"/>
              </a:rPr>
              <a:t>제공하며</a:t>
            </a:r>
            <a:r>
              <a:rPr dirty="0" sz="1000" spc="-30">
                <a:latin typeface="Arial"/>
                <a:cs typeface="Arial"/>
              </a:rPr>
              <a:t>,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Batang"/>
                <a:cs typeface="Batang"/>
              </a:rPr>
              <a:t>오브젝트</a:t>
            </a:r>
            <a:r>
              <a:rPr dirty="0" sz="1000" spc="-19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스토리지의</a:t>
            </a:r>
            <a:r>
              <a:rPr dirty="0" sz="1000" spc="-22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사용을</a:t>
            </a:r>
            <a:r>
              <a:rPr dirty="0" sz="1000" spc="-17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전제로</a:t>
            </a:r>
            <a:r>
              <a:rPr dirty="0" sz="1000" spc="-170">
                <a:latin typeface="Batang"/>
                <a:cs typeface="Batang"/>
              </a:rPr>
              <a:t> </a:t>
            </a:r>
            <a:r>
              <a:rPr dirty="0" sz="1000" spc="-20">
                <a:latin typeface="Batang"/>
                <a:cs typeface="Batang"/>
              </a:rPr>
              <a:t>합니다</a:t>
            </a:r>
            <a:r>
              <a:rPr dirty="0" sz="1000" spc="-2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17500" indent="-304800">
              <a:lnSpc>
                <a:spcPct val="100000"/>
              </a:lnSpc>
              <a:spcBef>
                <a:spcPts val="180"/>
              </a:spcBef>
              <a:buChar char="●"/>
              <a:tabLst>
                <a:tab pos="317500" algn="l"/>
              </a:tabLst>
            </a:pPr>
            <a:r>
              <a:rPr dirty="0" sz="1000" spc="-10">
                <a:latin typeface="Arial"/>
                <a:cs typeface="Arial"/>
              </a:rPr>
              <a:t>Backup,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Restore, </a:t>
            </a:r>
            <a:r>
              <a:rPr dirty="0" sz="1000" spc="-10">
                <a:latin typeface="Arial"/>
                <a:cs typeface="Arial"/>
              </a:rPr>
              <a:t>Scheduling</a:t>
            </a:r>
            <a:r>
              <a:rPr dirty="0" sz="1000" spc="-10">
                <a:latin typeface="Batang"/>
                <a:cs typeface="Batang"/>
              </a:rPr>
              <a:t>에</a:t>
            </a:r>
            <a:r>
              <a:rPr dirty="0" sz="1000" spc="-10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더해</a:t>
            </a:r>
            <a:r>
              <a:rPr dirty="0" sz="1000" spc="-130">
                <a:latin typeface="Batang"/>
                <a:cs typeface="Batang"/>
              </a:rPr>
              <a:t> </a:t>
            </a:r>
            <a:r>
              <a:rPr dirty="0" sz="1000">
                <a:latin typeface="Arial"/>
                <a:cs typeface="Arial"/>
              </a:rPr>
              <a:t>Hook(</a:t>
            </a:r>
            <a:r>
              <a:rPr dirty="0" sz="1000">
                <a:latin typeface="Batang"/>
                <a:cs typeface="Batang"/>
              </a:rPr>
              <a:t>특정</a:t>
            </a:r>
            <a:r>
              <a:rPr dirty="0" sz="1000" spc="-13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이벤트</a:t>
            </a:r>
            <a:r>
              <a:rPr dirty="0" sz="1000" spc="-165">
                <a:latin typeface="Batang"/>
                <a:cs typeface="Batang"/>
              </a:rPr>
              <a:t> </a:t>
            </a:r>
            <a:r>
              <a:rPr dirty="0" sz="1000" spc="-10">
                <a:latin typeface="Batang"/>
                <a:cs typeface="Batang"/>
              </a:rPr>
              <a:t>발생시</a:t>
            </a:r>
            <a:r>
              <a:rPr dirty="0" sz="1000" spc="-10">
                <a:latin typeface="Arial"/>
                <a:cs typeface="Arial"/>
              </a:rPr>
              <a:t>)</a:t>
            </a:r>
            <a:r>
              <a:rPr dirty="0" sz="1000" spc="-10">
                <a:latin typeface="Batang"/>
                <a:cs typeface="Batang"/>
              </a:rPr>
              <a:t>을</a:t>
            </a:r>
            <a:r>
              <a:rPr dirty="0" sz="1000" spc="-10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통해</a:t>
            </a:r>
            <a:r>
              <a:rPr dirty="0" sz="1000" spc="-13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백업이나</a:t>
            </a:r>
            <a:r>
              <a:rPr dirty="0" sz="1000" spc="-19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복원</a:t>
            </a:r>
            <a:r>
              <a:rPr dirty="0" sz="1000" spc="-13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전후에</a:t>
            </a:r>
            <a:r>
              <a:rPr dirty="0" sz="1000" spc="-16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임의의</a:t>
            </a:r>
            <a:r>
              <a:rPr dirty="0" sz="1000" spc="-16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명령을</a:t>
            </a:r>
            <a:r>
              <a:rPr dirty="0" sz="1000" spc="-16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실행할</a:t>
            </a:r>
            <a:r>
              <a:rPr dirty="0" sz="1000" spc="-16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수</a:t>
            </a:r>
            <a:r>
              <a:rPr dirty="0" sz="1000" spc="-11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있게</a:t>
            </a:r>
            <a:r>
              <a:rPr dirty="0" sz="1000" spc="-135">
                <a:latin typeface="Batang"/>
                <a:cs typeface="Batang"/>
              </a:rPr>
              <a:t> </a:t>
            </a:r>
            <a:r>
              <a:rPr dirty="0" sz="1000" spc="-20">
                <a:latin typeface="Batang"/>
                <a:cs typeface="Batang"/>
              </a:rPr>
              <a:t>합니다</a:t>
            </a:r>
            <a:r>
              <a:rPr dirty="0" sz="1000" spc="-2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17500" indent="-304800">
              <a:lnSpc>
                <a:spcPct val="100000"/>
              </a:lnSpc>
              <a:spcBef>
                <a:spcPts val="180"/>
              </a:spcBef>
              <a:buFont typeface="Arial"/>
              <a:buChar char="●"/>
              <a:tabLst>
                <a:tab pos="317500" algn="l"/>
              </a:tabLst>
            </a:pPr>
            <a:r>
              <a:rPr dirty="0" sz="1000">
                <a:latin typeface="Batang"/>
                <a:cs typeface="Batang"/>
              </a:rPr>
              <a:t>백엔드에</a:t>
            </a:r>
            <a:r>
              <a:rPr dirty="0" sz="1000" spc="-195">
                <a:latin typeface="Batang"/>
                <a:cs typeface="Batang"/>
              </a:rPr>
              <a:t> </a:t>
            </a:r>
            <a:r>
              <a:rPr dirty="0" sz="1000" spc="-10">
                <a:latin typeface="Arial"/>
                <a:cs typeface="Arial"/>
              </a:rPr>
              <a:t>Velero</a:t>
            </a:r>
            <a:r>
              <a:rPr dirty="0" sz="1000" spc="-10">
                <a:latin typeface="Batang"/>
                <a:cs typeface="Batang"/>
              </a:rPr>
              <a:t>를</a:t>
            </a:r>
            <a:r>
              <a:rPr dirty="0" sz="1000" spc="-12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사용하여</a:t>
            </a:r>
            <a:r>
              <a:rPr dirty="0" sz="1000" spc="-19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플러그인</a:t>
            </a:r>
            <a:r>
              <a:rPr dirty="0" sz="1000" spc="-20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형식으로</a:t>
            </a:r>
            <a:r>
              <a:rPr dirty="0" sz="1000" spc="-195">
                <a:latin typeface="Batang"/>
                <a:cs typeface="Batang"/>
              </a:rPr>
              <a:t> </a:t>
            </a:r>
            <a:r>
              <a:rPr dirty="0" sz="1000" spc="-30">
                <a:latin typeface="Batang"/>
                <a:cs typeface="Batang"/>
              </a:rPr>
              <a:t>제공되며</a:t>
            </a:r>
            <a:r>
              <a:rPr dirty="0" sz="1000" spc="-30">
                <a:latin typeface="Arial"/>
                <a:cs typeface="Arial"/>
              </a:rPr>
              <a:t>,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Velero</a:t>
            </a:r>
            <a:r>
              <a:rPr dirty="0" sz="1000" spc="-10">
                <a:latin typeface="Batang"/>
                <a:cs typeface="Batang"/>
              </a:rPr>
              <a:t>의</a:t>
            </a:r>
            <a:r>
              <a:rPr dirty="0" sz="1000" spc="-12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커스텀</a:t>
            </a:r>
            <a:r>
              <a:rPr dirty="0" sz="1000" spc="-17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플러그인을</a:t>
            </a:r>
            <a:r>
              <a:rPr dirty="0" sz="1000" spc="-225">
                <a:latin typeface="Batang"/>
                <a:cs typeface="Batang"/>
              </a:rPr>
              <a:t> </a:t>
            </a:r>
            <a:r>
              <a:rPr dirty="0" sz="1000" spc="-10">
                <a:latin typeface="Batang"/>
                <a:cs typeface="Batang"/>
              </a:rPr>
              <a:t>지원합니다</a:t>
            </a:r>
            <a:r>
              <a:rPr dirty="0" sz="1000" spc="-1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5090" y="2509895"/>
            <a:ext cx="647698" cy="64769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766241" y="3107400"/>
            <a:ext cx="2202815" cy="1198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Arial"/>
                <a:cs typeface="Arial"/>
              </a:rPr>
              <a:t>S3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Compatible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Object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Storage</a:t>
            </a:r>
            <a:endParaRPr sz="1100">
              <a:latin typeface="Arial"/>
              <a:cs typeface="Arial"/>
            </a:endParaRPr>
          </a:p>
          <a:p>
            <a:pPr marL="354965" indent="-248920">
              <a:lnSpc>
                <a:spcPct val="100000"/>
              </a:lnSpc>
              <a:buChar char="●"/>
              <a:tabLst>
                <a:tab pos="354965" algn="l"/>
              </a:tabLst>
            </a:pPr>
            <a:r>
              <a:rPr dirty="0" sz="1100" spc="-20">
                <a:latin typeface="Arial"/>
                <a:cs typeface="Arial"/>
              </a:rPr>
              <a:t>Amazon</a:t>
            </a:r>
            <a:r>
              <a:rPr dirty="0" sz="1100" spc="-25">
                <a:latin typeface="Arial"/>
                <a:cs typeface="Arial"/>
              </a:rPr>
              <a:t> S3</a:t>
            </a:r>
            <a:endParaRPr sz="1100">
              <a:latin typeface="Arial"/>
              <a:cs typeface="Arial"/>
            </a:endParaRPr>
          </a:p>
          <a:p>
            <a:pPr marL="354965" indent="-248920">
              <a:lnSpc>
                <a:spcPct val="100000"/>
              </a:lnSpc>
              <a:buChar char="●"/>
              <a:tabLst>
                <a:tab pos="354965" algn="l"/>
              </a:tabLst>
            </a:pPr>
            <a:r>
              <a:rPr dirty="0" sz="1100">
                <a:latin typeface="Arial"/>
                <a:cs typeface="Arial"/>
              </a:rPr>
              <a:t>Microsoft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Azure</a:t>
            </a:r>
            <a:r>
              <a:rPr dirty="0" sz="1100" spc="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Blob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Storage</a:t>
            </a:r>
            <a:endParaRPr sz="1100">
              <a:latin typeface="Arial"/>
              <a:cs typeface="Arial"/>
            </a:endParaRPr>
          </a:p>
          <a:p>
            <a:pPr marL="354965" indent="-248920">
              <a:lnSpc>
                <a:spcPct val="100000"/>
              </a:lnSpc>
              <a:buChar char="●"/>
              <a:tabLst>
                <a:tab pos="354965" algn="l"/>
              </a:tabLst>
            </a:pPr>
            <a:r>
              <a:rPr dirty="0" sz="1100">
                <a:latin typeface="Arial"/>
                <a:cs typeface="Arial"/>
              </a:rPr>
              <a:t>Google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Cloud </a:t>
            </a:r>
            <a:r>
              <a:rPr dirty="0" sz="1100" spc="-10">
                <a:latin typeface="Arial"/>
                <a:cs typeface="Arial"/>
              </a:rPr>
              <a:t>Storage</a:t>
            </a:r>
            <a:endParaRPr sz="1100">
              <a:latin typeface="Arial"/>
              <a:cs typeface="Arial"/>
            </a:endParaRPr>
          </a:p>
          <a:p>
            <a:pPr marL="354965" marR="135255" indent="-249554">
              <a:lnSpc>
                <a:spcPct val="100000"/>
              </a:lnSpc>
              <a:buChar char="●"/>
              <a:tabLst>
                <a:tab pos="354965" algn="l"/>
              </a:tabLst>
            </a:pPr>
            <a:r>
              <a:rPr dirty="0" sz="1100" spc="-20">
                <a:latin typeface="Arial"/>
                <a:cs typeface="Arial"/>
              </a:rPr>
              <a:t>RHODF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Multi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Cloud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Object Gateway</a:t>
            </a:r>
            <a:endParaRPr sz="1100">
              <a:latin typeface="Arial"/>
              <a:cs typeface="Arial"/>
            </a:endParaRPr>
          </a:p>
          <a:p>
            <a:pPr marL="354965" indent="-248920">
              <a:lnSpc>
                <a:spcPct val="100000"/>
              </a:lnSpc>
              <a:buChar char="●"/>
              <a:tabLst>
                <a:tab pos="354965" algn="l"/>
              </a:tabLst>
            </a:pPr>
            <a:r>
              <a:rPr dirty="0" sz="1100">
                <a:latin typeface="Arial"/>
                <a:cs typeface="Arial"/>
              </a:rPr>
              <a:t>Noobaa,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Minio,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etc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084518" y="1637449"/>
            <a:ext cx="2042795" cy="1223645"/>
            <a:chOff x="3084518" y="1637449"/>
            <a:chExt cx="2042795" cy="1223645"/>
          </a:xfrm>
        </p:grpSpPr>
        <p:sp>
          <p:nvSpPr>
            <p:cNvPr id="8" name="object 8" descr=""/>
            <p:cNvSpPr/>
            <p:nvPr/>
          </p:nvSpPr>
          <p:spPr>
            <a:xfrm>
              <a:off x="3090868" y="2832169"/>
              <a:ext cx="1398270" cy="1905"/>
            </a:xfrm>
            <a:custGeom>
              <a:avLst/>
              <a:gdLst/>
              <a:ahLst/>
              <a:cxnLst/>
              <a:rect l="l" t="t" r="r" b="b"/>
              <a:pathLst>
                <a:path w="1398270" h="1905">
                  <a:moveTo>
                    <a:pt x="0" y="0"/>
                  </a:moveTo>
                  <a:lnTo>
                    <a:pt x="1397997" y="1424"/>
                  </a:lnTo>
                </a:path>
              </a:pathLst>
            </a:custGeom>
            <a:ln w="12699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488840" y="2812619"/>
              <a:ext cx="57785" cy="42545"/>
            </a:xfrm>
            <a:custGeom>
              <a:avLst/>
              <a:gdLst/>
              <a:ahLst/>
              <a:cxnLst/>
              <a:rect l="l" t="t" r="r" b="b"/>
              <a:pathLst>
                <a:path w="57785" h="42544">
                  <a:moveTo>
                    <a:pt x="0" y="41949"/>
                  </a:moveTo>
                  <a:lnTo>
                    <a:pt x="49" y="0"/>
                  </a:lnTo>
                  <a:lnTo>
                    <a:pt x="57674" y="21049"/>
                  </a:lnTo>
                  <a:lnTo>
                    <a:pt x="0" y="41949"/>
                  </a:lnTo>
                  <a:close/>
                </a:path>
              </a:pathLst>
            </a:custGeom>
            <a:solidFill>
              <a:srgbClr val="313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488840" y="2812619"/>
              <a:ext cx="57785" cy="42545"/>
            </a:xfrm>
            <a:custGeom>
              <a:avLst/>
              <a:gdLst/>
              <a:ahLst/>
              <a:cxnLst/>
              <a:rect l="l" t="t" r="r" b="b"/>
              <a:pathLst>
                <a:path w="57785" h="42544">
                  <a:moveTo>
                    <a:pt x="0" y="41949"/>
                  </a:moveTo>
                  <a:lnTo>
                    <a:pt x="57674" y="21049"/>
                  </a:lnTo>
                  <a:lnTo>
                    <a:pt x="49" y="0"/>
                  </a:lnTo>
                  <a:lnTo>
                    <a:pt x="0" y="41949"/>
                  </a:lnTo>
                  <a:close/>
                </a:path>
              </a:pathLst>
            </a:custGeom>
            <a:ln w="12699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7143" y="1644209"/>
              <a:ext cx="2020075" cy="86061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127543" y="1642211"/>
              <a:ext cx="1896745" cy="737235"/>
            </a:xfrm>
            <a:custGeom>
              <a:avLst/>
              <a:gdLst/>
              <a:ahLst/>
              <a:cxnLst/>
              <a:rect l="l" t="t" r="r" b="b"/>
              <a:pathLst>
                <a:path w="1896745" h="737235">
                  <a:moveTo>
                    <a:pt x="1896271" y="736786"/>
                  </a:moveTo>
                  <a:lnTo>
                    <a:pt x="0" y="736786"/>
                  </a:lnTo>
                  <a:lnTo>
                    <a:pt x="0" y="0"/>
                  </a:lnTo>
                  <a:lnTo>
                    <a:pt x="1896271" y="0"/>
                  </a:lnTo>
                  <a:lnTo>
                    <a:pt x="1896271" y="736786"/>
                  </a:lnTo>
                  <a:close/>
                </a:path>
              </a:pathLst>
            </a:custGeom>
            <a:solidFill>
              <a:srgbClr val="E2DD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127543" y="1642211"/>
              <a:ext cx="1896745" cy="737235"/>
            </a:xfrm>
            <a:custGeom>
              <a:avLst/>
              <a:gdLst/>
              <a:ahLst/>
              <a:cxnLst/>
              <a:rect l="l" t="t" r="r" b="b"/>
              <a:pathLst>
                <a:path w="1896745" h="737235">
                  <a:moveTo>
                    <a:pt x="0" y="0"/>
                  </a:moveTo>
                  <a:lnTo>
                    <a:pt x="1896271" y="0"/>
                  </a:lnTo>
                  <a:lnTo>
                    <a:pt x="1896271" y="736786"/>
                  </a:lnTo>
                  <a:lnTo>
                    <a:pt x="0" y="73678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5243" y="1639126"/>
              <a:ext cx="696341" cy="43231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0042" y="2112975"/>
              <a:ext cx="713673" cy="127817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5790" y="1657426"/>
              <a:ext cx="290074" cy="312291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92090" y="1980606"/>
              <a:ext cx="410284" cy="33237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65243" y="2089638"/>
              <a:ext cx="447199" cy="12233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36616" y="1661364"/>
              <a:ext cx="314399" cy="346641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2402416" y="1886260"/>
            <a:ext cx="3486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70">
                <a:latin typeface="Arial"/>
                <a:cs typeface="Arial"/>
              </a:rPr>
              <a:t>-</a:t>
            </a:r>
            <a:r>
              <a:rPr dirty="0" sz="1400" spc="40">
                <a:latin typeface="Arial"/>
                <a:cs typeface="Arial"/>
              </a:rPr>
              <a:t>or-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038333" y="3113830"/>
            <a:ext cx="1409700" cy="98933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100" spc="-10">
                <a:latin typeface="Arial"/>
                <a:cs typeface="Arial"/>
              </a:rPr>
              <a:t>OADP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Operator</a:t>
            </a:r>
            <a:endParaRPr sz="1100">
              <a:latin typeface="Arial"/>
              <a:cs typeface="Arial"/>
            </a:endParaRPr>
          </a:p>
          <a:p>
            <a:pPr marL="354965" indent="-248920">
              <a:lnSpc>
                <a:spcPct val="100000"/>
              </a:lnSpc>
              <a:spcBef>
                <a:spcPts val="200"/>
              </a:spcBef>
              <a:buChar char="●"/>
              <a:tabLst>
                <a:tab pos="354965" algn="l"/>
              </a:tabLst>
            </a:pPr>
            <a:r>
              <a:rPr dirty="0" sz="1100" spc="-10">
                <a:latin typeface="Arial"/>
                <a:cs typeface="Arial"/>
              </a:rPr>
              <a:t>Backup</a:t>
            </a:r>
            <a:endParaRPr sz="1100">
              <a:latin typeface="Arial"/>
              <a:cs typeface="Arial"/>
            </a:endParaRPr>
          </a:p>
          <a:p>
            <a:pPr marL="354965" indent="-248920">
              <a:lnSpc>
                <a:spcPct val="100000"/>
              </a:lnSpc>
              <a:spcBef>
                <a:spcPts val="195"/>
              </a:spcBef>
              <a:buChar char="●"/>
              <a:tabLst>
                <a:tab pos="354965" algn="l"/>
              </a:tabLst>
            </a:pPr>
            <a:r>
              <a:rPr dirty="0" sz="1100" spc="-10">
                <a:latin typeface="Arial"/>
                <a:cs typeface="Arial"/>
              </a:rPr>
              <a:t>Restore</a:t>
            </a:r>
            <a:endParaRPr sz="1100">
              <a:latin typeface="Arial"/>
              <a:cs typeface="Arial"/>
            </a:endParaRPr>
          </a:p>
          <a:p>
            <a:pPr marL="354965" indent="-248920">
              <a:lnSpc>
                <a:spcPct val="100000"/>
              </a:lnSpc>
              <a:spcBef>
                <a:spcPts val="200"/>
              </a:spcBef>
              <a:buChar char="●"/>
              <a:tabLst>
                <a:tab pos="354965" algn="l"/>
              </a:tabLst>
            </a:pPr>
            <a:r>
              <a:rPr dirty="0" sz="1100" spc="-10">
                <a:latin typeface="Arial"/>
                <a:cs typeface="Arial"/>
              </a:rPr>
              <a:t>Scheduling</a:t>
            </a:r>
            <a:endParaRPr sz="1100">
              <a:latin typeface="Arial"/>
              <a:cs typeface="Arial"/>
            </a:endParaRPr>
          </a:p>
          <a:p>
            <a:pPr marL="354965" indent="-248920">
              <a:lnSpc>
                <a:spcPct val="100000"/>
              </a:lnSpc>
              <a:spcBef>
                <a:spcPts val="200"/>
              </a:spcBef>
              <a:buChar char="●"/>
              <a:tabLst>
                <a:tab pos="354965" algn="l"/>
              </a:tabLst>
            </a:pPr>
            <a:r>
              <a:rPr dirty="0" sz="1100" spc="-10">
                <a:latin typeface="Arial"/>
                <a:cs typeface="Arial"/>
              </a:rPr>
              <a:t>Hooks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(fsfreeze)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2442887" y="2508169"/>
            <a:ext cx="5717540" cy="1722120"/>
            <a:chOff x="2442887" y="2508169"/>
            <a:chExt cx="5717540" cy="1722120"/>
          </a:xfrm>
        </p:grpSpPr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42887" y="2508169"/>
              <a:ext cx="647981" cy="647998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7000685" y="3376768"/>
              <a:ext cx="1159510" cy="853440"/>
            </a:xfrm>
            <a:custGeom>
              <a:avLst/>
              <a:gdLst/>
              <a:ahLst/>
              <a:cxnLst/>
              <a:rect l="l" t="t" r="r" b="b"/>
              <a:pathLst>
                <a:path w="1159509" h="853439">
                  <a:moveTo>
                    <a:pt x="1159197" y="853423"/>
                  </a:moveTo>
                  <a:lnTo>
                    <a:pt x="0" y="853423"/>
                  </a:lnTo>
                  <a:lnTo>
                    <a:pt x="0" y="0"/>
                  </a:lnTo>
                  <a:lnTo>
                    <a:pt x="1159197" y="0"/>
                  </a:lnTo>
                  <a:lnTo>
                    <a:pt x="1159197" y="853423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02880" y="4627671"/>
            <a:ext cx="66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 b="1">
                <a:latin typeface="Arial"/>
                <a:cs typeface="Arial"/>
              </a:rPr>
              <a:t>7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828485" y="3376768"/>
            <a:ext cx="1159510" cy="853440"/>
          </a:xfrm>
          <a:custGeom>
            <a:avLst/>
            <a:gdLst/>
            <a:ahLst/>
            <a:cxnLst/>
            <a:rect l="l" t="t" r="r" b="b"/>
            <a:pathLst>
              <a:path w="1159510" h="853439">
                <a:moveTo>
                  <a:pt x="1159197" y="853423"/>
                </a:moveTo>
                <a:lnTo>
                  <a:pt x="0" y="853423"/>
                </a:lnTo>
                <a:lnTo>
                  <a:pt x="0" y="0"/>
                </a:lnTo>
                <a:lnTo>
                  <a:pt x="1159197" y="0"/>
                </a:lnTo>
                <a:lnTo>
                  <a:pt x="1159197" y="853423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828485" y="3376768"/>
            <a:ext cx="1159510" cy="85344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489"/>
              </a:spcBef>
            </a:pPr>
            <a:r>
              <a:rPr dirty="0" sz="900">
                <a:latin typeface="Arial"/>
                <a:cs typeface="Arial"/>
              </a:rPr>
              <a:t>Persistent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Storage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828485" y="2348075"/>
            <a:ext cx="1159510" cy="993775"/>
          </a:xfrm>
          <a:custGeom>
            <a:avLst/>
            <a:gdLst/>
            <a:ahLst/>
            <a:cxnLst/>
            <a:rect l="l" t="t" r="r" b="b"/>
            <a:pathLst>
              <a:path w="1159510" h="993775">
                <a:moveTo>
                  <a:pt x="1159197" y="993367"/>
                </a:moveTo>
                <a:lnTo>
                  <a:pt x="0" y="993367"/>
                </a:lnTo>
                <a:lnTo>
                  <a:pt x="0" y="0"/>
                </a:lnTo>
                <a:lnTo>
                  <a:pt x="1159197" y="0"/>
                </a:lnTo>
                <a:lnTo>
                  <a:pt x="1159197" y="993367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882461" y="2397482"/>
            <a:ext cx="6711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OCP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Cluster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95193" y="2633394"/>
            <a:ext cx="815340" cy="61531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wrap="square" lIns="0" tIns="61594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484"/>
              </a:spcBef>
            </a:pPr>
            <a:r>
              <a:rPr dirty="0" sz="900" spc="-10">
                <a:latin typeface="Arial"/>
                <a:cs typeface="Arial"/>
              </a:rPr>
              <a:t>Namespace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028455" y="2854919"/>
            <a:ext cx="734695" cy="1375410"/>
            <a:chOff x="1028455" y="2854919"/>
            <a:chExt cx="734695" cy="1375410"/>
          </a:xfrm>
        </p:grpSpPr>
        <p:pic>
          <p:nvPicPr>
            <p:cNvPr id="32" name="object 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8455" y="2862871"/>
              <a:ext cx="369491" cy="35794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93319" y="2854919"/>
              <a:ext cx="369486" cy="35792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5140" y="3582277"/>
              <a:ext cx="647988" cy="647988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7000685" y="3376768"/>
            <a:ext cx="1159510" cy="85344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489"/>
              </a:spcBef>
            </a:pPr>
            <a:r>
              <a:rPr dirty="0" sz="900">
                <a:latin typeface="Arial"/>
                <a:cs typeface="Arial"/>
              </a:rPr>
              <a:t>Persistent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Storage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7000685" y="2348075"/>
            <a:ext cx="1159510" cy="993775"/>
          </a:xfrm>
          <a:custGeom>
            <a:avLst/>
            <a:gdLst/>
            <a:ahLst/>
            <a:cxnLst/>
            <a:rect l="l" t="t" r="r" b="b"/>
            <a:pathLst>
              <a:path w="1159509" h="993775">
                <a:moveTo>
                  <a:pt x="1159197" y="993367"/>
                </a:moveTo>
                <a:lnTo>
                  <a:pt x="0" y="993367"/>
                </a:lnTo>
                <a:lnTo>
                  <a:pt x="0" y="0"/>
                </a:lnTo>
                <a:lnTo>
                  <a:pt x="1159197" y="0"/>
                </a:lnTo>
                <a:lnTo>
                  <a:pt x="1159197" y="993367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7054645" y="2397482"/>
            <a:ext cx="6711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OCP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Cluster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167385" y="2633394"/>
            <a:ext cx="815340" cy="61531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wrap="square" lIns="0" tIns="61594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484"/>
              </a:spcBef>
            </a:pPr>
            <a:r>
              <a:rPr dirty="0" sz="900" spc="-10">
                <a:latin typeface="Arial"/>
                <a:cs typeface="Arial"/>
              </a:rPr>
              <a:t>Namespace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5206439" y="2817044"/>
            <a:ext cx="2728595" cy="1413510"/>
            <a:chOff x="5206439" y="2817044"/>
            <a:chExt cx="2728595" cy="1413510"/>
          </a:xfrm>
        </p:grpSpPr>
        <p:pic>
          <p:nvPicPr>
            <p:cNvPr id="40" name="object 4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00635" y="2862871"/>
              <a:ext cx="369491" cy="357946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65509" y="2854919"/>
              <a:ext cx="369474" cy="35792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47335" y="3582277"/>
              <a:ext cx="647973" cy="647988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5212789" y="2833744"/>
              <a:ext cx="1711960" cy="10795"/>
            </a:xfrm>
            <a:custGeom>
              <a:avLst/>
              <a:gdLst/>
              <a:ahLst/>
              <a:cxnLst/>
              <a:rect l="l" t="t" r="r" b="b"/>
              <a:pathLst>
                <a:path w="1711959" h="10794">
                  <a:moveTo>
                    <a:pt x="0" y="0"/>
                  </a:moveTo>
                  <a:lnTo>
                    <a:pt x="1711796" y="10624"/>
                  </a:lnTo>
                </a:path>
              </a:pathLst>
            </a:custGeom>
            <a:ln w="12699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924461" y="2823394"/>
              <a:ext cx="57785" cy="42545"/>
            </a:xfrm>
            <a:custGeom>
              <a:avLst/>
              <a:gdLst/>
              <a:ahLst/>
              <a:cxnLst/>
              <a:rect l="l" t="t" r="r" b="b"/>
              <a:pathLst>
                <a:path w="57784" h="42544">
                  <a:moveTo>
                    <a:pt x="0" y="41949"/>
                  </a:moveTo>
                  <a:lnTo>
                    <a:pt x="274" y="0"/>
                  </a:lnTo>
                  <a:lnTo>
                    <a:pt x="57774" y="21324"/>
                  </a:lnTo>
                  <a:lnTo>
                    <a:pt x="0" y="41949"/>
                  </a:lnTo>
                  <a:close/>
                </a:path>
              </a:pathLst>
            </a:custGeom>
            <a:solidFill>
              <a:srgbClr val="313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924461" y="2823394"/>
              <a:ext cx="57785" cy="42545"/>
            </a:xfrm>
            <a:custGeom>
              <a:avLst/>
              <a:gdLst/>
              <a:ahLst/>
              <a:cxnLst/>
              <a:rect l="l" t="t" r="r" b="b"/>
              <a:pathLst>
                <a:path w="57784" h="42544">
                  <a:moveTo>
                    <a:pt x="0" y="41949"/>
                  </a:moveTo>
                  <a:lnTo>
                    <a:pt x="57774" y="21324"/>
                  </a:lnTo>
                  <a:lnTo>
                    <a:pt x="274" y="0"/>
                  </a:lnTo>
                  <a:lnTo>
                    <a:pt x="0" y="41949"/>
                  </a:lnTo>
                  <a:close/>
                </a:path>
              </a:pathLst>
            </a:custGeom>
            <a:ln w="12699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3272038" y="2560411"/>
            <a:ext cx="4870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Backup</a:t>
            </a:r>
            <a:endParaRPr sz="1100">
              <a:latin typeface="Arial"/>
              <a:cs typeface="Aria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834153" y="2560411"/>
            <a:ext cx="5067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Restore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6565189" y="1853633"/>
            <a:ext cx="18605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1594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Batang"/>
                <a:cs typeface="Batang"/>
              </a:rPr>
              <a:t>다른</a:t>
            </a:r>
            <a:r>
              <a:rPr dirty="0" sz="1000" spc="-114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클러스터뿐만아니라</a:t>
            </a:r>
            <a:r>
              <a:rPr dirty="0" sz="1000" spc="-140">
                <a:latin typeface="Batang"/>
                <a:cs typeface="Batang"/>
              </a:rPr>
              <a:t> </a:t>
            </a:r>
            <a:r>
              <a:rPr dirty="0" sz="1000" spc="-35">
                <a:latin typeface="Batang"/>
                <a:cs typeface="Batang"/>
              </a:rPr>
              <a:t>같은 </a:t>
            </a:r>
            <a:r>
              <a:rPr dirty="0" sz="1000">
                <a:latin typeface="Batang"/>
                <a:cs typeface="Batang"/>
              </a:rPr>
              <a:t>클러스터에도복원할</a:t>
            </a:r>
            <a:r>
              <a:rPr dirty="0" sz="1000" spc="-15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수</a:t>
            </a:r>
            <a:r>
              <a:rPr dirty="0" sz="1000" spc="-80">
                <a:latin typeface="Batang"/>
                <a:cs typeface="Batang"/>
              </a:rPr>
              <a:t> </a:t>
            </a:r>
            <a:r>
              <a:rPr dirty="0" sz="1000" spc="-20">
                <a:latin typeface="Batang"/>
                <a:cs typeface="Batang"/>
              </a:rPr>
              <a:t>있습니다</a:t>
            </a:r>
            <a:endParaRPr sz="1000">
              <a:latin typeface="Batang"/>
              <a:cs typeface="Batang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13538" y="356003"/>
            <a:ext cx="1295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RPO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0">
                <a:latin typeface="Arial"/>
                <a:cs typeface="Arial"/>
              </a:rPr>
              <a:t> Mins/Hours </a:t>
            </a:r>
            <a:r>
              <a:rPr dirty="0" sz="1200">
                <a:latin typeface="Arial"/>
                <a:cs typeface="Arial"/>
              </a:rPr>
              <a:t>RTO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Mins/Hours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00270" y="4627671"/>
            <a:ext cx="711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latin typeface="Arial"/>
                <a:cs typeface="Arial"/>
              </a:rPr>
              <a:t>8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Regional</a:t>
            </a:r>
            <a:r>
              <a:rPr dirty="0" spc="-114"/>
              <a:t> </a:t>
            </a:r>
            <a:r>
              <a:rPr dirty="0" spc="-80"/>
              <a:t>DR</a:t>
            </a:r>
            <a:r>
              <a:rPr dirty="0" spc="-110"/>
              <a:t> </a:t>
            </a:r>
            <a:r>
              <a:rPr dirty="0" spc="50"/>
              <a:t>(ACM/ODF)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717775" y="4535417"/>
            <a:ext cx="7017384" cy="56642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92075" indent="-82550">
              <a:lnSpc>
                <a:spcPct val="100000"/>
              </a:lnSpc>
              <a:spcBef>
                <a:spcPts val="350"/>
              </a:spcBef>
              <a:buClr>
                <a:srgbClr val="4D4D4F"/>
              </a:buClr>
              <a:buAutoNum type="arabicPlain"/>
              <a:tabLst>
                <a:tab pos="92075" algn="l"/>
              </a:tabLst>
            </a:pPr>
            <a:r>
              <a:rPr dirty="0" u="sng" sz="50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2"/>
              </a:rPr>
              <a:t>https://access.redhat.com/documentation/en-us/red_hat_openshift_data_foundation/4.11/html-single/configuring_openshift_data_foundation_disaster_recovery_for_openshift_workloads/index#rdr-</a:t>
            </a:r>
            <a:r>
              <a:rPr dirty="0" u="sng" sz="500" spc="-1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2"/>
              </a:rPr>
              <a:t>solution</a:t>
            </a:r>
            <a:endParaRPr sz="500">
              <a:latin typeface="Arial"/>
              <a:cs typeface="Arial"/>
            </a:endParaRPr>
          </a:p>
          <a:p>
            <a:pPr marL="110489" indent="-97790">
              <a:lnSpc>
                <a:spcPct val="100000"/>
              </a:lnSpc>
              <a:spcBef>
                <a:spcPts val="250"/>
              </a:spcBef>
              <a:buAutoNum type="arabicPlain"/>
              <a:tabLst>
                <a:tab pos="110489" algn="l"/>
              </a:tabLst>
            </a:pP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ODF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는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Internal</a:t>
            </a:r>
            <a:r>
              <a:rPr dirty="0" sz="500" spc="-5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Mode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를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전제로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Batang"/>
                <a:cs typeface="Batang"/>
              </a:rPr>
              <a:t>하며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,</a:t>
            </a:r>
            <a:r>
              <a:rPr dirty="0" sz="500" spc="-5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비동기적으로</a:t>
            </a:r>
            <a:r>
              <a:rPr dirty="0" sz="500" spc="-30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Batang"/>
                <a:cs typeface="Batang"/>
              </a:rPr>
              <a:t>동기화됩니다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.</a:t>
            </a:r>
            <a:r>
              <a:rPr dirty="0" sz="500" spc="-5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동기화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간격은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분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/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시간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/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일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단위로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지정할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수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Batang"/>
                <a:cs typeface="Batang"/>
              </a:rPr>
              <a:t>있으며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,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최소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간격은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1</a:t>
            </a:r>
            <a:r>
              <a:rPr dirty="0" sz="500" spc="-10">
                <a:solidFill>
                  <a:srgbClr val="4D4D4F"/>
                </a:solidFill>
                <a:latin typeface="Batang"/>
                <a:cs typeface="Batang"/>
              </a:rPr>
              <a:t>분입니다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.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u="sng" sz="50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3"/>
              </a:rPr>
              <a:t>https://access.redhat.com/documentation/en-us/red_hat_openshift_data_foundation/4.11/html-single/configurin</a:t>
            </a:r>
            <a:r>
              <a:rPr dirty="0" sz="500">
                <a:solidFill>
                  <a:srgbClr val="6B9E24"/>
                </a:solidFill>
                <a:latin typeface="Arial"/>
                <a:cs typeface="Arial"/>
                <a:hlinkClick r:id="rId3"/>
              </a:rPr>
              <a:t>g</a:t>
            </a:r>
            <a:r>
              <a:rPr dirty="0" u="sng" sz="50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3"/>
              </a:rPr>
              <a:t>_openshift_data_foundation_disaster_recovery_for_openshift_workloads/index#creating-disaster-recovery-policy-on-hub-</a:t>
            </a:r>
            <a:r>
              <a:rPr dirty="0" u="sng" sz="500" spc="-1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3"/>
              </a:rPr>
              <a:t>cluster_rd</a:t>
            </a:r>
            <a:r>
              <a:rPr dirty="0" sz="500" spc="-10">
                <a:solidFill>
                  <a:srgbClr val="6B9E24"/>
                </a:solidFill>
                <a:latin typeface="Arial"/>
                <a:cs typeface="Arial"/>
              </a:rPr>
              <a:t>r</a:t>
            </a:r>
            <a:endParaRPr sz="500">
              <a:latin typeface="Arial"/>
              <a:cs typeface="Arial"/>
            </a:endParaRPr>
          </a:p>
          <a:p>
            <a:pPr marL="110489" indent="-97790">
              <a:lnSpc>
                <a:spcPct val="100000"/>
              </a:lnSpc>
              <a:spcBef>
                <a:spcPts val="250"/>
              </a:spcBef>
              <a:buAutoNum type="arabicPlain" startAt="3"/>
              <a:tabLst>
                <a:tab pos="110489" algn="l"/>
              </a:tabLst>
            </a:pP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Primary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클러스터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장애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시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Secondary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클러스터로의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Namespace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단위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Failover </a:t>
            </a:r>
            <a:r>
              <a:rPr dirty="0" sz="500" spc="-20">
                <a:solidFill>
                  <a:srgbClr val="4D4D4F"/>
                </a:solidFill>
                <a:latin typeface="Batang"/>
                <a:cs typeface="Batang"/>
              </a:rPr>
              <a:t>입니다</a:t>
            </a:r>
            <a:r>
              <a:rPr dirty="0" sz="500" spc="-20">
                <a:solidFill>
                  <a:srgbClr val="4D4D4F"/>
                </a:solidFill>
                <a:latin typeface="Arial"/>
                <a:cs typeface="Arial"/>
              </a:rPr>
              <a:t>.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u="sng" sz="50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4"/>
              </a:rPr>
              <a:t>htps://access.redhat.com/documentation/en-us/red_hat_openshift_data_foundation/4.11/html-single/configurin</a:t>
            </a:r>
            <a:r>
              <a:rPr dirty="0" sz="500">
                <a:solidFill>
                  <a:srgbClr val="6B9E24"/>
                </a:solidFill>
                <a:latin typeface="Arial"/>
                <a:cs typeface="Arial"/>
                <a:hlinkClick r:id="rId4"/>
              </a:rPr>
              <a:t>g</a:t>
            </a:r>
            <a:r>
              <a:rPr dirty="0" u="sng" sz="50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4"/>
              </a:rPr>
              <a:t>_openshift_data_foundation_disaster_recovery_for_openshift_workloads/index#application-failover-between-managed-</a:t>
            </a:r>
            <a:r>
              <a:rPr dirty="0" u="sng" sz="500" spc="-1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4"/>
              </a:rPr>
              <a:t>clusters_rd</a:t>
            </a:r>
            <a:r>
              <a:rPr dirty="0" sz="500" spc="-10">
                <a:solidFill>
                  <a:srgbClr val="6B9E24"/>
                </a:solidFill>
                <a:latin typeface="Arial"/>
                <a:cs typeface="Arial"/>
              </a:rPr>
              <a:t>r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86917" y="1116255"/>
            <a:ext cx="30143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5435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17500" algn="l"/>
              </a:tabLst>
            </a:pPr>
            <a:r>
              <a:rPr dirty="0" sz="1000">
                <a:latin typeface="Batang"/>
                <a:cs typeface="Batang"/>
              </a:rPr>
              <a:t>클러스터</a:t>
            </a:r>
            <a:r>
              <a:rPr dirty="0" sz="1000" spc="-21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장애를</a:t>
            </a:r>
            <a:r>
              <a:rPr dirty="0" sz="1000" spc="-18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고려하여</a:t>
            </a:r>
            <a:r>
              <a:rPr dirty="0" sz="1000" spc="-210">
                <a:latin typeface="Batang"/>
                <a:cs typeface="Batang"/>
              </a:rPr>
              <a:t> </a:t>
            </a:r>
            <a:r>
              <a:rPr dirty="0" sz="1000">
                <a:latin typeface="Arial"/>
                <a:cs typeface="Arial"/>
              </a:rPr>
              <a:t>Managed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Cluster</a:t>
            </a:r>
            <a:r>
              <a:rPr dirty="0" sz="1000" spc="-60">
                <a:latin typeface="Arial"/>
                <a:cs typeface="Arial"/>
              </a:rPr>
              <a:t> </a:t>
            </a:r>
            <a:r>
              <a:rPr dirty="0" sz="1000" spc="-25">
                <a:latin typeface="Batang"/>
                <a:cs typeface="Batang"/>
              </a:rPr>
              <a:t>간에 </a:t>
            </a:r>
            <a:r>
              <a:rPr dirty="0" sz="1000">
                <a:latin typeface="Batang"/>
                <a:cs typeface="Batang"/>
              </a:rPr>
              <a:t>애플리케이션을자동으로</a:t>
            </a:r>
            <a:r>
              <a:rPr dirty="0" sz="1000" spc="-180">
                <a:latin typeface="Batang"/>
                <a:cs typeface="Batang"/>
              </a:rPr>
              <a:t> </a:t>
            </a:r>
            <a:r>
              <a:rPr dirty="0" sz="1000" spc="-25">
                <a:latin typeface="Arial"/>
                <a:cs typeface="Arial"/>
              </a:rPr>
              <a:t>Failover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10">
                <a:latin typeface="Batang"/>
                <a:cs typeface="Batang"/>
              </a:rPr>
              <a:t>합니다</a:t>
            </a:r>
            <a:r>
              <a:rPr dirty="0" sz="1000" spc="-10">
                <a:latin typeface="Arial"/>
                <a:cs typeface="Arial"/>
              </a:rPr>
              <a:t>.[1]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486917" y="1642033"/>
            <a:ext cx="3049270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5435">
              <a:lnSpc>
                <a:spcPct val="114999"/>
              </a:lnSpc>
              <a:spcBef>
                <a:spcPts val="100"/>
              </a:spcBef>
              <a:buChar char="●"/>
              <a:tabLst>
                <a:tab pos="317500" algn="l"/>
              </a:tabLst>
            </a:pPr>
            <a:r>
              <a:rPr dirty="0" sz="1000" spc="-30">
                <a:latin typeface="Arial"/>
                <a:cs typeface="Arial"/>
              </a:rPr>
              <a:t>RHACM</a:t>
            </a:r>
            <a:r>
              <a:rPr dirty="0" sz="1000" spc="-30">
                <a:latin typeface="Batang"/>
                <a:cs typeface="Batang"/>
              </a:rPr>
              <a:t>은</a:t>
            </a:r>
            <a:r>
              <a:rPr dirty="0" sz="1000" spc="-125">
                <a:latin typeface="Batang"/>
                <a:cs typeface="Batang"/>
              </a:rPr>
              <a:t> </a:t>
            </a:r>
            <a:r>
              <a:rPr dirty="0" sz="1000" spc="-10">
                <a:latin typeface="Arial"/>
                <a:cs typeface="Arial"/>
              </a:rPr>
              <a:t>Pod</a:t>
            </a:r>
            <a:r>
              <a:rPr dirty="0" sz="1000" spc="-10">
                <a:latin typeface="Batang"/>
                <a:cs typeface="Batang"/>
              </a:rPr>
              <a:t>등</a:t>
            </a:r>
            <a:r>
              <a:rPr dirty="0" sz="1000" spc="-125">
                <a:latin typeface="Batang"/>
                <a:cs typeface="Batang"/>
              </a:rPr>
              <a:t> </a:t>
            </a:r>
            <a:r>
              <a:rPr dirty="0" sz="1000" spc="-20">
                <a:latin typeface="Arial"/>
                <a:cs typeface="Arial"/>
              </a:rPr>
              <a:t>API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Batang"/>
                <a:cs typeface="Batang"/>
              </a:rPr>
              <a:t>객체의</a:t>
            </a:r>
            <a:r>
              <a:rPr dirty="0" sz="1000" spc="-180">
                <a:latin typeface="Batang"/>
                <a:cs typeface="Batang"/>
              </a:rPr>
              <a:t> </a:t>
            </a:r>
            <a:r>
              <a:rPr dirty="0" sz="1000" spc="-15">
                <a:latin typeface="Arial"/>
                <a:cs typeface="Arial"/>
              </a:rPr>
              <a:t>Failover</a:t>
            </a:r>
            <a:r>
              <a:rPr dirty="0" sz="1000" spc="-15">
                <a:latin typeface="Batang"/>
                <a:cs typeface="Batang"/>
              </a:rPr>
              <a:t>를</a:t>
            </a:r>
            <a:r>
              <a:rPr dirty="0" sz="1000" spc="-125">
                <a:latin typeface="Batang"/>
                <a:cs typeface="Batang"/>
              </a:rPr>
              <a:t> </a:t>
            </a:r>
            <a:r>
              <a:rPr dirty="0" sz="1000" spc="-30">
                <a:latin typeface="Batang"/>
                <a:cs typeface="Batang"/>
              </a:rPr>
              <a:t>관리하고</a:t>
            </a:r>
            <a:r>
              <a:rPr dirty="0" sz="1000" spc="-30">
                <a:latin typeface="Arial"/>
                <a:cs typeface="Arial"/>
              </a:rPr>
              <a:t>, </a:t>
            </a:r>
            <a:r>
              <a:rPr dirty="0" sz="1000" spc="-20">
                <a:latin typeface="Arial"/>
                <a:cs typeface="Arial"/>
              </a:rPr>
              <a:t>RHODF</a:t>
            </a:r>
            <a:r>
              <a:rPr dirty="0" sz="1000" spc="-20">
                <a:latin typeface="Batang"/>
                <a:cs typeface="Batang"/>
              </a:rPr>
              <a:t>는</a:t>
            </a:r>
            <a:r>
              <a:rPr dirty="0" sz="1000" spc="-13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비동기</a:t>
            </a:r>
            <a:r>
              <a:rPr dirty="0" sz="1000" spc="-18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방식으로</a:t>
            </a:r>
            <a:r>
              <a:rPr dirty="0" sz="1000" spc="-21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볼륨</a:t>
            </a:r>
            <a:r>
              <a:rPr dirty="0" sz="1000" spc="-160">
                <a:latin typeface="Batang"/>
                <a:cs typeface="Batang"/>
              </a:rPr>
              <a:t> </a:t>
            </a:r>
            <a:r>
              <a:rPr dirty="0" sz="1000" spc="-20">
                <a:latin typeface="Batang"/>
                <a:cs typeface="Batang"/>
              </a:rPr>
              <a:t>동기화를 </a:t>
            </a:r>
            <a:r>
              <a:rPr dirty="0" sz="1000" spc="-10">
                <a:latin typeface="Batang"/>
                <a:cs typeface="Batang"/>
              </a:rPr>
              <a:t>제공합니다</a:t>
            </a:r>
            <a:r>
              <a:rPr dirty="0" sz="1000" spc="-10">
                <a:latin typeface="Arial"/>
                <a:cs typeface="Arial"/>
              </a:rPr>
              <a:t>.[2]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486917" y="2343072"/>
            <a:ext cx="327596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5435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17500" algn="l"/>
              </a:tabLst>
            </a:pPr>
            <a:r>
              <a:rPr dirty="0" sz="1000">
                <a:latin typeface="Batang"/>
                <a:cs typeface="Batang"/>
              </a:rPr>
              <a:t>장애시</a:t>
            </a:r>
            <a:r>
              <a:rPr dirty="0" sz="1000" spc="-19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전환은</a:t>
            </a:r>
            <a:r>
              <a:rPr dirty="0" sz="1000" spc="-19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클러스터</a:t>
            </a:r>
            <a:r>
              <a:rPr dirty="0" sz="1000" spc="-22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단위가</a:t>
            </a:r>
            <a:r>
              <a:rPr dirty="0" sz="1000" spc="-18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아닌</a:t>
            </a:r>
            <a:r>
              <a:rPr dirty="0" sz="1000" spc="-165">
                <a:latin typeface="Batang"/>
                <a:cs typeface="Batang"/>
              </a:rPr>
              <a:t> </a:t>
            </a:r>
            <a:r>
              <a:rPr dirty="0" sz="1000" spc="-10">
                <a:latin typeface="Arial"/>
                <a:cs typeface="Arial"/>
              </a:rPr>
              <a:t>Namespace</a:t>
            </a:r>
            <a:r>
              <a:rPr dirty="0" sz="1000" spc="-60">
                <a:latin typeface="Arial"/>
                <a:cs typeface="Arial"/>
              </a:rPr>
              <a:t> </a:t>
            </a:r>
            <a:r>
              <a:rPr dirty="0" sz="1000" spc="-25">
                <a:latin typeface="Batang"/>
                <a:cs typeface="Batang"/>
              </a:rPr>
              <a:t>별로 </a:t>
            </a:r>
            <a:r>
              <a:rPr dirty="0" sz="1000" spc="-30">
                <a:latin typeface="Batang"/>
                <a:cs typeface="Batang"/>
              </a:rPr>
              <a:t>지정합니다</a:t>
            </a:r>
            <a:r>
              <a:rPr dirty="0" sz="1000" spc="-30">
                <a:latin typeface="Arial"/>
                <a:cs typeface="Arial"/>
              </a:rPr>
              <a:t>.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35">
                <a:latin typeface="Arial"/>
                <a:cs typeface="Arial"/>
              </a:rPr>
              <a:t>[3]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486917" y="2868851"/>
            <a:ext cx="3049905" cy="37592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317500" algn="l"/>
              </a:tabLst>
            </a:pPr>
            <a:r>
              <a:rPr dirty="0" sz="1000">
                <a:latin typeface="Arial"/>
                <a:cs typeface="Arial"/>
              </a:rPr>
              <a:t>Active/Passive</a:t>
            </a:r>
            <a:r>
              <a:rPr dirty="0" sz="1000" spc="-60">
                <a:latin typeface="Arial"/>
                <a:cs typeface="Arial"/>
              </a:rPr>
              <a:t> </a:t>
            </a:r>
            <a:r>
              <a:rPr dirty="0" sz="1000">
                <a:latin typeface="Batang"/>
                <a:cs typeface="Batang"/>
              </a:rPr>
              <a:t>구성을</a:t>
            </a:r>
            <a:r>
              <a:rPr dirty="0" sz="1000" spc="-18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전제로</a:t>
            </a:r>
            <a:r>
              <a:rPr dirty="0" sz="1000" spc="-185">
                <a:latin typeface="Batang"/>
                <a:cs typeface="Batang"/>
              </a:rPr>
              <a:t> </a:t>
            </a:r>
            <a:r>
              <a:rPr dirty="0" sz="1000" spc="-30">
                <a:latin typeface="Batang"/>
                <a:cs typeface="Batang"/>
              </a:rPr>
              <a:t>하며</a:t>
            </a:r>
            <a:r>
              <a:rPr dirty="0" sz="1000" spc="-30">
                <a:latin typeface="Arial"/>
                <a:cs typeface="Arial"/>
              </a:rPr>
              <a:t>,</a:t>
            </a:r>
            <a:r>
              <a:rPr dirty="0" sz="1000" spc="-5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Active/Active</a:t>
            </a:r>
            <a:endParaRPr sz="10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80"/>
              </a:spcBef>
            </a:pPr>
            <a:r>
              <a:rPr dirty="0" sz="1000">
                <a:latin typeface="Batang"/>
                <a:cs typeface="Batang"/>
              </a:rPr>
              <a:t>로는</a:t>
            </a:r>
            <a:r>
              <a:rPr dirty="0" sz="1000" spc="-17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사용할</a:t>
            </a:r>
            <a:r>
              <a:rPr dirty="0" sz="1000" spc="-19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수</a:t>
            </a:r>
            <a:r>
              <a:rPr dirty="0" sz="1000" spc="-145">
                <a:latin typeface="Batang"/>
                <a:cs typeface="Batang"/>
              </a:rPr>
              <a:t> </a:t>
            </a:r>
            <a:r>
              <a:rPr dirty="0" sz="1000" spc="-20">
                <a:latin typeface="Batang"/>
                <a:cs typeface="Batang"/>
              </a:rPr>
              <a:t>없습니다</a:t>
            </a:r>
            <a:r>
              <a:rPr dirty="0" sz="1000" spc="-2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86917" y="3394630"/>
            <a:ext cx="3078480" cy="37592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280"/>
              </a:spcBef>
              <a:buChar char="●"/>
              <a:tabLst>
                <a:tab pos="317500" algn="l"/>
              </a:tabLst>
            </a:pPr>
            <a:r>
              <a:rPr dirty="0" sz="1000">
                <a:latin typeface="Arial"/>
                <a:cs typeface="Arial"/>
              </a:rPr>
              <a:t>GTM/GSLB</a:t>
            </a:r>
            <a:r>
              <a:rPr dirty="0" sz="1000">
                <a:latin typeface="Batang"/>
                <a:cs typeface="Batang"/>
              </a:rPr>
              <a:t>를</a:t>
            </a:r>
            <a:r>
              <a:rPr dirty="0" sz="1000" spc="-12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통한</a:t>
            </a:r>
            <a:r>
              <a:rPr dirty="0" sz="1000" spc="-15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사이트</a:t>
            </a:r>
            <a:r>
              <a:rPr dirty="0" sz="1000" spc="-17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트래픽</a:t>
            </a:r>
            <a:r>
              <a:rPr dirty="0" sz="1000" spc="-18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전환은</a:t>
            </a:r>
            <a:r>
              <a:rPr dirty="0" sz="1000" spc="-175">
                <a:latin typeface="Batang"/>
                <a:cs typeface="Batang"/>
              </a:rPr>
              <a:t> </a:t>
            </a:r>
            <a:r>
              <a:rPr dirty="0" sz="1000" spc="-20">
                <a:latin typeface="Arial"/>
                <a:cs typeface="Arial"/>
              </a:rPr>
              <a:t>RHACM</a:t>
            </a:r>
            <a:endParaRPr sz="10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80"/>
              </a:spcBef>
            </a:pPr>
            <a:r>
              <a:rPr dirty="0" sz="1000">
                <a:latin typeface="Batang"/>
                <a:cs typeface="Batang"/>
              </a:rPr>
              <a:t>에서</a:t>
            </a:r>
            <a:r>
              <a:rPr dirty="0" sz="1000" spc="-17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제공하지</a:t>
            </a:r>
            <a:r>
              <a:rPr dirty="0" sz="1000" spc="-220">
                <a:latin typeface="Batang"/>
                <a:cs typeface="Batang"/>
              </a:rPr>
              <a:t> </a:t>
            </a:r>
            <a:r>
              <a:rPr dirty="0" sz="1000" spc="-20">
                <a:latin typeface="Batang"/>
                <a:cs typeface="Batang"/>
              </a:rPr>
              <a:t>않습니다</a:t>
            </a:r>
            <a:r>
              <a:rPr dirty="0" sz="1000" spc="-2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61534" y="1407048"/>
            <a:ext cx="6083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40" b="1">
                <a:latin typeface="Arial"/>
                <a:cs typeface="Arial"/>
              </a:rPr>
              <a:t>Region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50" b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934495" y="1407048"/>
            <a:ext cx="6038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40" b="1">
                <a:latin typeface="Arial"/>
                <a:cs typeface="Arial"/>
              </a:rPr>
              <a:t>Region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50" b="1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969208" y="774073"/>
            <a:ext cx="1643380" cy="1621155"/>
            <a:chOff x="1969208" y="774073"/>
            <a:chExt cx="1643380" cy="1621155"/>
          </a:xfrm>
        </p:grpSpPr>
        <p:sp>
          <p:nvSpPr>
            <p:cNvPr id="14" name="object 14" descr=""/>
            <p:cNvSpPr/>
            <p:nvPr/>
          </p:nvSpPr>
          <p:spPr>
            <a:xfrm>
              <a:off x="1973970" y="1410632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412750" h="412750">
                  <a:moveTo>
                    <a:pt x="89" y="412326"/>
                  </a:moveTo>
                  <a:lnTo>
                    <a:pt x="0" y="198127"/>
                  </a:lnTo>
                  <a:lnTo>
                    <a:pt x="53572" y="251654"/>
                  </a:lnTo>
                  <a:lnTo>
                    <a:pt x="305016" y="0"/>
                  </a:lnTo>
                  <a:lnTo>
                    <a:pt x="412161" y="107054"/>
                  </a:lnTo>
                  <a:lnTo>
                    <a:pt x="160717" y="358709"/>
                  </a:lnTo>
                  <a:lnTo>
                    <a:pt x="214289" y="412236"/>
                  </a:lnTo>
                  <a:lnTo>
                    <a:pt x="89" y="41232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73970" y="1410632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412750" h="412750">
                  <a:moveTo>
                    <a:pt x="412161" y="107054"/>
                  </a:moveTo>
                  <a:lnTo>
                    <a:pt x="160717" y="358709"/>
                  </a:lnTo>
                  <a:lnTo>
                    <a:pt x="214289" y="412236"/>
                  </a:lnTo>
                  <a:lnTo>
                    <a:pt x="89" y="412326"/>
                  </a:lnTo>
                  <a:lnTo>
                    <a:pt x="0" y="198127"/>
                  </a:lnTo>
                  <a:lnTo>
                    <a:pt x="53572" y="251654"/>
                  </a:lnTo>
                  <a:lnTo>
                    <a:pt x="305016" y="0"/>
                  </a:lnTo>
                  <a:lnTo>
                    <a:pt x="412161" y="1070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164068" y="1371689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5" h="438785">
                  <a:moveTo>
                    <a:pt x="107074" y="0"/>
                  </a:moveTo>
                  <a:lnTo>
                    <a:pt x="384824" y="277541"/>
                  </a:lnTo>
                  <a:lnTo>
                    <a:pt x="438349" y="223972"/>
                  </a:lnTo>
                  <a:lnTo>
                    <a:pt x="438449" y="438171"/>
                  </a:lnTo>
                  <a:lnTo>
                    <a:pt x="224249" y="438254"/>
                  </a:lnTo>
                  <a:lnTo>
                    <a:pt x="277774" y="384684"/>
                  </a:lnTo>
                  <a:lnTo>
                    <a:pt x="0" y="107142"/>
                  </a:lnTo>
                  <a:lnTo>
                    <a:pt x="107074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3325" y="2011908"/>
              <a:ext cx="926693" cy="38279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6787" y="774073"/>
              <a:ext cx="647981" cy="649781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2416451" y="1235589"/>
            <a:ext cx="7645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GTM/GSLB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71898" y="1809541"/>
            <a:ext cx="2538095" cy="2249805"/>
            <a:chOff x="771898" y="1809541"/>
            <a:chExt cx="2538095" cy="2249805"/>
          </a:xfrm>
        </p:grpSpPr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2387" y="2994406"/>
              <a:ext cx="1027125" cy="347961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781423" y="1819066"/>
              <a:ext cx="1285875" cy="2230755"/>
            </a:xfrm>
            <a:custGeom>
              <a:avLst/>
              <a:gdLst/>
              <a:ahLst/>
              <a:cxnLst/>
              <a:rect l="l" t="t" r="r" b="b"/>
              <a:pathLst>
                <a:path w="1285875" h="2230754">
                  <a:moveTo>
                    <a:pt x="0" y="214314"/>
                  </a:moveTo>
                  <a:lnTo>
                    <a:pt x="5660" y="165174"/>
                  </a:lnTo>
                  <a:lnTo>
                    <a:pt x="21783" y="120064"/>
                  </a:lnTo>
                  <a:lnTo>
                    <a:pt x="47082" y="80271"/>
                  </a:lnTo>
                  <a:lnTo>
                    <a:pt x="80272" y="47082"/>
                  </a:lnTo>
                  <a:lnTo>
                    <a:pt x="120065" y="21783"/>
                  </a:lnTo>
                  <a:lnTo>
                    <a:pt x="165175" y="5660"/>
                  </a:lnTo>
                  <a:lnTo>
                    <a:pt x="214317" y="0"/>
                  </a:lnTo>
                  <a:lnTo>
                    <a:pt x="1071555" y="0"/>
                  </a:lnTo>
                  <a:lnTo>
                    <a:pt x="1113561" y="4155"/>
                  </a:lnTo>
                  <a:lnTo>
                    <a:pt x="1153570" y="16312"/>
                  </a:lnTo>
                  <a:lnTo>
                    <a:pt x="1190458" y="36005"/>
                  </a:lnTo>
                  <a:lnTo>
                    <a:pt x="1223100" y="62769"/>
                  </a:lnTo>
                  <a:lnTo>
                    <a:pt x="1249864" y="95411"/>
                  </a:lnTo>
                  <a:lnTo>
                    <a:pt x="1269558" y="132299"/>
                  </a:lnTo>
                  <a:lnTo>
                    <a:pt x="1281716" y="172308"/>
                  </a:lnTo>
                  <a:lnTo>
                    <a:pt x="1285872" y="214314"/>
                  </a:lnTo>
                  <a:lnTo>
                    <a:pt x="1285872" y="2015875"/>
                  </a:lnTo>
                  <a:lnTo>
                    <a:pt x="1280212" y="2065020"/>
                  </a:lnTo>
                  <a:lnTo>
                    <a:pt x="1264089" y="2110133"/>
                  </a:lnTo>
                  <a:lnTo>
                    <a:pt x="1238789" y="2149927"/>
                  </a:lnTo>
                  <a:lnTo>
                    <a:pt x="1205600" y="2183117"/>
                  </a:lnTo>
                  <a:lnTo>
                    <a:pt x="1165806" y="2208417"/>
                  </a:lnTo>
                  <a:lnTo>
                    <a:pt x="1120696" y="2224540"/>
                  </a:lnTo>
                  <a:lnTo>
                    <a:pt x="1071555" y="2230200"/>
                  </a:lnTo>
                  <a:lnTo>
                    <a:pt x="214317" y="2230200"/>
                  </a:lnTo>
                  <a:lnTo>
                    <a:pt x="165175" y="2224540"/>
                  </a:lnTo>
                  <a:lnTo>
                    <a:pt x="120065" y="2208417"/>
                  </a:lnTo>
                  <a:lnTo>
                    <a:pt x="80272" y="2183117"/>
                  </a:lnTo>
                  <a:lnTo>
                    <a:pt x="47082" y="2149927"/>
                  </a:lnTo>
                  <a:lnTo>
                    <a:pt x="21783" y="2110133"/>
                  </a:lnTo>
                  <a:lnTo>
                    <a:pt x="5660" y="2065020"/>
                  </a:lnTo>
                  <a:lnTo>
                    <a:pt x="0" y="2015875"/>
                  </a:lnTo>
                  <a:lnTo>
                    <a:pt x="0" y="214314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023220" y="1930227"/>
            <a:ext cx="8032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0495" marR="5080" indent="-13843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OCP</a:t>
            </a:r>
            <a:r>
              <a:rPr dirty="0" sz="1100" spc="-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Cluster (Active)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71625" y="3750194"/>
            <a:ext cx="11601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Persistent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Storage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100362" y="2291130"/>
            <a:ext cx="648335" cy="1410970"/>
            <a:chOff x="1100362" y="2291130"/>
            <a:chExt cx="648335" cy="1410970"/>
          </a:xfrm>
        </p:grpSpPr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0362" y="2291130"/>
              <a:ext cx="647988" cy="64798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9202" y="3286743"/>
              <a:ext cx="414914" cy="414899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1054872" y="2877925"/>
            <a:ext cx="8083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318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Application </a:t>
            </a:r>
            <a:r>
              <a:rPr dirty="0" sz="1100">
                <a:latin typeface="Arial"/>
                <a:cs typeface="Arial"/>
              </a:rPr>
              <a:t>(API</a:t>
            </a:r>
            <a:r>
              <a:rPr dirty="0" sz="1100" spc="-7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Object)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3581767" y="1819066"/>
            <a:ext cx="1285875" cy="2230755"/>
          </a:xfrm>
          <a:custGeom>
            <a:avLst/>
            <a:gdLst/>
            <a:ahLst/>
            <a:cxnLst/>
            <a:rect l="l" t="t" r="r" b="b"/>
            <a:pathLst>
              <a:path w="1285875" h="2230754">
                <a:moveTo>
                  <a:pt x="0" y="214314"/>
                </a:moveTo>
                <a:lnTo>
                  <a:pt x="5660" y="165174"/>
                </a:lnTo>
                <a:lnTo>
                  <a:pt x="21783" y="120064"/>
                </a:lnTo>
                <a:lnTo>
                  <a:pt x="47082" y="80271"/>
                </a:lnTo>
                <a:lnTo>
                  <a:pt x="80272" y="47082"/>
                </a:lnTo>
                <a:lnTo>
                  <a:pt x="120067" y="21783"/>
                </a:lnTo>
                <a:lnTo>
                  <a:pt x="165179" y="5660"/>
                </a:lnTo>
                <a:lnTo>
                  <a:pt x="214324" y="0"/>
                </a:lnTo>
                <a:lnTo>
                  <a:pt x="1071547" y="0"/>
                </a:lnTo>
                <a:lnTo>
                  <a:pt x="1113557" y="4155"/>
                </a:lnTo>
                <a:lnTo>
                  <a:pt x="1153566" y="16312"/>
                </a:lnTo>
                <a:lnTo>
                  <a:pt x="1190453" y="36005"/>
                </a:lnTo>
                <a:lnTo>
                  <a:pt x="1223097" y="62769"/>
                </a:lnTo>
                <a:lnTo>
                  <a:pt x="1249865" y="95411"/>
                </a:lnTo>
                <a:lnTo>
                  <a:pt x="1269559" y="132299"/>
                </a:lnTo>
                <a:lnTo>
                  <a:pt x="1281716" y="172308"/>
                </a:lnTo>
                <a:lnTo>
                  <a:pt x="1285872" y="214314"/>
                </a:lnTo>
                <a:lnTo>
                  <a:pt x="1285872" y="2015875"/>
                </a:lnTo>
                <a:lnTo>
                  <a:pt x="1280212" y="2065020"/>
                </a:lnTo>
                <a:lnTo>
                  <a:pt x="1264089" y="2110133"/>
                </a:lnTo>
                <a:lnTo>
                  <a:pt x="1238789" y="2149927"/>
                </a:lnTo>
                <a:lnTo>
                  <a:pt x="1205599" y="2183117"/>
                </a:lnTo>
                <a:lnTo>
                  <a:pt x="1165805" y="2208417"/>
                </a:lnTo>
                <a:lnTo>
                  <a:pt x="1120692" y="2224540"/>
                </a:lnTo>
                <a:lnTo>
                  <a:pt x="1071547" y="2230200"/>
                </a:lnTo>
                <a:lnTo>
                  <a:pt x="214324" y="2230200"/>
                </a:lnTo>
                <a:lnTo>
                  <a:pt x="165179" y="2224540"/>
                </a:lnTo>
                <a:lnTo>
                  <a:pt x="120067" y="2208417"/>
                </a:lnTo>
                <a:lnTo>
                  <a:pt x="80272" y="2183117"/>
                </a:lnTo>
                <a:lnTo>
                  <a:pt x="47082" y="2149927"/>
                </a:lnTo>
                <a:lnTo>
                  <a:pt x="21783" y="2110133"/>
                </a:lnTo>
                <a:lnTo>
                  <a:pt x="5660" y="2065020"/>
                </a:lnTo>
                <a:lnTo>
                  <a:pt x="0" y="2015875"/>
                </a:lnTo>
                <a:lnTo>
                  <a:pt x="0" y="214314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3823569" y="1930227"/>
            <a:ext cx="8032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6839" marR="5080" indent="-104775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OCP</a:t>
            </a:r>
            <a:r>
              <a:rPr dirty="0" sz="1100" spc="-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Cluster (Passive)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671970" y="3750194"/>
            <a:ext cx="11601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Persistent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Storage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3900717" y="2291130"/>
            <a:ext cx="648335" cy="1410970"/>
            <a:chOff x="3900717" y="2291130"/>
            <a:chExt cx="648335" cy="1410970"/>
          </a:xfrm>
        </p:grpSpPr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00717" y="2291130"/>
              <a:ext cx="647973" cy="647988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19542" y="3286743"/>
              <a:ext cx="414914" cy="414899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3855216" y="2877925"/>
            <a:ext cx="8083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318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Application </a:t>
            </a:r>
            <a:r>
              <a:rPr dirty="0" sz="1100">
                <a:latin typeface="Arial"/>
                <a:cs typeface="Arial"/>
              </a:rPr>
              <a:t>(API</a:t>
            </a:r>
            <a:r>
              <a:rPr dirty="0" sz="1100" spc="-7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Object)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1815613" y="2360985"/>
            <a:ext cx="2082800" cy="471805"/>
            <a:chOff x="1815613" y="2360985"/>
            <a:chExt cx="2082800" cy="471805"/>
          </a:xfrm>
        </p:grpSpPr>
        <p:sp>
          <p:nvSpPr>
            <p:cNvPr id="37" name="object 37" descr=""/>
            <p:cNvSpPr/>
            <p:nvPr/>
          </p:nvSpPr>
          <p:spPr>
            <a:xfrm>
              <a:off x="1820376" y="2365747"/>
              <a:ext cx="2073275" cy="462280"/>
            </a:xfrm>
            <a:custGeom>
              <a:avLst/>
              <a:gdLst/>
              <a:ahLst/>
              <a:cxnLst/>
              <a:rect l="l" t="t" r="r" b="b"/>
              <a:pathLst>
                <a:path w="2073275" h="462280">
                  <a:moveTo>
                    <a:pt x="1842141" y="461696"/>
                  </a:moveTo>
                  <a:lnTo>
                    <a:pt x="1842141" y="346271"/>
                  </a:lnTo>
                  <a:lnTo>
                    <a:pt x="0" y="346271"/>
                  </a:lnTo>
                  <a:lnTo>
                    <a:pt x="0" y="115424"/>
                  </a:lnTo>
                  <a:lnTo>
                    <a:pt x="1842141" y="115424"/>
                  </a:lnTo>
                  <a:lnTo>
                    <a:pt x="1842141" y="0"/>
                  </a:lnTo>
                  <a:lnTo>
                    <a:pt x="2072990" y="230847"/>
                  </a:lnTo>
                  <a:lnTo>
                    <a:pt x="1842141" y="46169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820376" y="2365747"/>
              <a:ext cx="2073275" cy="462280"/>
            </a:xfrm>
            <a:custGeom>
              <a:avLst/>
              <a:gdLst/>
              <a:ahLst/>
              <a:cxnLst/>
              <a:rect l="l" t="t" r="r" b="b"/>
              <a:pathLst>
                <a:path w="2073275" h="462280">
                  <a:moveTo>
                    <a:pt x="0" y="115424"/>
                  </a:moveTo>
                  <a:lnTo>
                    <a:pt x="1842141" y="115424"/>
                  </a:lnTo>
                  <a:lnTo>
                    <a:pt x="1842141" y="0"/>
                  </a:lnTo>
                  <a:lnTo>
                    <a:pt x="2072990" y="230847"/>
                  </a:lnTo>
                  <a:lnTo>
                    <a:pt x="1842141" y="461696"/>
                  </a:lnTo>
                  <a:lnTo>
                    <a:pt x="1842141" y="346271"/>
                  </a:lnTo>
                  <a:lnTo>
                    <a:pt x="0" y="346271"/>
                  </a:lnTo>
                  <a:lnTo>
                    <a:pt x="0" y="115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2176969" y="2494488"/>
            <a:ext cx="12458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dirty="0" sz="11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Failover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1815613" y="3258530"/>
            <a:ext cx="2082800" cy="471805"/>
            <a:chOff x="1815613" y="3258530"/>
            <a:chExt cx="2082800" cy="471805"/>
          </a:xfrm>
        </p:grpSpPr>
        <p:sp>
          <p:nvSpPr>
            <p:cNvPr id="41" name="object 41" descr=""/>
            <p:cNvSpPr/>
            <p:nvPr/>
          </p:nvSpPr>
          <p:spPr>
            <a:xfrm>
              <a:off x="1820376" y="3263293"/>
              <a:ext cx="2073275" cy="462280"/>
            </a:xfrm>
            <a:custGeom>
              <a:avLst/>
              <a:gdLst/>
              <a:ahLst/>
              <a:cxnLst/>
              <a:rect l="l" t="t" r="r" b="b"/>
              <a:pathLst>
                <a:path w="2073275" h="462279">
                  <a:moveTo>
                    <a:pt x="1842141" y="461699"/>
                  </a:moveTo>
                  <a:lnTo>
                    <a:pt x="1842141" y="346274"/>
                  </a:lnTo>
                  <a:lnTo>
                    <a:pt x="0" y="346274"/>
                  </a:lnTo>
                  <a:lnTo>
                    <a:pt x="0" y="115424"/>
                  </a:lnTo>
                  <a:lnTo>
                    <a:pt x="1842141" y="115424"/>
                  </a:lnTo>
                  <a:lnTo>
                    <a:pt x="1842141" y="0"/>
                  </a:lnTo>
                  <a:lnTo>
                    <a:pt x="2072990" y="230849"/>
                  </a:lnTo>
                  <a:lnTo>
                    <a:pt x="1842141" y="4616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820376" y="3263293"/>
              <a:ext cx="2073275" cy="462280"/>
            </a:xfrm>
            <a:custGeom>
              <a:avLst/>
              <a:gdLst/>
              <a:ahLst/>
              <a:cxnLst/>
              <a:rect l="l" t="t" r="r" b="b"/>
              <a:pathLst>
                <a:path w="2073275" h="462279">
                  <a:moveTo>
                    <a:pt x="0" y="115424"/>
                  </a:moveTo>
                  <a:lnTo>
                    <a:pt x="1842141" y="115424"/>
                  </a:lnTo>
                  <a:lnTo>
                    <a:pt x="1842141" y="0"/>
                  </a:lnTo>
                  <a:lnTo>
                    <a:pt x="2072990" y="230849"/>
                  </a:lnTo>
                  <a:lnTo>
                    <a:pt x="1842141" y="461699"/>
                  </a:lnTo>
                  <a:lnTo>
                    <a:pt x="1842141" y="346274"/>
                  </a:lnTo>
                  <a:lnTo>
                    <a:pt x="0" y="346274"/>
                  </a:lnTo>
                  <a:lnTo>
                    <a:pt x="0" y="115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1986690" y="3392027"/>
            <a:ext cx="16262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Asynchronous</a:t>
            </a:r>
            <a:r>
              <a:rPr dirty="0" sz="11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Replication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5246" y="3263168"/>
            <a:ext cx="409076" cy="6776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4813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000000"/>
                </a:solidFill>
                <a:latin typeface="Lucida Sans"/>
                <a:cs typeface="Lucida Sans"/>
              </a:rPr>
              <a:t>Red</a:t>
            </a:r>
            <a:r>
              <a:rPr dirty="0" sz="1800" spc="-105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dirty="0" sz="1800" spc="-80">
                <a:solidFill>
                  <a:srgbClr val="000000"/>
                </a:solidFill>
                <a:latin typeface="Lucida Sans"/>
                <a:cs typeface="Lucida Sans"/>
              </a:rPr>
              <a:t>Hat</a:t>
            </a:r>
            <a:r>
              <a:rPr dirty="0" sz="1800" spc="-105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dirty="0" sz="1800" spc="-60">
                <a:solidFill>
                  <a:srgbClr val="000000"/>
                </a:solidFill>
                <a:latin typeface="Lucida Sans"/>
                <a:cs typeface="Lucida Sans"/>
              </a:rPr>
              <a:t>OpenShift</a:t>
            </a:r>
            <a:r>
              <a:rPr dirty="0" sz="1800" spc="-95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Active-</a:t>
            </a:r>
            <a:r>
              <a:rPr dirty="0" sz="1800" spc="-30" b="1">
                <a:solidFill>
                  <a:srgbClr val="000000"/>
                </a:solidFill>
                <a:latin typeface="Arial"/>
                <a:cs typeface="Arial"/>
              </a:rPr>
              <a:t>Standby</a:t>
            </a:r>
            <a:r>
              <a:rPr dirty="0" sz="1800" spc="-3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000000"/>
                </a:solidFill>
                <a:latin typeface="Lucida Sans"/>
                <a:cs typeface="Lucida Sans"/>
              </a:rPr>
              <a:t>DR</a:t>
            </a:r>
            <a:r>
              <a:rPr dirty="0" sz="1800" spc="-105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dirty="0" sz="1800" spc="-25">
                <a:solidFill>
                  <a:srgbClr val="000000"/>
                </a:solidFill>
                <a:latin typeface="Batang"/>
                <a:cs typeface="Batang"/>
              </a:rPr>
              <a:t>구성</a:t>
            </a:r>
            <a:endParaRPr sz="1800">
              <a:latin typeface="Batang"/>
              <a:cs typeface="Batang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95322" y="3697450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54289" y="2333440"/>
            <a:ext cx="1952625" cy="1409065"/>
            <a:chOff x="454289" y="2333440"/>
            <a:chExt cx="1952625" cy="140906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2718" y="3278293"/>
              <a:ext cx="463881" cy="46387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4289" y="2333440"/>
              <a:ext cx="409074" cy="67762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978" y="2440432"/>
              <a:ext cx="239690" cy="26168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499100" y="2767726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919448" y="2333440"/>
            <a:ext cx="409575" cy="678180"/>
            <a:chOff x="919448" y="2333440"/>
            <a:chExt cx="409575" cy="67818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448" y="2333440"/>
              <a:ext cx="409076" cy="67762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4140" y="2440432"/>
              <a:ext cx="239689" cy="261686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964260" y="2767726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73831" y="2333440"/>
            <a:ext cx="409074" cy="677628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2056555" y="2767726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384607" y="2333440"/>
            <a:ext cx="924560" cy="678180"/>
            <a:chOff x="1384607" y="2333440"/>
            <a:chExt cx="924560" cy="678180"/>
          </a:xfrm>
        </p:grpSpPr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49093" y="2432965"/>
              <a:ext cx="259504" cy="25950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4607" y="2333440"/>
              <a:ext cx="409076" cy="67762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9299" y="2440432"/>
              <a:ext cx="239690" cy="261686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429421" y="2767726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38990" y="2333440"/>
            <a:ext cx="409076" cy="67762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2521707" y="2767726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514244" y="2333440"/>
            <a:ext cx="791210" cy="678180"/>
            <a:chOff x="2514244" y="2333440"/>
            <a:chExt cx="791210" cy="678180"/>
          </a:xfrm>
        </p:grpSpPr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14244" y="2432965"/>
              <a:ext cx="259506" cy="25950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6294" y="2333440"/>
              <a:ext cx="409074" cy="677628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2979011" y="2767726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13219" y="2432965"/>
            <a:ext cx="2818130" cy="1443990"/>
            <a:chOff x="413219" y="2432965"/>
            <a:chExt cx="2818130" cy="1443990"/>
          </a:xfrm>
        </p:grpSpPr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71544" y="2432965"/>
              <a:ext cx="259506" cy="25950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2314" y="3228546"/>
              <a:ext cx="389481" cy="64517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3219" y="3563977"/>
              <a:ext cx="530191" cy="31261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344" y="3242955"/>
              <a:ext cx="441661" cy="44166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8552" y="3228546"/>
              <a:ext cx="389481" cy="64517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9458" y="3563977"/>
              <a:ext cx="530191" cy="31261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582" y="3242955"/>
              <a:ext cx="441661" cy="441661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391629" y="3182493"/>
            <a:ext cx="1150620" cy="852169"/>
          </a:xfrm>
          <a:prstGeom prst="rect">
            <a:avLst/>
          </a:prstGeom>
          <a:ln w="19049">
            <a:solidFill>
              <a:srgbClr val="69A8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Times New Roman"/>
              <a:cs typeface="Times New Roman"/>
            </a:endParaRPr>
          </a:p>
          <a:p>
            <a:pPr algn="ctr" marR="2540">
              <a:lnSpc>
                <a:spcPct val="100000"/>
              </a:lnSpc>
              <a:tabLst>
                <a:tab pos="565785" algn="l"/>
              </a:tabLst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BASTION</a:t>
            </a:r>
            <a:r>
              <a:rPr dirty="0" sz="60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BASTION</a:t>
            </a:r>
            <a:endParaRPr sz="6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600">
              <a:latin typeface="Lucida Sans"/>
              <a:cs typeface="Lucida Sans"/>
            </a:endParaRPr>
          </a:p>
          <a:p>
            <a:pPr algn="ctr">
              <a:lnSpc>
                <a:spcPct val="100000"/>
              </a:lnSpc>
            </a:pPr>
            <a:r>
              <a:rPr dirty="0" sz="900">
                <a:latin typeface="Arial"/>
                <a:cs typeface="Arial"/>
              </a:rPr>
              <a:t>Bastion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HA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2126423" y="1717549"/>
            <a:ext cx="4833620" cy="238125"/>
            <a:chOff x="2126423" y="1717549"/>
            <a:chExt cx="4833620" cy="238125"/>
          </a:xfrm>
        </p:grpSpPr>
        <p:pic>
          <p:nvPicPr>
            <p:cNvPr id="37" name="object 3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27786" y="1717549"/>
              <a:ext cx="431799" cy="238122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26423" y="1717549"/>
              <a:ext cx="431796" cy="238122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2614383" y="1680079"/>
            <a:ext cx="762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75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Cluster-Level </a:t>
            </a:r>
            <a:r>
              <a:rPr dirty="0" sz="900">
                <a:latin typeface="Arial"/>
                <a:cs typeface="Arial"/>
              </a:rPr>
              <a:t>Load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Balancer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216649" y="2181745"/>
            <a:ext cx="8609965" cy="2578735"/>
            <a:chOff x="216649" y="2181745"/>
            <a:chExt cx="8609965" cy="2578735"/>
          </a:xfrm>
        </p:grpSpPr>
        <p:sp>
          <p:nvSpPr>
            <p:cNvPr id="41" name="object 41" descr=""/>
            <p:cNvSpPr/>
            <p:nvPr/>
          </p:nvSpPr>
          <p:spPr>
            <a:xfrm>
              <a:off x="222999" y="2188095"/>
              <a:ext cx="3286760" cy="2566035"/>
            </a:xfrm>
            <a:custGeom>
              <a:avLst/>
              <a:gdLst/>
              <a:ahLst/>
              <a:cxnLst/>
              <a:rect l="l" t="t" r="r" b="b"/>
              <a:pathLst>
                <a:path w="3286760" h="2566035">
                  <a:moveTo>
                    <a:pt x="0" y="0"/>
                  </a:moveTo>
                  <a:lnTo>
                    <a:pt x="3286493" y="0"/>
                  </a:lnTo>
                  <a:lnTo>
                    <a:pt x="3286493" y="2565894"/>
                  </a:lnTo>
                  <a:lnTo>
                    <a:pt x="0" y="256589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509688" y="2188095"/>
              <a:ext cx="3310890" cy="2566035"/>
            </a:xfrm>
            <a:custGeom>
              <a:avLst/>
              <a:gdLst/>
              <a:ahLst/>
              <a:cxnLst/>
              <a:rect l="l" t="t" r="r" b="b"/>
              <a:pathLst>
                <a:path w="3310890" h="2566035">
                  <a:moveTo>
                    <a:pt x="3310493" y="2565894"/>
                  </a:moveTo>
                  <a:lnTo>
                    <a:pt x="0" y="2565894"/>
                  </a:lnTo>
                  <a:lnTo>
                    <a:pt x="0" y="0"/>
                  </a:lnTo>
                  <a:lnTo>
                    <a:pt x="3310493" y="0"/>
                  </a:lnTo>
                  <a:lnTo>
                    <a:pt x="3310493" y="2565894"/>
                  </a:lnTo>
                  <a:close/>
                </a:path>
              </a:pathLst>
            </a:custGeom>
            <a:solidFill>
              <a:srgbClr val="7E7E7E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509688" y="2188095"/>
              <a:ext cx="3310890" cy="2566035"/>
            </a:xfrm>
            <a:custGeom>
              <a:avLst/>
              <a:gdLst/>
              <a:ahLst/>
              <a:cxnLst/>
              <a:rect l="l" t="t" r="r" b="b"/>
              <a:pathLst>
                <a:path w="3310890" h="2566035">
                  <a:moveTo>
                    <a:pt x="0" y="0"/>
                  </a:moveTo>
                  <a:lnTo>
                    <a:pt x="3310493" y="0"/>
                  </a:lnTo>
                  <a:lnTo>
                    <a:pt x="3310493" y="2565894"/>
                  </a:lnTo>
                  <a:lnTo>
                    <a:pt x="0" y="256589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86669" y="3263168"/>
              <a:ext cx="409074" cy="677623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3006748" y="3697450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2434942" y="3263168"/>
            <a:ext cx="883285" cy="678180"/>
            <a:chOff x="2434942" y="3263168"/>
            <a:chExt cx="883285" cy="678180"/>
          </a:xfrm>
        </p:grpSpPr>
        <p:pic>
          <p:nvPicPr>
            <p:cNvPr id="47" name="object 4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4144" y="3278293"/>
              <a:ext cx="463874" cy="46387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4942" y="3263168"/>
              <a:ext cx="409076" cy="677623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2555016" y="3697450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2159033" y="1950908"/>
            <a:ext cx="3978275" cy="1998980"/>
            <a:chOff x="2159033" y="1950908"/>
            <a:chExt cx="3978275" cy="1998980"/>
          </a:xfrm>
        </p:grpSpPr>
        <p:pic>
          <p:nvPicPr>
            <p:cNvPr id="51" name="object 5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2415" y="3278293"/>
              <a:ext cx="463879" cy="463874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2200995" y="1955671"/>
              <a:ext cx="141605" cy="325755"/>
            </a:xfrm>
            <a:custGeom>
              <a:avLst/>
              <a:gdLst/>
              <a:ahLst/>
              <a:cxnLst/>
              <a:rect l="l" t="t" r="r" b="b"/>
              <a:pathLst>
                <a:path w="141605" h="325755">
                  <a:moveTo>
                    <a:pt x="141327" y="0"/>
                  </a:moveTo>
                  <a:lnTo>
                    <a:pt x="0" y="32528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183770" y="2274685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45914"/>
                  </a:moveTo>
                  <a:lnTo>
                    <a:pt x="2794" y="0"/>
                  </a:lnTo>
                  <a:lnTo>
                    <a:pt x="31654" y="12539"/>
                  </a:lnTo>
                  <a:lnTo>
                    <a:pt x="0" y="4591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183770" y="2274685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2794" y="0"/>
                  </a:moveTo>
                  <a:lnTo>
                    <a:pt x="0" y="45914"/>
                  </a:lnTo>
                  <a:lnTo>
                    <a:pt x="31654" y="12539"/>
                  </a:lnTo>
                  <a:lnTo>
                    <a:pt x="279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342322" y="1955671"/>
              <a:ext cx="266065" cy="333375"/>
            </a:xfrm>
            <a:custGeom>
              <a:avLst/>
              <a:gdLst/>
              <a:ahLst/>
              <a:cxnLst/>
              <a:rect l="l" t="t" r="r" b="b"/>
              <a:pathLst>
                <a:path w="266064" h="333375">
                  <a:moveTo>
                    <a:pt x="0" y="0"/>
                  </a:moveTo>
                  <a:lnTo>
                    <a:pt x="265571" y="33301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595594" y="2278880"/>
              <a:ext cx="39370" cy="43815"/>
            </a:xfrm>
            <a:custGeom>
              <a:avLst/>
              <a:gdLst/>
              <a:ahLst/>
              <a:cxnLst/>
              <a:rect l="l" t="t" r="r" b="b"/>
              <a:pathLst>
                <a:path w="39369" h="43814">
                  <a:moveTo>
                    <a:pt x="39249" y="43604"/>
                  </a:moveTo>
                  <a:lnTo>
                    <a:pt x="0" y="19617"/>
                  </a:lnTo>
                  <a:lnTo>
                    <a:pt x="24599" y="0"/>
                  </a:lnTo>
                  <a:lnTo>
                    <a:pt x="39249" y="4360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595594" y="2278880"/>
              <a:ext cx="39370" cy="43815"/>
            </a:xfrm>
            <a:custGeom>
              <a:avLst/>
              <a:gdLst/>
              <a:ahLst/>
              <a:cxnLst/>
              <a:rect l="l" t="t" r="r" b="b"/>
              <a:pathLst>
                <a:path w="39369" h="43814">
                  <a:moveTo>
                    <a:pt x="0" y="19617"/>
                  </a:moveTo>
                  <a:lnTo>
                    <a:pt x="39249" y="43604"/>
                  </a:lnTo>
                  <a:lnTo>
                    <a:pt x="24599" y="0"/>
                  </a:lnTo>
                  <a:lnTo>
                    <a:pt x="0" y="19617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342322" y="1955671"/>
              <a:ext cx="707390" cy="352425"/>
            </a:xfrm>
            <a:custGeom>
              <a:avLst/>
              <a:gdLst/>
              <a:ahLst/>
              <a:cxnLst/>
              <a:rect l="l" t="t" r="r" b="b"/>
              <a:pathLst>
                <a:path w="707389" h="352425">
                  <a:moveTo>
                    <a:pt x="0" y="0"/>
                  </a:moveTo>
                  <a:lnTo>
                    <a:pt x="707246" y="352221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042543" y="2293810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19" h="33655">
                  <a:moveTo>
                    <a:pt x="45724" y="33352"/>
                  </a:moveTo>
                  <a:lnTo>
                    <a:pt x="0" y="28167"/>
                  </a:lnTo>
                  <a:lnTo>
                    <a:pt x="14024" y="0"/>
                  </a:lnTo>
                  <a:lnTo>
                    <a:pt x="45724" y="3335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042543" y="2293810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19" h="33655">
                  <a:moveTo>
                    <a:pt x="0" y="28167"/>
                  </a:moveTo>
                  <a:lnTo>
                    <a:pt x="45724" y="33352"/>
                  </a:lnTo>
                  <a:lnTo>
                    <a:pt x="14024" y="0"/>
                  </a:lnTo>
                  <a:lnTo>
                    <a:pt x="0" y="28167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178368" y="3011069"/>
              <a:ext cx="411480" cy="224790"/>
            </a:xfrm>
            <a:custGeom>
              <a:avLst/>
              <a:gdLst/>
              <a:ahLst/>
              <a:cxnLst/>
              <a:rect l="l" t="t" r="r" b="b"/>
              <a:pathLst>
                <a:path w="411480" h="224789">
                  <a:moveTo>
                    <a:pt x="0" y="0"/>
                  </a:moveTo>
                  <a:lnTo>
                    <a:pt x="410951" y="2245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581769" y="3221843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45474" y="34549"/>
                  </a:moveTo>
                  <a:lnTo>
                    <a:pt x="0" y="27624"/>
                  </a:lnTo>
                  <a:lnTo>
                    <a:pt x="15099" y="0"/>
                  </a:lnTo>
                  <a:lnTo>
                    <a:pt x="45474" y="345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581769" y="3221843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0" y="27624"/>
                  </a:moveTo>
                  <a:lnTo>
                    <a:pt x="45474" y="34549"/>
                  </a:lnTo>
                  <a:lnTo>
                    <a:pt x="15099" y="0"/>
                  </a:lnTo>
                  <a:lnTo>
                    <a:pt x="0" y="276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178368" y="3011069"/>
              <a:ext cx="1270" cy="194945"/>
            </a:xfrm>
            <a:custGeom>
              <a:avLst/>
              <a:gdLst/>
              <a:ahLst/>
              <a:cxnLst/>
              <a:rect l="l" t="t" r="r" b="b"/>
              <a:pathLst>
                <a:path w="1269" h="194944">
                  <a:moveTo>
                    <a:pt x="0" y="0"/>
                  </a:moveTo>
                  <a:lnTo>
                    <a:pt x="1159" y="1948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163795" y="32058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989" y="43324"/>
                  </a:moveTo>
                  <a:lnTo>
                    <a:pt x="0" y="199"/>
                  </a:lnTo>
                  <a:lnTo>
                    <a:pt x="31464" y="0"/>
                  </a:lnTo>
                  <a:lnTo>
                    <a:pt x="15989" y="433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163795" y="32058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199"/>
                  </a:moveTo>
                  <a:lnTo>
                    <a:pt x="15989" y="43324"/>
                  </a:lnTo>
                  <a:lnTo>
                    <a:pt x="31464" y="0"/>
                  </a:lnTo>
                  <a:lnTo>
                    <a:pt x="0" y="1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178368" y="3011069"/>
              <a:ext cx="857885" cy="236854"/>
            </a:xfrm>
            <a:custGeom>
              <a:avLst/>
              <a:gdLst/>
              <a:ahLst/>
              <a:cxnLst/>
              <a:rect l="l" t="t" r="r" b="b"/>
              <a:pathLst>
                <a:path w="857885" h="236855">
                  <a:moveTo>
                    <a:pt x="0" y="0"/>
                  </a:moveTo>
                  <a:lnTo>
                    <a:pt x="857800" y="2367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031993" y="32326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0" y="30324"/>
                  </a:moveTo>
                  <a:lnTo>
                    <a:pt x="8374" y="0"/>
                  </a:lnTo>
                  <a:lnTo>
                    <a:pt x="45849" y="26674"/>
                  </a:lnTo>
                  <a:lnTo>
                    <a:pt x="0" y="303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031993" y="32326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0" y="30324"/>
                  </a:moveTo>
                  <a:lnTo>
                    <a:pt x="45849" y="26674"/>
                  </a:lnTo>
                  <a:lnTo>
                    <a:pt x="8374" y="0"/>
                  </a:lnTo>
                  <a:lnTo>
                    <a:pt x="0" y="303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683919" y="3011069"/>
              <a:ext cx="417195" cy="239395"/>
            </a:xfrm>
            <a:custGeom>
              <a:avLst/>
              <a:gdLst/>
              <a:ahLst/>
              <a:cxnLst/>
              <a:rect l="l" t="t" r="r" b="b"/>
              <a:pathLst>
                <a:path w="417194" h="239394">
                  <a:moveTo>
                    <a:pt x="416899" y="0"/>
                  </a:moveTo>
                  <a:lnTo>
                    <a:pt x="0" y="23887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646419" y="3236293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0" y="35149"/>
                  </a:moveTo>
                  <a:lnTo>
                    <a:pt x="29674" y="0"/>
                  </a:lnTo>
                  <a:lnTo>
                    <a:pt x="45324" y="27299"/>
                  </a:lnTo>
                  <a:lnTo>
                    <a:pt x="0" y="351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646419" y="3236293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29674" y="0"/>
                  </a:moveTo>
                  <a:lnTo>
                    <a:pt x="0" y="35149"/>
                  </a:lnTo>
                  <a:lnTo>
                    <a:pt x="45324" y="27299"/>
                  </a:lnTo>
                  <a:lnTo>
                    <a:pt x="2967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229640" y="3011069"/>
              <a:ext cx="871219" cy="251460"/>
            </a:xfrm>
            <a:custGeom>
              <a:avLst/>
              <a:gdLst/>
              <a:ahLst/>
              <a:cxnLst/>
              <a:rect l="l" t="t" r="r" b="b"/>
              <a:pathLst>
                <a:path w="871219" h="251460">
                  <a:moveTo>
                    <a:pt x="871178" y="0"/>
                  </a:moveTo>
                  <a:lnTo>
                    <a:pt x="0" y="2514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188110" y="32473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45892" y="30249"/>
                  </a:moveTo>
                  <a:lnTo>
                    <a:pt x="0" y="27099"/>
                  </a:lnTo>
                  <a:lnTo>
                    <a:pt x="37164" y="0"/>
                  </a:lnTo>
                  <a:lnTo>
                    <a:pt x="45892" y="302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188110" y="32473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37164" y="0"/>
                  </a:moveTo>
                  <a:lnTo>
                    <a:pt x="0" y="27099"/>
                  </a:lnTo>
                  <a:lnTo>
                    <a:pt x="45892" y="30249"/>
                  </a:lnTo>
                  <a:lnTo>
                    <a:pt x="3716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089268" y="3011069"/>
              <a:ext cx="12065" cy="210820"/>
            </a:xfrm>
            <a:custGeom>
              <a:avLst/>
              <a:gdLst/>
              <a:ahLst/>
              <a:cxnLst/>
              <a:rect l="l" t="t" r="r" b="b"/>
              <a:pathLst>
                <a:path w="12064" h="210819">
                  <a:moveTo>
                    <a:pt x="11549" y="0"/>
                  </a:moveTo>
                  <a:lnTo>
                    <a:pt x="0" y="2102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073568" y="3220443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3324" y="44024"/>
                  </a:moveTo>
                  <a:lnTo>
                    <a:pt x="0" y="0"/>
                  </a:lnTo>
                  <a:lnTo>
                    <a:pt x="31399" y="1724"/>
                  </a:lnTo>
                  <a:lnTo>
                    <a:pt x="13324" y="440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073568" y="3220443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3324" y="44024"/>
                  </a:lnTo>
                  <a:lnTo>
                    <a:pt x="31399" y="17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2640519" y="3011069"/>
              <a:ext cx="3175" cy="194945"/>
            </a:xfrm>
            <a:custGeom>
              <a:avLst/>
              <a:gdLst/>
              <a:ahLst/>
              <a:cxnLst/>
              <a:rect l="l" t="t" r="r" b="b"/>
              <a:pathLst>
                <a:path w="3175" h="194944">
                  <a:moveTo>
                    <a:pt x="2999" y="0"/>
                  </a:moveTo>
                  <a:lnTo>
                    <a:pt x="0" y="1948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2624769" y="32056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074" y="43449"/>
                  </a:moveTo>
                  <a:lnTo>
                    <a:pt x="0" y="0"/>
                  </a:lnTo>
                  <a:lnTo>
                    <a:pt x="31474" y="474"/>
                  </a:lnTo>
                  <a:lnTo>
                    <a:pt x="15074" y="43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2624769" y="32056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074" y="43449"/>
                  </a:lnTo>
                  <a:lnTo>
                    <a:pt x="31474" y="4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2224278" y="3011069"/>
              <a:ext cx="419734" cy="239395"/>
            </a:xfrm>
            <a:custGeom>
              <a:avLst/>
              <a:gdLst/>
              <a:ahLst/>
              <a:cxnLst/>
              <a:rect l="l" t="t" r="r" b="b"/>
              <a:pathLst>
                <a:path w="419735" h="239394">
                  <a:moveTo>
                    <a:pt x="419241" y="0"/>
                  </a:moveTo>
                  <a:lnTo>
                    <a:pt x="0" y="2389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2186725" y="3236393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0" y="35074"/>
                  </a:moveTo>
                  <a:lnTo>
                    <a:pt x="29762" y="0"/>
                  </a:lnTo>
                  <a:lnTo>
                    <a:pt x="45344" y="27349"/>
                  </a:lnTo>
                  <a:lnTo>
                    <a:pt x="0" y="350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2186725" y="3236393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29762" y="0"/>
                  </a:moveTo>
                  <a:lnTo>
                    <a:pt x="0" y="35074"/>
                  </a:lnTo>
                  <a:lnTo>
                    <a:pt x="45344" y="27349"/>
                  </a:lnTo>
                  <a:lnTo>
                    <a:pt x="29762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2643519" y="3011069"/>
              <a:ext cx="398145" cy="224154"/>
            </a:xfrm>
            <a:custGeom>
              <a:avLst/>
              <a:gdLst/>
              <a:ahLst/>
              <a:cxnLst/>
              <a:rect l="l" t="t" r="r" b="b"/>
              <a:pathLst>
                <a:path w="398144" h="224155">
                  <a:moveTo>
                    <a:pt x="0" y="0"/>
                  </a:moveTo>
                  <a:lnTo>
                    <a:pt x="397799" y="2239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033618" y="322131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45374" y="34924"/>
                  </a:moveTo>
                  <a:lnTo>
                    <a:pt x="0" y="27424"/>
                  </a:lnTo>
                  <a:lnTo>
                    <a:pt x="15424" y="0"/>
                  </a:lnTo>
                  <a:lnTo>
                    <a:pt x="45374" y="349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033618" y="322131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0" y="27424"/>
                  </a:moveTo>
                  <a:lnTo>
                    <a:pt x="45374" y="34924"/>
                  </a:lnTo>
                  <a:lnTo>
                    <a:pt x="15424" y="0"/>
                  </a:lnTo>
                  <a:lnTo>
                    <a:pt x="0" y="274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28238" y="3272038"/>
              <a:ext cx="409074" cy="677628"/>
            </a:xfrm>
            <a:prstGeom prst="rect">
              <a:avLst/>
            </a:prstGeom>
          </p:spPr>
        </p:pic>
      </p:grpSp>
      <p:sp>
        <p:nvSpPr>
          <p:cNvPr id="89" name="object 89" descr=""/>
          <p:cNvSpPr txBox="1"/>
          <p:nvPr/>
        </p:nvSpPr>
        <p:spPr>
          <a:xfrm>
            <a:off x="5848326" y="3706318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5695713" y="2342315"/>
            <a:ext cx="2006600" cy="1409065"/>
            <a:chOff x="5695713" y="2342315"/>
            <a:chExt cx="2006600" cy="1409065"/>
          </a:xfrm>
        </p:grpSpPr>
        <p:pic>
          <p:nvPicPr>
            <p:cNvPr id="91" name="object 9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5713" y="3287168"/>
              <a:ext cx="463881" cy="463874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92610" y="2342315"/>
              <a:ext cx="409076" cy="677628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7310" y="2449307"/>
              <a:ext cx="239690" cy="261686"/>
            </a:xfrm>
            <a:prstGeom prst="rect">
              <a:avLst/>
            </a:prstGeom>
          </p:spPr>
        </p:pic>
      </p:grpSp>
      <p:sp>
        <p:nvSpPr>
          <p:cNvPr id="94" name="object 94" descr=""/>
          <p:cNvSpPr txBox="1"/>
          <p:nvPr/>
        </p:nvSpPr>
        <p:spPr>
          <a:xfrm>
            <a:off x="7337433" y="2776603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95" name="object 95" descr=""/>
          <p:cNvGrpSpPr/>
          <p:nvPr/>
        </p:nvGrpSpPr>
        <p:grpSpPr>
          <a:xfrm>
            <a:off x="7757784" y="2342315"/>
            <a:ext cx="409575" cy="678180"/>
            <a:chOff x="7757784" y="2342315"/>
            <a:chExt cx="409575" cy="678180"/>
          </a:xfrm>
        </p:grpSpPr>
        <p:pic>
          <p:nvPicPr>
            <p:cNvPr id="96" name="object 9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57784" y="2342315"/>
              <a:ext cx="409074" cy="677628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2484" y="2449307"/>
              <a:ext cx="239674" cy="261686"/>
            </a:xfrm>
            <a:prstGeom prst="rect">
              <a:avLst/>
            </a:prstGeom>
          </p:spPr>
        </p:pic>
      </p:grpSp>
      <p:sp>
        <p:nvSpPr>
          <p:cNvPr id="98" name="object 98" descr=""/>
          <p:cNvSpPr txBox="1"/>
          <p:nvPr/>
        </p:nvSpPr>
        <p:spPr>
          <a:xfrm>
            <a:off x="7802595" y="2776603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pic>
        <p:nvPicPr>
          <p:cNvPr id="99" name="object 9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26838" y="2342315"/>
            <a:ext cx="409074" cy="677628"/>
          </a:xfrm>
          <a:prstGeom prst="rect">
            <a:avLst/>
          </a:prstGeom>
        </p:spPr>
      </p:pic>
      <p:sp>
        <p:nvSpPr>
          <p:cNvPr id="100" name="object 100" descr=""/>
          <p:cNvSpPr txBox="1"/>
          <p:nvPr/>
        </p:nvSpPr>
        <p:spPr>
          <a:xfrm>
            <a:off x="5809550" y="2776603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01" name="object 101" descr=""/>
          <p:cNvGrpSpPr/>
          <p:nvPr/>
        </p:nvGrpSpPr>
        <p:grpSpPr>
          <a:xfrm>
            <a:off x="5802088" y="2342315"/>
            <a:ext cx="2830195" cy="678180"/>
            <a:chOff x="5802088" y="2342315"/>
            <a:chExt cx="2830195" cy="678180"/>
          </a:xfrm>
        </p:grpSpPr>
        <p:pic>
          <p:nvPicPr>
            <p:cNvPr id="102" name="object 10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02088" y="2441837"/>
              <a:ext cx="259499" cy="259506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22933" y="2342315"/>
              <a:ext cx="409074" cy="677628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7633" y="2449307"/>
              <a:ext cx="239690" cy="261686"/>
            </a:xfrm>
            <a:prstGeom prst="rect">
              <a:avLst/>
            </a:prstGeom>
          </p:spPr>
        </p:pic>
      </p:grpSp>
      <p:sp>
        <p:nvSpPr>
          <p:cNvPr id="105" name="object 105" descr=""/>
          <p:cNvSpPr txBox="1"/>
          <p:nvPr/>
        </p:nvSpPr>
        <p:spPr>
          <a:xfrm>
            <a:off x="8267757" y="2776603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pic>
        <p:nvPicPr>
          <p:cNvPr id="106" name="object 10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91987" y="2342315"/>
            <a:ext cx="409074" cy="677628"/>
          </a:xfrm>
          <a:prstGeom prst="rect">
            <a:avLst/>
          </a:prstGeom>
        </p:spPr>
      </p:pic>
      <p:sp>
        <p:nvSpPr>
          <p:cNvPr id="107" name="object 107" descr=""/>
          <p:cNvSpPr txBox="1"/>
          <p:nvPr/>
        </p:nvSpPr>
        <p:spPr>
          <a:xfrm>
            <a:off x="6274712" y="2776603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08" name="object 108" descr=""/>
          <p:cNvGrpSpPr/>
          <p:nvPr/>
        </p:nvGrpSpPr>
        <p:grpSpPr>
          <a:xfrm>
            <a:off x="6267262" y="2342315"/>
            <a:ext cx="791210" cy="678180"/>
            <a:chOff x="6267262" y="2342315"/>
            <a:chExt cx="791210" cy="678180"/>
          </a:xfrm>
        </p:grpSpPr>
        <p:pic>
          <p:nvPicPr>
            <p:cNvPr id="109" name="object 10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7262" y="2441837"/>
              <a:ext cx="259499" cy="259506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9286" y="2342315"/>
              <a:ext cx="409074" cy="677628"/>
            </a:xfrm>
            <a:prstGeom prst="rect">
              <a:avLst/>
            </a:prstGeom>
          </p:spPr>
        </p:pic>
      </p:grpSp>
      <p:sp>
        <p:nvSpPr>
          <p:cNvPr id="111" name="object 111" descr=""/>
          <p:cNvSpPr txBox="1"/>
          <p:nvPr/>
        </p:nvSpPr>
        <p:spPr>
          <a:xfrm>
            <a:off x="6732016" y="2776603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12" name="object 112" descr=""/>
          <p:cNvGrpSpPr/>
          <p:nvPr/>
        </p:nvGrpSpPr>
        <p:grpSpPr>
          <a:xfrm>
            <a:off x="6724561" y="2441837"/>
            <a:ext cx="1882775" cy="1443990"/>
            <a:chOff x="6724561" y="2441837"/>
            <a:chExt cx="1882775" cy="1443990"/>
          </a:xfrm>
        </p:grpSpPr>
        <p:pic>
          <p:nvPicPr>
            <p:cNvPr id="113" name="object 1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24561" y="2441837"/>
              <a:ext cx="259499" cy="259506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579959" y="3237418"/>
              <a:ext cx="389474" cy="645148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10860" y="3572852"/>
              <a:ext cx="530191" cy="312614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8984" y="3251830"/>
              <a:ext cx="441661" cy="441661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46183" y="3237418"/>
              <a:ext cx="389481" cy="645148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77108" y="3572852"/>
              <a:ext cx="530191" cy="312614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5233" y="3251830"/>
              <a:ext cx="441648" cy="441661"/>
            </a:xfrm>
            <a:prstGeom prst="rect">
              <a:avLst/>
            </a:prstGeom>
          </p:spPr>
        </p:pic>
      </p:grpSp>
      <p:sp>
        <p:nvSpPr>
          <p:cNvPr id="120" name="object 120" descr=""/>
          <p:cNvSpPr txBox="1"/>
          <p:nvPr/>
        </p:nvSpPr>
        <p:spPr>
          <a:xfrm>
            <a:off x="7489284" y="3191368"/>
            <a:ext cx="1150620" cy="852169"/>
          </a:xfrm>
          <a:prstGeom prst="rect">
            <a:avLst/>
          </a:prstGeom>
          <a:ln w="19049">
            <a:solidFill>
              <a:srgbClr val="69A8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Times New Roman"/>
              <a:cs typeface="Times New Roman"/>
            </a:endParaRPr>
          </a:p>
          <a:p>
            <a:pPr algn="ctr" marR="2540">
              <a:lnSpc>
                <a:spcPct val="100000"/>
              </a:lnSpc>
              <a:tabLst>
                <a:tab pos="565785" algn="l"/>
              </a:tabLst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BASTION</a:t>
            </a:r>
            <a:r>
              <a:rPr dirty="0" sz="60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BASTION</a:t>
            </a:r>
            <a:endParaRPr sz="6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600">
              <a:latin typeface="Lucida Sans"/>
              <a:cs typeface="Lucida Sans"/>
            </a:endParaRPr>
          </a:p>
          <a:p>
            <a:pPr algn="ctr">
              <a:lnSpc>
                <a:spcPct val="100000"/>
              </a:lnSpc>
            </a:pPr>
            <a:r>
              <a:rPr dirty="0" sz="900">
                <a:latin typeface="Arial"/>
                <a:cs typeface="Arial"/>
              </a:rPr>
              <a:t>Bastion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HA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21" name="object 12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639661" y="3272038"/>
            <a:ext cx="409076" cy="677628"/>
          </a:xfrm>
          <a:prstGeom prst="rect">
            <a:avLst/>
          </a:prstGeom>
        </p:spPr>
      </p:pic>
      <p:sp>
        <p:nvSpPr>
          <p:cNvPr id="122" name="object 122" descr=""/>
          <p:cNvSpPr txBox="1"/>
          <p:nvPr/>
        </p:nvSpPr>
        <p:spPr>
          <a:xfrm>
            <a:off x="6759753" y="3706318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23" name="object 123" descr=""/>
          <p:cNvGrpSpPr/>
          <p:nvPr/>
        </p:nvGrpSpPr>
        <p:grpSpPr>
          <a:xfrm>
            <a:off x="6187937" y="3272038"/>
            <a:ext cx="883285" cy="678180"/>
            <a:chOff x="6187937" y="3272038"/>
            <a:chExt cx="883285" cy="678180"/>
          </a:xfrm>
        </p:grpSpPr>
        <p:pic>
          <p:nvPicPr>
            <p:cNvPr id="124" name="object 1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7136" y="3287168"/>
              <a:ext cx="463881" cy="463874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87937" y="3272038"/>
              <a:ext cx="409074" cy="677628"/>
            </a:xfrm>
            <a:prstGeom prst="rect">
              <a:avLst/>
            </a:prstGeom>
          </p:spPr>
        </p:pic>
      </p:grpSp>
      <p:sp>
        <p:nvSpPr>
          <p:cNvPr id="126" name="object 126" descr=""/>
          <p:cNvSpPr txBox="1"/>
          <p:nvPr/>
        </p:nvSpPr>
        <p:spPr>
          <a:xfrm>
            <a:off x="6308021" y="3706318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27" name="object 127" descr=""/>
          <p:cNvGrpSpPr/>
          <p:nvPr/>
        </p:nvGrpSpPr>
        <p:grpSpPr>
          <a:xfrm>
            <a:off x="282534" y="1843921"/>
            <a:ext cx="8514715" cy="1907539"/>
            <a:chOff x="282534" y="1843921"/>
            <a:chExt cx="8514715" cy="1907539"/>
          </a:xfrm>
        </p:grpSpPr>
        <p:pic>
          <p:nvPicPr>
            <p:cNvPr id="128" name="object 12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5412" y="3287168"/>
              <a:ext cx="463873" cy="463874"/>
            </a:xfrm>
            <a:prstGeom prst="rect">
              <a:avLst/>
            </a:prstGeom>
          </p:spPr>
        </p:pic>
        <p:sp>
          <p:nvSpPr>
            <p:cNvPr id="129" name="object 129" descr=""/>
            <p:cNvSpPr/>
            <p:nvPr/>
          </p:nvSpPr>
          <p:spPr>
            <a:xfrm>
              <a:off x="5982888" y="1955671"/>
              <a:ext cx="761365" cy="362585"/>
            </a:xfrm>
            <a:custGeom>
              <a:avLst/>
              <a:gdLst/>
              <a:ahLst/>
              <a:cxnLst/>
              <a:rect l="l" t="t" r="r" b="b"/>
              <a:pathLst>
                <a:path w="761365" h="362585">
                  <a:moveTo>
                    <a:pt x="760798" y="0"/>
                  </a:moveTo>
                  <a:lnTo>
                    <a:pt x="0" y="362136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5943838" y="2303602"/>
              <a:ext cx="46355" cy="33020"/>
            </a:xfrm>
            <a:custGeom>
              <a:avLst/>
              <a:gdLst/>
              <a:ahLst/>
              <a:cxnLst/>
              <a:rect l="l" t="t" r="r" b="b"/>
              <a:pathLst>
                <a:path w="46354" h="33019">
                  <a:moveTo>
                    <a:pt x="0" y="32784"/>
                  </a:moveTo>
                  <a:lnTo>
                    <a:pt x="32274" y="0"/>
                  </a:lnTo>
                  <a:lnTo>
                    <a:pt x="45799" y="28412"/>
                  </a:lnTo>
                  <a:lnTo>
                    <a:pt x="0" y="3278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5943838" y="2303602"/>
              <a:ext cx="46355" cy="33020"/>
            </a:xfrm>
            <a:custGeom>
              <a:avLst/>
              <a:gdLst/>
              <a:ahLst/>
              <a:cxnLst/>
              <a:rect l="l" t="t" r="r" b="b"/>
              <a:pathLst>
                <a:path w="46354" h="33019">
                  <a:moveTo>
                    <a:pt x="32274" y="0"/>
                  </a:moveTo>
                  <a:lnTo>
                    <a:pt x="0" y="32784"/>
                  </a:lnTo>
                  <a:lnTo>
                    <a:pt x="45799" y="28412"/>
                  </a:lnTo>
                  <a:lnTo>
                    <a:pt x="3227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6434762" y="1955671"/>
              <a:ext cx="309245" cy="344170"/>
            </a:xfrm>
            <a:custGeom>
              <a:avLst/>
              <a:gdLst/>
              <a:ahLst/>
              <a:cxnLst/>
              <a:rect l="l" t="t" r="r" b="b"/>
              <a:pathLst>
                <a:path w="309245" h="344169">
                  <a:moveTo>
                    <a:pt x="308924" y="0"/>
                  </a:moveTo>
                  <a:lnTo>
                    <a:pt x="0" y="34416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405887" y="2289332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0" y="42674"/>
                  </a:moveTo>
                  <a:lnTo>
                    <a:pt x="17149" y="0"/>
                  </a:lnTo>
                  <a:lnTo>
                    <a:pt x="40574" y="21017"/>
                  </a:lnTo>
                  <a:lnTo>
                    <a:pt x="0" y="426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6405887" y="2289332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17149" y="0"/>
                  </a:moveTo>
                  <a:lnTo>
                    <a:pt x="0" y="42674"/>
                  </a:lnTo>
                  <a:lnTo>
                    <a:pt x="40574" y="21017"/>
                  </a:lnTo>
                  <a:lnTo>
                    <a:pt x="17149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743686" y="1955671"/>
              <a:ext cx="94615" cy="332105"/>
            </a:xfrm>
            <a:custGeom>
              <a:avLst/>
              <a:gdLst/>
              <a:ahLst/>
              <a:cxnLst/>
              <a:rect l="l" t="t" r="r" b="b"/>
              <a:pathLst>
                <a:path w="94615" h="332105">
                  <a:moveTo>
                    <a:pt x="0" y="0"/>
                  </a:moveTo>
                  <a:lnTo>
                    <a:pt x="94449" y="33173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6822986" y="228309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26974" y="45879"/>
                  </a:moveTo>
                  <a:lnTo>
                    <a:pt x="0" y="8614"/>
                  </a:lnTo>
                  <a:lnTo>
                    <a:pt x="30274" y="0"/>
                  </a:lnTo>
                  <a:lnTo>
                    <a:pt x="26974" y="4587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822986" y="228309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0" y="8614"/>
                  </a:moveTo>
                  <a:lnTo>
                    <a:pt x="26974" y="45879"/>
                  </a:lnTo>
                  <a:lnTo>
                    <a:pt x="30274" y="0"/>
                  </a:lnTo>
                  <a:lnTo>
                    <a:pt x="0" y="861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5931362" y="3019943"/>
              <a:ext cx="411480" cy="224790"/>
            </a:xfrm>
            <a:custGeom>
              <a:avLst/>
              <a:gdLst/>
              <a:ahLst/>
              <a:cxnLst/>
              <a:rect l="l" t="t" r="r" b="b"/>
              <a:pathLst>
                <a:path w="411479" h="224789">
                  <a:moveTo>
                    <a:pt x="0" y="0"/>
                  </a:moveTo>
                  <a:lnTo>
                    <a:pt x="410949" y="22457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6334762" y="323071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474" y="34549"/>
                  </a:moveTo>
                  <a:lnTo>
                    <a:pt x="0" y="27624"/>
                  </a:lnTo>
                  <a:lnTo>
                    <a:pt x="15099" y="0"/>
                  </a:lnTo>
                  <a:lnTo>
                    <a:pt x="45474" y="345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6334762" y="323071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0" y="27624"/>
                  </a:moveTo>
                  <a:lnTo>
                    <a:pt x="45474" y="34549"/>
                  </a:lnTo>
                  <a:lnTo>
                    <a:pt x="15099" y="0"/>
                  </a:lnTo>
                  <a:lnTo>
                    <a:pt x="0" y="276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5931362" y="3019943"/>
              <a:ext cx="1270" cy="194945"/>
            </a:xfrm>
            <a:custGeom>
              <a:avLst/>
              <a:gdLst/>
              <a:ahLst/>
              <a:cxnLst/>
              <a:rect l="l" t="t" r="r" b="b"/>
              <a:pathLst>
                <a:path w="1270" h="194944">
                  <a:moveTo>
                    <a:pt x="0" y="0"/>
                  </a:moveTo>
                  <a:lnTo>
                    <a:pt x="1174" y="1948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5916788" y="32146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999" y="43324"/>
                  </a:moveTo>
                  <a:lnTo>
                    <a:pt x="0" y="199"/>
                  </a:lnTo>
                  <a:lnTo>
                    <a:pt x="31474" y="0"/>
                  </a:lnTo>
                  <a:lnTo>
                    <a:pt x="15999" y="433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5916788" y="32146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199"/>
                  </a:moveTo>
                  <a:lnTo>
                    <a:pt x="15999" y="43324"/>
                  </a:lnTo>
                  <a:lnTo>
                    <a:pt x="31474" y="0"/>
                  </a:lnTo>
                  <a:lnTo>
                    <a:pt x="0" y="1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5931362" y="3019943"/>
              <a:ext cx="857885" cy="236854"/>
            </a:xfrm>
            <a:custGeom>
              <a:avLst/>
              <a:gdLst/>
              <a:ahLst/>
              <a:cxnLst/>
              <a:rect l="l" t="t" r="r" b="b"/>
              <a:pathLst>
                <a:path w="857884" h="236854">
                  <a:moveTo>
                    <a:pt x="0" y="0"/>
                  </a:moveTo>
                  <a:lnTo>
                    <a:pt x="857823" y="23677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6784986" y="324156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0" y="30324"/>
                  </a:moveTo>
                  <a:lnTo>
                    <a:pt x="8374" y="0"/>
                  </a:lnTo>
                  <a:lnTo>
                    <a:pt x="45849" y="26674"/>
                  </a:lnTo>
                  <a:lnTo>
                    <a:pt x="0" y="303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6784986" y="324156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0" y="30324"/>
                  </a:moveTo>
                  <a:lnTo>
                    <a:pt x="45849" y="26674"/>
                  </a:lnTo>
                  <a:lnTo>
                    <a:pt x="8374" y="0"/>
                  </a:lnTo>
                  <a:lnTo>
                    <a:pt x="0" y="303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6436911" y="3019943"/>
              <a:ext cx="417195" cy="239395"/>
            </a:xfrm>
            <a:custGeom>
              <a:avLst/>
              <a:gdLst/>
              <a:ahLst/>
              <a:cxnLst/>
              <a:rect l="l" t="t" r="r" b="b"/>
              <a:pathLst>
                <a:path w="417195" h="239395">
                  <a:moveTo>
                    <a:pt x="416924" y="0"/>
                  </a:moveTo>
                  <a:lnTo>
                    <a:pt x="0" y="23887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6399412" y="3245168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0" y="35149"/>
                  </a:moveTo>
                  <a:lnTo>
                    <a:pt x="29674" y="0"/>
                  </a:lnTo>
                  <a:lnTo>
                    <a:pt x="45324" y="27299"/>
                  </a:lnTo>
                  <a:lnTo>
                    <a:pt x="0" y="351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6399412" y="3245168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29674" y="0"/>
                  </a:moveTo>
                  <a:lnTo>
                    <a:pt x="0" y="35149"/>
                  </a:lnTo>
                  <a:lnTo>
                    <a:pt x="45324" y="27299"/>
                  </a:lnTo>
                  <a:lnTo>
                    <a:pt x="2967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5982638" y="3019943"/>
              <a:ext cx="871219" cy="251460"/>
            </a:xfrm>
            <a:custGeom>
              <a:avLst/>
              <a:gdLst/>
              <a:ahLst/>
              <a:cxnLst/>
              <a:rect l="l" t="t" r="r" b="b"/>
              <a:pathLst>
                <a:path w="871220" h="251460">
                  <a:moveTo>
                    <a:pt x="871198" y="0"/>
                  </a:moveTo>
                  <a:lnTo>
                    <a:pt x="0" y="2514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5941113" y="325626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45899" y="30224"/>
                  </a:moveTo>
                  <a:lnTo>
                    <a:pt x="0" y="27099"/>
                  </a:lnTo>
                  <a:lnTo>
                    <a:pt x="37174" y="0"/>
                  </a:lnTo>
                  <a:lnTo>
                    <a:pt x="45899" y="302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5941113" y="325626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37174" y="0"/>
                  </a:moveTo>
                  <a:lnTo>
                    <a:pt x="0" y="27099"/>
                  </a:lnTo>
                  <a:lnTo>
                    <a:pt x="45899" y="30224"/>
                  </a:lnTo>
                  <a:lnTo>
                    <a:pt x="3717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6842261" y="3019943"/>
              <a:ext cx="12065" cy="210820"/>
            </a:xfrm>
            <a:custGeom>
              <a:avLst/>
              <a:gdLst/>
              <a:ahLst/>
              <a:cxnLst/>
              <a:rect l="l" t="t" r="r" b="b"/>
              <a:pathLst>
                <a:path w="12065" h="210819">
                  <a:moveTo>
                    <a:pt x="11574" y="0"/>
                  </a:moveTo>
                  <a:lnTo>
                    <a:pt x="0" y="2102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6826561" y="32293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3324" y="44024"/>
                  </a:moveTo>
                  <a:lnTo>
                    <a:pt x="0" y="0"/>
                  </a:lnTo>
                  <a:lnTo>
                    <a:pt x="31424" y="1724"/>
                  </a:lnTo>
                  <a:lnTo>
                    <a:pt x="13324" y="440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6826561" y="32293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3324" y="44024"/>
                  </a:lnTo>
                  <a:lnTo>
                    <a:pt x="31424" y="17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6393512" y="3019943"/>
              <a:ext cx="3175" cy="194945"/>
            </a:xfrm>
            <a:custGeom>
              <a:avLst/>
              <a:gdLst/>
              <a:ahLst/>
              <a:cxnLst/>
              <a:rect l="l" t="t" r="r" b="b"/>
              <a:pathLst>
                <a:path w="3175" h="194944">
                  <a:moveTo>
                    <a:pt x="3024" y="0"/>
                  </a:moveTo>
                  <a:lnTo>
                    <a:pt x="0" y="1948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6377787" y="32145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049" y="43474"/>
                  </a:moveTo>
                  <a:lnTo>
                    <a:pt x="0" y="0"/>
                  </a:lnTo>
                  <a:lnTo>
                    <a:pt x="31449" y="499"/>
                  </a:lnTo>
                  <a:lnTo>
                    <a:pt x="15049" y="434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6377787" y="32145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049" y="43474"/>
                  </a:lnTo>
                  <a:lnTo>
                    <a:pt x="31449" y="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5977287" y="3019943"/>
              <a:ext cx="419734" cy="239395"/>
            </a:xfrm>
            <a:custGeom>
              <a:avLst/>
              <a:gdLst/>
              <a:ahLst/>
              <a:cxnLst/>
              <a:rect l="l" t="t" r="r" b="b"/>
              <a:pathLst>
                <a:path w="419735" h="239395">
                  <a:moveTo>
                    <a:pt x="419249" y="0"/>
                  </a:moveTo>
                  <a:lnTo>
                    <a:pt x="0" y="2389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5939737" y="3245268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0" y="35074"/>
                  </a:moveTo>
                  <a:lnTo>
                    <a:pt x="29749" y="0"/>
                  </a:lnTo>
                  <a:lnTo>
                    <a:pt x="45324" y="27324"/>
                  </a:lnTo>
                  <a:lnTo>
                    <a:pt x="0" y="350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5939737" y="3245268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29749" y="0"/>
                  </a:moveTo>
                  <a:lnTo>
                    <a:pt x="0" y="35074"/>
                  </a:lnTo>
                  <a:lnTo>
                    <a:pt x="45324" y="27324"/>
                  </a:lnTo>
                  <a:lnTo>
                    <a:pt x="29749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6396537" y="3019943"/>
              <a:ext cx="398145" cy="224154"/>
            </a:xfrm>
            <a:custGeom>
              <a:avLst/>
              <a:gdLst/>
              <a:ahLst/>
              <a:cxnLst/>
              <a:rect l="l" t="t" r="r" b="b"/>
              <a:pathLst>
                <a:path w="398145" h="224155">
                  <a:moveTo>
                    <a:pt x="0" y="0"/>
                  </a:moveTo>
                  <a:lnTo>
                    <a:pt x="397799" y="2239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6786611" y="3230193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374" y="34899"/>
                  </a:moveTo>
                  <a:lnTo>
                    <a:pt x="0" y="27424"/>
                  </a:lnTo>
                  <a:lnTo>
                    <a:pt x="15424" y="0"/>
                  </a:lnTo>
                  <a:lnTo>
                    <a:pt x="45374" y="3489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6786611" y="3230193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0" y="27424"/>
                  </a:moveTo>
                  <a:lnTo>
                    <a:pt x="45374" y="34899"/>
                  </a:lnTo>
                  <a:lnTo>
                    <a:pt x="15424" y="0"/>
                  </a:lnTo>
                  <a:lnTo>
                    <a:pt x="0" y="274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2534" y="1843921"/>
              <a:ext cx="825663" cy="296329"/>
            </a:xfrm>
            <a:prstGeom prst="rect">
              <a:avLst/>
            </a:prstGeom>
          </p:spPr>
        </p:pic>
        <p:pic>
          <p:nvPicPr>
            <p:cNvPr id="166" name="object 16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971034" y="1843921"/>
              <a:ext cx="825648" cy="296329"/>
            </a:xfrm>
            <a:prstGeom prst="rect">
              <a:avLst/>
            </a:prstGeom>
          </p:spPr>
        </p:pic>
        <p:sp>
          <p:nvSpPr>
            <p:cNvPr id="167" name="object 167" descr=""/>
            <p:cNvSpPr/>
            <p:nvPr/>
          </p:nvSpPr>
          <p:spPr>
            <a:xfrm>
              <a:off x="3564767" y="2218033"/>
              <a:ext cx="657860" cy="779145"/>
            </a:xfrm>
            <a:custGeom>
              <a:avLst/>
              <a:gdLst/>
              <a:ahLst/>
              <a:cxnLst/>
              <a:rect l="l" t="t" r="r" b="b"/>
              <a:pathLst>
                <a:path w="657860" h="779144">
                  <a:moveTo>
                    <a:pt x="657298" y="779110"/>
                  </a:moveTo>
                  <a:lnTo>
                    <a:pt x="0" y="779110"/>
                  </a:lnTo>
                  <a:lnTo>
                    <a:pt x="0" y="0"/>
                  </a:lnTo>
                  <a:lnTo>
                    <a:pt x="657298" y="0"/>
                  </a:lnTo>
                  <a:lnTo>
                    <a:pt x="657298" y="77911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3564767" y="2218033"/>
              <a:ext cx="657860" cy="779145"/>
            </a:xfrm>
            <a:custGeom>
              <a:avLst/>
              <a:gdLst/>
              <a:ahLst/>
              <a:cxnLst/>
              <a:rect l="l" t="t" r="r" b="b"/>
              <a:pathLst>
                <a:path w="657860" h="779144">
                  <a:moveTo>
                    <a:pt x="0" y="0"/>
                  </a:moveTo>
                  <a:lnTo>
                    <a:pt x="657298" y="0"/>
                  </a:lnTo>
                  <a:lnTo>
                    <a:pt x="657298" y="779110"/>
                  </a:lnTo>
                  <a:lnTo>
                    <a:pt x="0" y="77911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619142" y="2296484"/>
              <a:ext cx="582891" cy="230885"/>
            </a:xfrm>
            <a:prstGeom prst="rect">
              <a:avLst/>
            </a:prstGeom>
          </p:spPr>
        </p:pic>
        <p:pic>
          <p:nvPicPr>
            <p:cNvPr id="170" name="object 17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41667" y="2567772"/>
              <a:ext cx="324496" cy="324496"/>
            </a:xfrm>
            <a:prstGeom prst="rect">
              <a:avLst/>
            </a:prstGeom>
          </p:spPr>
        </p:pic>
      </p:grpSp>
      <p:sp>
        <p:nvSpPr>
          <p:cNvPr id="171" name="object 171" descr=""/>
          <p:cNvSpPr txBox="1"/>
          <p:nvPr/>
        </p:nvSpPr>
        <p:spPr>
          <a:xfrm>
            <a:off x="3628911" y="1951058"/>
            <a:ext cx="5334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477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latin typeface="Batang"/>
                <a:cs typeface="Batang"/>
              </a:rPr>
              <a:t>이미지 </a:t>
            </a:r>
            <a:r>
              <a:rPr dirty="0" sz="800" spc="-10">
                <a:latin typeface="Batang"/>
                <a:cs typeface="Batang"/>
              </a:rPr>
              <a:t>중앙저장소</a:t>
            </a:r>
            <a:endParaRPr sz="800">
              <a:latin typeface="Batang"/>
              <a:cs typeface="Batang"/>
            </a:endParaRPr>
          </a:p>
        </p:txBody>
      </p:sp>
      <p:grpSp>
        <p:nvGrpSpPr>
          <p:cNvPr id="172" name="object 172" descr=""/>
          <p:cNvGrpSpPr/>
          <p:nvPr/>
        </p:nvGrpSpPr>
        <p:grpSpPr>
          <a:xfrm>
            <a:off x="3327155" y="3006256"/>
            <a:ext cx="2359660" cy="530225"/>
            <a:chOff x="3327155" y="3006256"/>
            <a:chExt cx="2359660" cy="530225"/>
          </a:xfrm>
        </p:grpSpPr>
        <p:sp>
          <p:nvSpPr>
            <p:cNvPr id="173" name="object 173" descr=""/>
            <p:cNvSpPr/>
            <p:nvPr/>
          </p:nvSpPr>
          <p:spPr>
            <a:xfrm>
              <a:off x="3375093" y="3054093"/>
              <a:ext cx="513715" cy="452755"/>
            </a:xfrm>
            <a:custGeom>
              <a:avLst/>
              <a:gdLst/>
              <a:ahLst/>
              <a:cxnLst/>
              <a:rect l="l" t="t" r="r" b="b"/>
              <a:pathLst>
                <a:path w="513714" h="452754">
                  <a:moveTo>
                    <a:pt x="513698" y="0"/>
                  </a:moveTo>
                  <a:lnTo>
                    <a:pt x="513198" y="3024"/>
                  </a:lnTo>
                  <a:lnTo>
                    <a:pt x="512523" y="7024"/>
                  </a:lnTo>
                  <a:lnTo>
                    <a:pt x="511798" y="10999"/>
                  </a:lnTo>
                  <a:lnTo>
                    <a:pt x="510973" y="14974"/>
                  </a:lnTo>
                  <a:lnTo>
                    <a:pt x="509373" y="22899"/>
                  </a:lnTo>
                  <a:lnTo>
                    <a:pt x="498352" y="62289"/>
                  </a:lnTo>
                  <a:lnTo>
                    <a:pt x="480051" y="108678"/>
                  </a:lnTo>
                  <a:lnTo>
                    <a:pt x="442836" y="175676"/>
                  </a:lnTo>
                  <a:lnTo>
                    <a:pt x="412139" y="218071"/>
                  </a:lnTo>
                  <a:lnTo>
                    <a:pt x="377229" y="258211"/>
                  </a:lnTo>
                  <a:lnTo>
                    <a:pt x="338524" y="295724"/>
                  </a:lnTo>
                  <a:lnTo>
                    <a:pt x="296449" y="330232"/>
                  </a:lnTo>
                  <a:lnTo>
                    <a:pt x="251427" y="361355"/>
                  </a:lnTo>
                  <a:lnTo>
                    <a:pt x="203879" y="388719"/>
                  </a:lnTo>
                  <a:lnTo>
                    <a:pt x="154224" y="411949"/>
                  </a:lnTo>
                  <a:lnTo>
                    <a:pt x="102865" y="430674"/>
                  </a:lnTo>
                  <a:lnTo>
                    <a:pt x="50249" y="444524"/>
                  </a:lnTo>
                  <a:lnTo>
                    <a:pt x="10224" y="451474"/>
                  </a:lnTo>
                  <a:lnTo>
                    <a:pt x="5749" y="452049"/>
                  </a:lnTo>
                  <a:lnTo>
                    <a:pt x="3524" y="452324"/>
                  </a:lnTo>
                  <a:lnTo>
                    <a:pt x="0" y="4527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3873117" y="30110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349" y="44349"/>
                  </a:moveTo>
                  <a:lnTo>
                    <a:pt x="0" y="41799"/>
                  </a:lnTo>
                  <a:lnTo>
                    <a:pt x="19174" y="0"/>
                  </a:lnTo>
                  <a:lnTo>
                    <a:pt x="31349" y="443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3873117" y="30110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349" y="44349"/>
                  </a:moveTo>
                  <a:lnTo>
                    <a:pt x="19174" y="0"/>
                  </a:lnTo>
                  <a:lnTo>
                    <a:pt x="0" y="41799"/>
                  </a:lnTo>
                  <a:lnTo>
                    <a:pt x="31349" y="443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3331918" y="349111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44074" y="31399"/>
                  </a:moveTo>
                  <a:lnTo>
                    <a:pt x="0" y="18199"/>
                  </a:lnTo>
                  <a:lnTo>
                    <a:pt x="42249" y="0"/>
                  </a:lnTo>
                  <a:lnTo>
                    <a:pt x="44074" y="3139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3331918" y="349111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42249" y="0"/>
                  </a:moveTo>
                  <a:lnTo>
                    <a:pt x="0" y="18199"/>
                  </a:lnTo>
                  <a:lnTo>
                    <a:pt x="44074" y="31399"/>
                  </a:lnTo>
                  <a:lnTo>
                    <a:pt x="42249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5109939" y="3054093"/>
              <a:ext cx="528955" cy="462280"/>
            </a:xfrm>
            <a:custGeom>
              <a:avLst/>
              <a:gdLst/>
              <a:ahLst/>
              <a:cxnLst/>
              <a:rect l="l" t="t" r="r" b="b"/>
              <a:pathLst>
                <a:path w="528954" h="462279">
                  <a:moveTo>
                    <a:pt x="0" y="0"/>
                  </a:moveTo>
                  <a:lnTo>
                    <a:pt x="674" y="4074"/>
                  </a:lnTo>
                  <a:lnTo>
                    <a:pt x="1374" y="8149"/>
                  </a:lnTo>
                  <a:lnTo>
                    <a:pt x="2124" y="12174"/>
                  </a:lnTo>
                  <a:lnTo>
                    <a:pt x="2949" y="16224"/>
                  </a:lnTo>
                  <a:lnTo>
                    <a:pt x="4599" y="24324"/>
                  </a:lnTo>
                  <a:lnTo>
                    <a:pt x="15908" y="64387"/>
                  </a:lnTo>
                  <a:lnTo>
                    <a:pt x="34697" y="111584"/>
                  </a:lnTo>
                  <a:lnTo>
                    <a:pt x="72880" y="179753"/>
                  </a:lnTo>
                  <a:lnTo>
                    <a:pt x="104371" y="222896"/>
                  </a:lnTo>
                  <a:lnTo>
                    <a:pt x="140189" y="263747"/>
                  </a:lnTo>
                  <a:lnTo>
                    <a:pt x="179899" y="301924"/>
                  </a:lnTo>
                  <a:lnTo>
                    <a:pt x="223069" y="337026"/>
                  </a:lnTo>
                  <a:lnTo>
                    <a:pt x="269268" y="368689"/>
                  </a:lnTo>
                  <a:lnTo>
                    <a:pt x="318063" y="396533"/>
                  </a:lnTo>
                  <a:lnTo>
                    <a:pt x="369024" y="420174"/>
                  </a:lnTo>
                  <a:lnTo>
                    <a:pt x="421702" y="439233"/>
                  </a:lnTo>
                  <a:lnTo>
                    <a:pt x="475674" y="453324"/>
                  </a:lnTo>
                  <a:lnTo>
                    <a:pt x="516748" y="460374"/>
                  </a:lnTo>
                  <a:lnTo>
                    <a:pt x="519048" y="460699"/>
                  </a:lnTo>
                  <a:lnTo>
                    <a:pt x="521348" y="460974"/>
                  </a:lnTo>
                  <a:lnTo>
                    <a:pt x="523648" y="461249"/>
                  </a:lnTo>
                  <a:lnTo>
                    <a:pt x="528748" y="4618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5094264" y="30110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44349"/>
                  </a:moveTo>
                  <a:lnTo>
                    <a:pt x="12199" y="0"/>
                  </a:lnTo>
                  <a:lnTo>
                    <a:pt x="31374" y="41799"/>
                  </a:lnTo>
                  <a:lnTo>
                    <a:pt x="0" y="443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5094264" y="30110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374" y="41799"/>
                  </a:moveTo>
                  <a:lnTo>
                    <a:pt x="12199" y="0"/>
                  </a:lnTo>
                  <a:lnTo>
                    <a:pt x="0" y="44349"/>
                  </a:lnTo>
                  <a:lnTo>
                    <a:pt x="31374" y="417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5637813" y="350021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424"/>
                  </a:moveTo>
                  <a:lnTo>
                    <a:pt x="1749" y="0"/>
                  </a:lnTo>
                  <a:lnTo>
                    <a:pt x="44024" y="18124"/>
                  </a:lnTo>
                  <a:lnTo>
                    <a:pt x="0" y="314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5637813" y="350021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424"/>
                  </a:moveTo>
                  <a:lnTo>
                    <a:pt x="44024" y="18124"/>
                  </a:lnTo>
                  <a:lnTo>
                    <a:pt x="1749" y="0"/>
                  </a:lnTo>
                  <a:lnTo>
                    <a:pt x="0" y="314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" name="object 183" descr=""/>
          <p:cNvSpPr txBox="1"/>
          <p:nvPr/>
        </p:nvSpPr>
        <p:spPr>
          <a:xfrm>
            <a:off x="3518361" y="3410482"/>
            <a:ext cx="5086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255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Image Push/Pull</a:t>
            </a:r>
            <a:endParaRPr sz="900">
              <a:latin typeface="Arial"/>
              <a:cs typeface="Arial"/>
            </a:endParaRPr>
          </a:p>
        </p:txBody>
      </p:sp>
      <p:sp>
        <p:nvSpPr>
          <p:cNvPr id="184" name="object 184" descr=""/>
          <p:cNvSpPr txBox="1"/>
          <p:nvPr/>
        </p:nvSpPr>
        <p:spPr>
          <a:xfrm>
            <a:off x="7282871" y="1860368"/>
            <a:ext cx="35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DR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5" name="object 185" descr=""/>
          <p:cNvSpPr txBox="1"/>
          <p:nvPr/>
        </p:nvSpPr>
        <p:spPr>
          <a:xfrm>
            <a:off x="1355264" y="1819239"/>
            <a:ext cx="508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PRD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6" name="object 186" descr=""/>
          <p:cNvGrpSpPr/>
          <p:nvPr/>
        </p:nvGrpSpPr>
        <p:grpSpPr>
          <a:xfrm>
            <a:off x="4771927" y="2213270"/>
            <a:ext cx="667385" cy="788670"/>
            <a:chOff x="4771927" y="2213270"/>
            <a:chExt cx="667385" cy="788670"/>
          </a:xfrm>
        </p:grpSpPr>
        <p:sp>
          <p:nvSpPr>
            <p:cNvPr id="187" name="object 187" descr=""/>
            <p:cNvSpPr/>
            <p:nvPr/>
          </p:nvSpPr>
          <p:spPr>
            <a:xfrm>
              <a:off x="4776690" y="2218033"/>
              <a:ext cx="657860" cy="779145"/>
            </a:xfrm>
            <a:custGeom>
              <a:avLst/>
              <a:gdLst/>
              <a:ahLst/>
              <a:cxnLst/>
              <a:rect l="l" t="t" r="r" b="b"/>
              <a:pathLst>
                <a:path w="657860" h="779144">
                  <a:moveTo>
                    <a:pt x="657298" y="779110"/>
                  </a:moveTo>
                  <a:lnTo>
                    <a:pt x="0" y="779110"/>
                  </a:lnTo>
                  <a:lnTo>
                    <a:pt x="0" y="0"/>
                  </a:lnTo>
                  <a:lnTo>
                    <a:pt x="657298" y="0"/>
                  </a:lnTo>
                  <a:lnTo>
                    <a:pt x="657298" y="77911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4776690" y="2218033"/>
              <a:ext cx="657860" cy="779145"/>
            </a:xfrm>
            <a:custGeom>
              <a:avLst/>
              <a:gdLst/>
              <a:ahLst/>
              <a:cxnLst/>
              <a:rect l="l" t="t" r="r" b="b"/>
              <a:pathLst>
                <a:path w="657860" h="779144">
                  <a:moveTo>
                    <a:pt x="0" y="0"/>
                  </a:moveTo>
                  <a:lnTo>
                    <a:pt x="657298" y="0"/>
                  </a:lnTo>
                  <a:lnTo>
                    <a:pt x="657298" y="779110"/>
                  </a:lnTo>
                  <a:lnTo>
                    <a:pt x="0" y="77911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31065" y="2296484"/>
              <a:ext cx="582873" cy="230885"/>
            </a:xfrm>
            <a:prstGeom prst="rect">
              <a:avLst/>
            </a:prstGeom>
          </p:spPr>
        </p:pic>
        <p:pic>
          <p:nvPicPr>
            <p:cNvPr id="190" name="object 19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53589" y="2567772"/>
              <a:ext cx="324496" cy="324496"/>
            </a:xfrm>
            <a:prstGeom prst="rect">
              <a:avLst/>
            </a:prstGeom>
          </p:spPr>
        </p:pic>
      </p:grpSp>
      <p:sp>
        <p:nvSpPr>
          <p:cNvPr id="191" name="object 191" descr=""/>
          <p:cNvSpPr txBox="1"/>
          <p:nvPr/>
        </p:nvSpPr>
        <p:spPr>
          <a:xfrm>
            <a:off x="4841146" y="1955640"/>
            <a:ext cx="5334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477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latin typeface="Batang"/>
                <a:cs typeface="Batang"/>
              </a:rPr>
              <a:t>이미지 </a:t>
            </a:r>
            <a:r>
              <a:rPr dirty="0" sz="800" spc="-10">
                <a:latin typeface="Batang"/>
                <a:cs typeface="Batang"/>
              </a:rPr>
              <a:t>중앙저장소</a:t>
            </a:r>
            <a:endParaRPr sz="800">
              <a:latin typeface="Batang"/>
              <a:cs typeface="Batang"/>
            </a:endParaRPr>
          </a:p>
        </p:txBody>
      </p:sp>
      <p:sp>
        <p:nvSpPr>
          <p:cNvPr id="192" name="object 192" descr=""/>
          <p:cNvSpPr txBox="1"/>
          <p:nvPr/>
        </p:nvSpPr>
        <p:spPr>
          <a:xfrm>
            <a:off x="4928945" y="3432628"/>
            <a:ext cx="5086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255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Image Push/Pull</a:t>
            </a:r>
            <a:endParaRPr sz="900">
              <a:latin typeface="Arial"/>
              <a:cs typeface="Arial"/>
            </a:endParaRPr>
          </a:p>
        </p:txBody>
      </p:sp>
      <p:sp>
        <p:nvSpPr>
          <p:cNvPr id="193" name="object 193" descr=""/>
          <p:cNvSpPr txBox="1"/>
          <p:nvPr/>
        </p:nvSpPr>
        <p:spPr>
          <a:xfrm>
            <a:off x="4332452" y="2236757"/>
            <a:ext cx="343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Image</a:t>
            </a:r>
            <a:endParaRPr sz="900">
              <a:latin typeface="Arial"/>
              <a:cs typeface="Arial"/>
            </a:endParaRPr>
          </a:p>
          <a:p>
            <a:pPr marL="57150">
              <a:lnSpc>
                <a:spcPct val="100000"/>
              </a:lnSpc>
            </a:pPr>
            <a:r>
              <a:rPr dirty="0" sz="900" spc="-25">
                <a:latin typeface="Batang"/>
                <a:cs typeface="Batang"/>
              </a:rPr>
              <a:t>복제</a:t>
            </a:r>
            <a:endParaRPr sz="900">
              <a:latin typeface="Batang"/>
              <a:cs typeface="Batang"/>
            </a:endParaRPr>
          </a:p>
        </p:txBody>
      </p:sp>
      <p:grpSp>
        <p:nvGrpSpPr>
          <p:cNvPr id="194" name="object 194" descr=""/>
          <p:cNvGrpSpPr/>
          <p:nvPr/>
        </p:nvGrpSpPr>
        <p:grpSpPr>
          <a:xfrm>
            <a:off x="4217303" y="2587682"/>
            <a:ext cx="550545" cy="41275"/>
            <a:chOff x="4217303" y="2587682"/>
            <a:chExt cx="550545" cy="41275"/>
          </a:xfrm>
        </p:grpSpPr>
        <p:sp>
          <p:nvSpPr>
            <p:cNvPr id="195" name="object 195" descr=""/>
            <p:cNvSpPr/>
            <p:nvPr/>
          </p:nvSpPr>
          <p:spPr>
            <a:xfrm>
              <a:off x="4222066" y="2607594"/>
              <a:ext cx="497840" cy="635"/>
            </a:xfrm>
            <a:custGeom>
              <a:avLst/>
              <a:gdLst/>
              <a:ahLst/>
              <a:cxnLst/>
              <a:rect l="l" t="t" r="r" b="b"/>
              <a:pathLst>
                <a:path w="497839" h="635">
                  <a:moveTo>
                    <a:pt x="0" y="0"/>
                  </a:moveTo>
                  <a:lnTo>
                    <a:pt x="75437" y="16"/>
                  </a:lnTo>
                  <a:lnTo>
                    <a:pt x="137560" y="62"/>
                  </a:lnTo>
                  <a:lnTo>
                    <a:pt x="189696" y="129"/>
                  </a:lnTo>
                  <a:lnTo>
                    <a:pt x="235174" y="211"/>
                  </a:lnTo>
                  <a:lnTo>
                    <a:pt x="277324" y="299"/>
                  </a:lnTo>
                  <a:lnTo>
                    <a:pt x="303465" y="355"/>
                  </a:lnTo>
                  <a:lnTo>
                    <a:pt x="330418" y="409"/>
                  </a:lnTo>
                  <a:lnTo>
                    <a:pt x="389999" y="499"/>
                  </a:lnTo>
                  <a:lnTo>
                    <a:pt x="442881" y="545"/>
                  </a:lnTo>
                  <a:lnTo>
                    <a:pt x="462599" y="549"/>
                  </a:lnTo>
                  <a:lnTo>
                    <a:pt x="497548" y="57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4719615" y="25924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24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4719615" y="25924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24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8" name="object 198" descr=""/>
          <p:cNvSpPr txBox="1"/>
          <p:nvPr/>
        </p:nvSpPr>
        <p:spPr>
          <a:xfrm>
            <a:off x="5692695" y="1489065"/>
            <a:ext cx="1492250" cy="42925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44450" marR="5080" indent="520065">
              <a:lnSpc>
                <a:spcPts val="1019"/>
              </a:lnSpc>
              <a:spcBef>
                <a:spcPts val="180"/>
              </a:spcBef>
            </a:pPr>
            <a:r>
              <a:rPr dirty="0" sz="900" spc="-10">
                <a:latin typeface="Arial"/>
                <a:cs typeface="Arial"/>
              </a:rPr>
              <a:t>DR</a:t>
            </a:r>
            <a:r>
              <a:rPr dirty="0" sz="900" spc="-10">
                <a:latin typeface="Batang"/>
                <a:cs typeface="Batang"/>
              </a:rPr>
              <a:t>용</a:t>
            </a:r>
            <a:r>
              <a:rPr dirty="0" sz="900" spc="-50">
                <a:latin typeface="Batang"/>
                <a:cs typeface="Batang"/>
              </a:rPr>
              <a:t> </a:t>
            </a:r>
            <a:r>
              <a:rPr dirty="0" sz="900" spc="-10">
                <a:latin typeface="Batang"/>
                <a:cs typeface="Batang"/>
              </a:rPr>
              <a:t>서비스</a:t>
            </a:r>
            <a:r>
              <a:rPr dirty="0" sz="900" spc="-55">
                <a:latin typeface="Batang"/>
                <a:cs typeface="Batang"/>
              </a:rPr>
              <a:t> </a:t>
            </a:r>
            <a:r>
              <a:rPr dirty="0" sz="900" spc="-25">
                <a:latin typeface="Arial"/>
                <a:cs typeface="Arial"/>
              </a:rPr>
              <a:t>URL </a:t>
            </a:r>
            <a:r>
              <a:rPr dirty="0" sz="900" spc="-10">
                <a:latin typeface="Arial"/>
                <a:cs typeface="Arial"/>
              </a:rPr>
              <a:t>Cluster-Level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5"/>
              </a:lnSpc>
            </a:pPr>
            <a:r>
              <a:rPr dirty="0" sz="900">
                <a:latin typeface="Arial"/>
                <a:cs typeface="Arial"/>
              </a:rPr>
              <a:t>Load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Balancer</a:t>
            </a:r>
            <a:endParaRPr sz="900">
              <a:latin typeface="Arial"/>
              <a:cs typeface="Arial"/>
            </a:endParaRPr>
          </a:p>
        </p:txBody>
      </p:sp>
      <p:sp>
        <p:nvSpPr>
          <p:cNvPr id="199" name="object 199" descr=""/>
          <p:cNvSpPr txBox="1"/>
          <p:nvPr/>
        </p:nvSpPr>
        <p:spPr>
          <a:xfrm>
            <a:off x="1782137" y="1499628"/>
            <a:ext cx="10160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PRD</a:t>
            </a:r>
            <a:r>
              <a:rPr dirty="0" sz="900">
                <a:latin typeface="Batang"/>
                <a:cs typeface="Batang"/>
              </a:rPr>
              <a:t>용</a:t>
            </a:r>
            <a:r>
              <a:rPr dirty="0" sz="900" spc="-60">
                <a:latin typeface="Batang"/>
                <a:cs typeface="Batang"/>
              </a:rPr>
              <a:t> </a:t>
            </a:r>
            <a:r>
              <a:rPr dirty="0" sz="900">
                <a:latin typeface="Batang"/>
                <a:cs typeface="Batang"/>
              </a:rPr>
              <a:t>서비스</a:t>
            </a:r>
            <a:r>
              <a:rPr dirty="0" sz="900" spc="-55">
                <a:latin typeface="Batang"/>
                <a:cs typeface="Batang"/>
              </a:rPr>
              <a:t> </a:t>
            </a:r>
            <a:r>
              <a:rPr dirty="0" sz="900" spc="-25">
                <a:latin typeface="Arial"/>
                <a:cs typeface="Arial"/>
              </a:rPr>
              <a:t>URL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0" name="object 200" descr=""/>
          <p:cNvGrpSpPr/>
          <p:nvPr/>
        </p:nvGrpSpPr>
        <p:grpSpPr>
          <a:xfrm>
            <a:off x="1167159" y="1167135"/>
            <a:ext cx="6391275" cy="3216910"/>
            <a:chOff x="1167159" y="1167135"/>
            <a:chExt cx="6391275" cy="3216910"/>
          </a:xfrm>
        </p:grpSpPr>
        <p:sp>
          <p:nvSpPr>
            <p:cNvPr id="201" name="object 201" descr=""/>
            <p:cNvSpPr/>
            <p:nvPr/>
          </p:nvSpPr>
          <p:spPr>
            <a:xfrm>
              <a:off x="1171922" y="1255902"/>
              <a:ext cx="6381750" cy="679450"/>
            </a:xfrm>
            <a:custGeom>
              <a:avLst/>
              <a:gdLst/>
              <a:ahLst/>
              <a:cxnLst/>
              <a:rect l="l" t="t" r="r" b="b"/>
              <a:pathLst>
                <a:path w="6381750" h="679450">
                  <a:moveTo>
                    <a:pt x="2855594" y="76819"/>
                  </a:moveTo>
                  <a:lnTo>
                    <a:pt x="2904313" y="72242"/>
                  </a:lnTo>
                  <a:lnTo>
                    <a:pt x="2953041" y="67680"/>
                  </a:lnTo>
                  <a:lnTo>
                    <a:pt x="3001789" y="63147"/>
                  </a:lnTo>
                  <a:lnTo>
                    <a:pt x="3050565" y="58657"/>
                  </a:lnTo>
                  <a:lnTo>
                    <a:pt x="3099379" y="54225"/>
                  </a:lnTo>
                  <a:lnTo>
                    <a:pt x="3148240" y="49865"/>
                  </a:lnTo>
                  <a:lnTo>
                    <a:pt x="3197158" y="45592"/>
                  </a:lnTo>
                  <a:lnTo>
                    <a:pt x="3246142" y="41421"/>
                  </a:lnTo>
                  <a:lnTo>
                    <a:pt x="3295203" y="37364"/>
                  </a:lnTo>
                  <a:lnTo>
                    <a:pt x="3344348" y="33438"/>
                  </a:lnTo>
                  <a:lnTo>
                    <a:pt x="3393589" y="29657"/>
                  </a:lnTo>
                  <a:lnTo>
                    <a:pt x="3442934" y="26035"/>
                  </a:lnTo>
                  <a:lnTo>
                    <a:pt x="3492393" y="22586"/>
                  </a:lnTo>
                  <a:lnTo>
                    <a:pt x="3541975" y="19325"/>
                  </a:lnTo>
                  <a:lnTo>
                    <a:pt x="3591689" y="16267"/>
                  </a:lnTo>
                  <a:lnTo>
                    <a:pt x="3641546" y="13425"/>
                  </a:lnTo>
                  <a:lnTo>
                    <a:pt x="3691555" y="10815"/>
                  </a:lnTo>
                  <a:lnTo>
                    <a:pt x="3741725" y="8451"/>
                  </a:lnTo>
                  <a:lnTo>
                    <a:pt x="3792066" y="6347"/>
                  </a:lnTo>
                  <a:lnTo>
                    <a:pt x="3842586" y="4518"/>
                  </a:lnTo>
                  <a:lnTo>
                    <a:pt x="3893297" y="2978"/>
                  </a:lnTo>
                  <a:lnTo>
                    <a:pt x="3944206" y="1742"/>
                  </a:lnTo>
                  <a:lnTo>
                    <a:pt x="3995325" y="824"/>
                  </a:lnTo>
                  <a:lnTo>
                    <a:pt x="4046661" y="238"/>
                  </a:lnTo>
                  <a:lnTo>
                    <a:pt x="4098225" y="0"/>
                  </a:lnTo>
                  <a:lnTo>
                    <a:pt x="4150026" y="123"/>
                  </a:lnTo>
                  <a:lnTo>
                    <a:pt x="4202074" y="622"/>
                  </a:lnTo>
                  <a:lnTo>
                    <a:pt x="4254377" y="1511"/>
                  </a:lnTo>
                  <a:lnTo>
                    <a:pt x="4306947" y="2805"/>
                  </a:lnTo>
                  <a:lnTo>
                    <a:pt x="4359791" y="4519"/>
                  </a:lnTo>
                  <a:lnTo>
                    <a:pt x="4408702" y="6417"/>
                  </a:lnTo>
                  <a:lnTo>
                    <a:pt x="4459022" y="8602"/>
                  </a:lnTo>
                  <a:lnTo>
                    <a:pt x="4510625" y="11070"/>
                  </a:lnTo>
                  <a:lnTo>
                    <a:pt x="4563385" y="13815"/>
                  </a:lnTo>
                  <a:lnTo>
                    <a:pt x="4617178" y="16834"/>
                  </a:lnTo>
                  <a:lnTo>
                    <a:pt x="4671879" y="20120"/>
                  </a:lnTo>
                  <a:lnTo>
                    <a:pt x="4727362" y="23669"/>
                  </a:lnTo>
                  <a:lnTo>
                    <a:pt x="4783502" y="27477"/>
                  </a:lnTo>
                  <a:lnTo>
                    <a:pt x="4840175" y="31538"/>
                  </a:lnTo>
                  <a:lnTo>
                    <a:pt x="4897255" y="35848"/>
                  </a:lnTo>
                  <a:lnTo>
                    <a:pt x="4954617" y="40401"/>
                  </a:lnTo>
                  <a:lnTo>
                    <a:pt x="5012135" y="45194"/>
                  </a:lnTo>
                  <a:lnTo>
                    <a:pt x="5069685" y="50221"/>
                  </a:lnTo>
                  <a:lnTo>
                    <a:pt x="5127142" y="55477"/>
                  </a:lnTo>
                  <a:lnTo>
                    <a:pt x="5184381" y="60958"/>
                  </a:lnTo>
                  <a:lnTo>
                    <a:pt x="5241275" y="66658"/>
                  </a:lnTo>
                  <a:lnTo>
                    <a:pt x="5297701" y="72573"/>
                  </a:lnTo>
                  <a:lnTo>
                    <a:pt x="5353533" y="78699"/>
                  </a:lnTo>
                  <a:lnTo>
                    <a:pt x="5408646" y="85029"/>
                  </a:lnTo>
                  <a:lnTo>
                    <a:pt x="5462915" y="91560"/>
                  </a:lnTo>
                  <a:lnTo>
                    <a:pt x="5516215" y="98287"/>
                  </a:lnTo>
                  <a:lnTo>
                    <a:pt x="5568420" y="105204"/>
                  </a:lnTo>
                  <a:lnTo>
                    <a:pt x="5619406" y="112307"/>
                  </a:lnTo>
                  <a:lnTo>
                    <a:pt x="5669047" y="119591"/>
                  </a:lnTo>
                  <a:lnTo>
                    <a:pt x="5717218" y="127052"/>
                  </a:lnTo>
                  <a:lnTo>
                    <a:pt x="5763794" y="134684"/>
                  </a:lnTo>
                  <a:lnTo>
                    <a:pt x="5808651" y="142482"/>
                  </a:lnTo>
                  <a:lnTo>
                    <a:pt x="5851662" y="150443"/>
                  </a:lnTo>
                  <a:lnTo>
                    <a:pt x="5892703" y="158560"/>
                  </a:lnTo>
                  <a:lnTo>
                    <a:pt x="5931649" y="166829"/>
                  </a:lnTo>
                  <a:lnTo>
                    <a:pt x="6002754" y="183805"/>
                  </a:lnTo>
                  <a:lnTo>
                    <a:pt x="6106671" y="215623"/>
                  </a:lnTo>
                  <a:lnTo>
                    <a:pt x="6167798" y="240404"/>
                  </a:lnTo>
                  <a:lnTo>
                    <a:pt x="6218950" y="266705"/>
                  </a:lnTo>
                  <a:lnTo>
                    <a:pt x="6261033" y="294388"/>
                  </a:lnTo>
                  <a:lnTo>
                    <a:pt x="6294956" y="323315"/>
                  </a:lnTo>
                  <a:lnTo>
                    <a:pt x="6321624" y="353348"/>
                  </a:lnTo>
                  <a:lnTo>
                    <a:pt x="6356825" y="416178"/>
                  </a:lnTo>
                  <a:lnTo>
                    <a:pt x="6373892" y="481772"/>
                  </a:lnTo>
                  <a:lnTo>
                    <a:pt x="6380080" y="549025"/>
                  </a:lnTo>
                  <a:lnTo>
                    <a:pt x="6381362" y="582928"/>
                  </a:lnTo>
                </a:path>
                <a:path w="6381750" h="679450">
                  <a:moveTo>
                    <a:pt x="146982" y="679223"/>
                  </a:moveTo>
                  <a:lnTo>
                    <a:pt x="106293" y="650315"/>
                  </a:lnTo>
                  <a:lnTo>
                    <a:pt x="69557" y="618085"/>
                  </a:lnTo>
                  <a:lnTo>
                    <a:pt x="40725" y="579210"/>
                  </a:lnTo>
                  <a:lnTo>
                    <a:pt x="23750" y="530368"/>
                  </a:lnTo>
                  <a:lnTo>
                    <a:pt x="16280" y="495174"/>
                  </a:lnTo>
                  <a:lnTo>
                    <a:pt x="7412" y="453945"/>
                  </a:lnTo>
                  <a:lnTo>
                    <a:pt x="775" y="409038"/>
                  </a:lnTo>
                  <a:lnTo>
                    <a:pt x="0" y="362809"/>
                  </a:lnTo>
                  <a:lnTo>
                    <a:pt x="8717" y="317613"/>
                  </a:lnTo>
                  <a:lnTo>
                    <a:pt x="30556" y="275806"/>
                  </a:lnTo>
                  <a:lnTo>
                    <a:pt x="69150" y="239744"/>
                  </a:lnTo>
                  <a:lnTo>
                    <a:pt x="128464" y="206074"/>
                  </a:lnTo>
                  <a:lnTo>
                    <a:pt x="163586" y="190216"/>
                  </a:lnTo>
                  <a:lnTo>
                    <a:pt x="202256" y="175062"/>
                  </a:lnTo>
                  <a:lnTo>
                    <a:pt x="244404" y="160649"/>
                  </a:lnTo>
                  <a:lnTo>
                    <a:pt x="289959" y="147018"/>
                  </a:lnTo>
                  <a:lnTo>
                    <a:pt x="338849" y="134206"/>
                  </a:lnTo>
                  <a:lnTo>
                    <a:pt x="391005" y="122252"/>
                  </a:lnTo>
                  <a:lnTo>
                    <a:pt x="446354" y="111195"/>
                  </a:lnTo>
                  <a:lnTo>
                    <a:pt x="504827" y="101074"/>
                  </a:lnTo>
                  <a:lnTo>
                    <a:pt x="566353" y="91927"/>
                  </a:lnTo>
                  <a:lnTo>
                    <a:pt x="630860" y="83793"/>
                  </a:lnTo>
                  <a:lnTo>
                    <a:pt x="698278" y="76711"/>
                  </a:lnTo>
                  <a:lnTo>
                    <a:pt x="737937" y="73231"/>
                  </a:lnTo>
                  <a:lnTo>
                    <a:pt x="779037" y="70174"/>
                  </a:lnTo>
                  <a:lnTo>
                    <a:pt x="821515" y="67520"/>
                  </a:lnTo>
                  <a:lnTo>
                    <a:pt x="865305" y="65251"/>
                  </a:lnTo>
                  <a:lnTo>
                    <a:pt x="910340" y="63347"/>
                  </a:lnTo>
                  <a:lnTo>
                    <a:pt x="956555" y="61790"/>
                  </a:lnTo>
                  <a:lnTo>
                    <a:pt x="1003885" y="60559"/>
                  </a:lnTo>
                  <a:lnTo>
                    <a:pt x="1052264" y="59635"/>
                  </a:lnTo>
                  <a:lnTo>
                    <a:pt x="1101627" y="59000"/>
                  </a:lnTo>
                  <a:lnTo>
                    <a:pt x="1151907" y="58635"/>
                  </a:lnTo>
                  <a:lnTo>
                    <a:pt x="1203040" y="58519"/>
                  </a:lnTo>
                  <a:lnTo>
                    <a:pt x="1254960" y="58633"/>
                  </a:lnTo>
                  <a:lnTo>
                    <a:pt x="1307601" y="58960"/>
                  </a:lnTo>
                  <a:lnTo>
                    <a:pt x="1360897" y="59478"/>
                  </a:lnTo>
                  <a:lnTo>
                    <a:pt x="1414784" y="60170"/>
                  </a:lnTo>
                  <a:lnTo>
                    <a:pt x="1469195" y="61015"/>
                  </a:lnTo>
                  <a:lnTo>
                    <a:pt x="1524064" y="61995"/>
                  </a:lnTo>
                  <a:lnTo>
                    <a:pt x="1579327" y="63090"/>
                  </a:lnTo>
                  <a:lnTo>
                    <a:pt x="1634918" y="64282"/>
                  </a:lnTo>
                  <a:lnTo>
                    <a:pt x="1690771" y="65550"/>
                  </a:lnTo>
                  <a:lnTo>
                    <a:pt x="1746820" y="66876"/>
                  </a:lnTo>
                  <a:lnTo>
                    <a:pt x="1803000" y="68240"/>
                  </a:lnTo>
                  <a:lnTo>
                    <a:pt x="1859246" y="696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29968" y="1176660"/>
              <a:ext cx="997547" cy="382799"/>
            </a:xfrm>
            <a:prstGeom prst="rect">
              <a:avLst/>
            </a:prstGeom>
          </p:spPr>
        </p:pic>
        <p:sp>
          <p:nvSpPr>
            <p:cNvPr id="203" name="object 203" descr=""/>
            <p:cNvSpPr/>
            <p:nvPr/>
          </p:nvSpPr>
          <p:spPr>
            <a:xfrm>
              <a:off x="3025218" y="1171897"/>
              <a:ext cx="1007110" cy="392430"/>
            </a:xfrm>
            <a:custGeom>
              <a:avLst/>
              <a:gdLst/>
              <a:ahLst/>
              <a:cxnLst/>
              <a:rect l="l" t="t" r="r" b="b"/>
              <a:pathLst>
                <a:path w="1007110" h="392430">
                  <a:moveTo>
                    <a:pt x="0" y="0"/>
                  </a:moveTo>
                  <a:lnTo>
                    <a:pt x="1007072" y="0"/>
                  </a:lnTo>
                  <a:lnTo>
                    <a:pt x="1007072" y="392324"/>
                  </a:lnTo>
                  <a:lnTo>
                    <a:pt x="0" y="3923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96041" y="4035829"/>
              <a:ext cx="1027122" cy="347961"/>
            </a:xfrm>
            <a:prstGeom prst="rect">
              <a:avLst/>
            </a:prstGeom>
          </p:spPr>
        </p:pic>
      </p:grpSp>
      <p:sp>
        <p:nvSpPr>
          <p:cNvPr id="205" name="object 205" descr=""/>
          <p:cNvSpPr txBox="1"/>
          <p:nvPr/>
        </p:nvSpPr>
        <p:spPr>
          <a:xfrm>
            <a:off x="1668354" y="663075"/>
            <a:ext cx="5807710" cy="895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latin typeface="Lucida Sans"/>
                <a:cs typeface="Lucida Sans"/>
              </a:rPr>
              <a:t>DR</a:t>
            </a:r>
            <a:r>
              <a:rPr dirty="0" sz="1200" spc="-30">
                <a:latin typeface="Batang"/>
                <a:cs typeface="Batang"/>
              </a:rPr>
              <a:t>용</a:t>
            </a:r>
            <a:r>
              <a:rPr dirty="0" sz="1200" spc="-105">
                <a:latin typeface="Batang"/>
                <a:cs typeface="Batang"/>
              </a:rPr>
              <a:t> </a:t>
            </a:r>
            <a:r>
              <a:rPr dirty="0" sz="1200" spc="-40">
                <a:latin typeface="Lucida Sans"/>
                <a:cs typeface="Lucida Sans"/>
              </a:rPr>
              <a:t>OpenShift</a:t>
            </a:r>
            <a:r>
              <a:rPr dirty="0" sz="1200" spc="-40">
                <a:latin typeface="Batang"/>
                <a:cs typeface="Batang"/>
              </a:rPr>
              <a:t>를</a:t>
            </a:r>
            <a:r>
              <a:rPr dirty="0" sz="1200" spc="-10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별도로</a:t>
            </a:r>
            <a:r>
              <a:rPr dirty="0" sz="1200" spc="-10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구성하고</a:t>
            </a:r>
            <a:r>
              <a:rPr dirty="0" sz="1200" spc="-100">
                <a:latin typeface="Batang"/>
                <a:cs typeface="Batang"/>
              </a:rPr>
              <a:t> </a:t>
            </a:r>
            <a:r>
              <a:rPr dirty="0" sz="1200" spc="-45">
                <a:latin typeface="Lucida Sans"/>
                <a:cs typeface="Lucida Sans"/>
              </a:rPr>
              <a:t>Quay</a:t>
            </a:r>
            <a:r>
              <a:rPr dirty="0" sz="1200" spc="-45">
                <a:latin typeface="Batang"/>
                <a:cs typeface="Batang"/>
              </a:rPr>
              <a:t>를</a:t>
            </a:r>
            <a:r>
              <a:rPr dirty="0" sz="1200" spc="-105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사용하여</a:t>
            </a:r>
            <a:r>
              <a:rPr dirty="0" sz="1200" spc="-100">
                <a:latin typeface="Batang"/>
                <a:cs typeface="Batang"/>
              </a:rPr>
              <a:t> </a:t>
            </a:r>
            <a:r>
              <a:rPr dirty="0" sz="1200" spc="-40">
                <a:latin typeface="Lucida Sans"/>
                <a:cs typeface="Lucida Sans"/>
              </a:rPr>
              <a:t>DR</a:t>
            </a:r>
            <a:r>
              <a:rPr dirty="0" sz="1200" spc="-80">
                <a:latin typeface="Lucida Sans"/>
                <a:cs typeface="Lucida Sans"/>
              </a:rPr>
              <a:t> </a:t>
            </a:r>
            <a:r>
              <a:rPr dirty="0" sz="1200">
                <a:latin typeface="Batang"/>
                <a:cs typeface="Batang"/>
              </a:rPr>
              <a:t>환경으로</a:t>
            </a:r>
            <a:r>
              <a:rPr dirty="0" sz="1200" spc="-10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이미지를</a:t>
            </a:r>
            <a:r>
              <a:rPr dirty="0" sz="1200" spc="-100">
                <a:latin typeface="Batang"/>
                <a:cs typeface="Batang"/>
              </a:rPr>
              <a:t> </a:t>
            </a:r>
            <a:r>
              <a:rPr dirty="0" sz="1200" spc="-10">
                <a:latin typeface="Batang"/>
                <a:cs typeface="Batang"/>
              </a:rPr>
              <a:t>복제하여</a:t>
            </a:r>
            <a:r>
              <a:rPr dirty="0" sz="1200" spc="-10">
                <a:latin typeface="Lucida Sans"/>
                <a:cs typeface="Lucida Sans"/>
              </a:rPr>
              <a:t>,</a:t>
            </a:r>
            <a:endParaRPr sz="1200">
              <a:latin typeface="Lucida Sans"/>
              <a:cs typeface="Lucida Sans"/>
            </a:endParaRPr>
          </a:p>
          <a:p>
            <a:pPr algn="ctr">
              <a:lnSpc>
                <a:spcPct val="100000"/>
              </a:lnSpc>
            </a:pPr>
            <a:r>
              <a:rPr dirty="0" sz="1200">
                <a:latin typeface="Batang"/>
                <a:cs typeface="Batang"/>
              </a:rPr>
              <a:t>장애시에</a:t>
            </a:r>
            <a:r>
              <a:rPr dirty="0" sz="1200" spc="-110">
                <a:latin typeface="Batang"/>
                <a:cs typeface="Batang"/>
              </a:rPr>
              <a:t> </a:t>
            </a:r>
            <a:r>
              <a:rPr dirty="0" sz="1200" spc="-30">
                <a:latin typeface="Lucida Sans"/>
                <a:cs typeface="Lucida Sans"/>
              </a:rPr>
              <a:t>DR</a:t>
            </a:r>
            <a:r>
              <a:rPr dirty="0" sz="1200" spc="-30">
                <a:latin typeface="Batang"/>
                <a:cs typeface="Batang"/>
              </a:rPr>
              <a:t>용</a:t>
            </a:r>
            <a:r>
              <a:rPr dirty="0" sz="1200" spc="-110">
                <a:latin typeface="Batang"/>
                <a:cs typeface="Batang"/>
              </a:rPr>
              <a:t> </a:t>
            </a:r>
            <a:r>
              <a:rPr dirty="0" sz="1200" spc="-40">
                <a:latin typeface="Lucida Sans"/>
                <a:cs typeface="Lucida Sans"/>
              </a:rPr>
              <a:t>OpenShift</a:t>
            </a:r>
            <a:r>
              <a:rPr dirty="0" sz="1200" spc="-85">
                <a:latin typeface="Lucida Sans"/>
                <a:cs typeface="Lucida Sans"/>
              </a:rPr>
              <a:t> </a:t>
            </a:r>
            <a:r>
              <a:rPr dirty="0" sz="1200">
                <a:latin typeface="Batang"/>
                <a:cs typeface="Batang"/>
              </a:rPr>
              <a:t>클러스터의</a:t>
            </a:r>
            <a:r>
              <a:rPr dirty="0" sz="1200" spc="-110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서비스를</a:t>
            </a:r>
            <a:r>
              <a:rPr dirty="0" sz="1200" spc="-105">
                <a:latin typeface="Batang"/>
                <a:cs typeface="Batang"/>
              </a:rPr>
              <a:t> </a:t>
            </a:r>
            <a:r>
              <a:rPr dirty="0" sz="1200">
                <a:latin typeface="Batang"/>
                <a:cs typeface="Batang"/>
              </a:rPr>
              <a:t>제공하는</a:t>
            </a:r>
            <a:r>
              <a:rPr dirty="0" sz="1200" spc="-110">
                <a:latin typeface="Batang"/>
                <a:cs typeface="Batang"/>
              </a:rPr>
              <a:t> </a:t>
            </a:r>
            <a:r>
              <a:rPr dirty="0" sz="1200" spc="-25">
                <a:latin typeface="Batang"/>
                <a:cs typeface="Batang"/>
              </a:rPr>
              <a:t>구조</a:t>
            </a:r>
            <a:endParaRPr sz="12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200">
              <a:latin typeface="Batang"/>
              <a:cs typeface="Batang"/>
            </a:endParaRPr>
          </a:p>
          <a:p>
            <a:pPr algn="ctr" marL="76835">
              <a:lnSpc>
                <a:spcPct val="100000"/>
              </a:lnSpc>
              <a:spcBef>
                <a:spcPts val="5"/>
              </a:spcBef>
            </a:pPr>
            <a:r>
              <a:rPr dirty="0" sz="1400" spc="-20">
                <a:latin typeface="Arial"/>
                <a:cs typeface="Arial"/>
              </a:rPr>
              <a:t>GSLB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6" name="object 206" descr=""/>
          <p:cNvGrpSpPr/>
          <p:nvPr/>
        </p:nvGrpSpPr>
        <p:grpSpPr>
          <a:xfrm>
            <a:off x="361836" y="2666169"/>
            <a:ext cx="2961005" cy="2040889"/>
            <a:chOff x="361836" y="2666169"/>
            <a:chExt cx="2961005" cy="2040889"/>
          </a:xfrm>
        </p:grpSpPr>
        <p:sp>
          <p:nvSpPr>
            <p:cNvPr id="207" name="object 207" descr=""/>
            <p:cNvSpPr/>
            <p:nvPr/>
          </p:nvSpPr>
          <p:spPr>
            <a:xfrm>
              <a:off x="366599" y="4118991"/>
              <a:ext cx="2951480" cy="582930"/>
            </a:xfrm>
            <a:custGeom>
              <a:avLst/>
              <a:gdLst/>
              <a:ahLst/>
              <a:cxnLst/>
              <a:rect l="l" t="t" r="r" b="b"/>
              <a:pathLst>
                <a:path w="2951479" h="582929">
                  <a:moveTo>
                    <a:pt x="0" y="0"/>
                  </a:moveTo>
                  <a:lnTo>
                    <a:pt x="2951394" y="0"/>
                  </a:lnTo>
                  <a:lnTo>
                    <a:pt x="2951394" y="582898"/>
                  </a:lnTo>
                  <a:lnTo>
                    <a:pt x="0" y="5828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842296" y="2675694"/>
              <a:ext cx="160020" cy="1443355"/>
            </a:xfrm>
            <a:custGeom>
              <a:avLst/>
              <a:gdLst/>
              <a:ahLst/>
              <a:cxnLst/>
              <a:rect l="l" t="t" r="r" b="b"/>
              <a:pathLst>
                <a:path w="160019" h="1443354">
                  <a:moveTo>
                    <a:pt x="159899" y="0"/>
                  </a:moveTo>
                  <a:lnTo>
                    <a:pt x="157568" y="13082"/>
                  </a:lnTo>
                  <a:lnTo>
                    <a:pt x="151042" y="12614"/>
                  </a:lnTo>
                  <a:lnTo>
                    <a:pt x="141019" y="7138"/>
                  </a:lnTo>
                  <a:lnTo>
                    <a:pt x="128199" y="5193"/>
                  </a:lnTo>
                  <a:lnTo>
                    <a:pt x="96965" y="46058"/>
                  </a:lnTo>
                  <a:lnTo>
                    <a:pt x="79949" y="105949"/>
                  </a:lnTo>
                  <a:lnTo>
                    <a:pt x="70743" y="152992"/>
                  </a:lnTo>
                  <a:lnTo>
                    <a:pt x="61645" y="210616"/>
                  </a:lnTo>
                  <a:lnTo>
                    <a:pt x="52766" y="278472"/>
                  </a:lnTo>
                  <a:lnTo>
                    <a:pt x="44214" y="356213"/>
                  </a:lnTo>
                  <a:lnTo>
                    <a:pt x="40095" y="398682"/>
                  </a:lnTo>
                  <a:lnTo>
                    <a:pt x="36099" y="443492"/>
                  </a:lnTo>
                  <a:lnTo>
                    <a:pt x="32239" y="490598"/>
                  </a:lnTo>
                  <a:lnTo>
                    <a:pt x="28530" y="539959"/>
                  </a:lnTo>
                  <a:lnTo>
                    <a:pt x="24984" y="591530"/>
                  </a:lnTo>
                  <a:lnTo>
                    <a:pt x="21615" y="645267"/>
                  </a:lnTo>
                  <a:lnTo>
                    <a:pt x="18438" y="701128"/>
                  </a:lnTo>
                  <a:lnTo>
                    <a:pt x="15465" y="759069"/>
                  </a:lnTo>
                  <a:lnTo>
                    <a:pt x="12711" y="819046"/>
                  </a:lnTo>
                  <a:lnTo>
                    <a:pt x="10189" y="881015"/>
                  </a:lnTo>
                  <a:lnTo>
                    <a:pt x="7912" y="944935"/>
                  </a:lnTo>
                  <a:lnTo>
                    <a:pt x="5895" y="1010760"/>
                  </a:lnTo>
                  <a:lnTo>
                    <a:pt x="4150" y="1078447"/>
                  </a:lnTo>
                  <a:lnTo>
                    <a:pt x="2692" y="1147953"/>
                  </a:lnTo>
                  <a:lnTo>
                    <a:pt x="1535" y="1219235"/>
                  </a:lnTo>
                  <a:lnTo>
                    <a:pt x="691" y="1292248"/>
                  </a:lnTo>
                  <a:lnTo>
                    <a:pt x="175" y="1366950"/>
                  </a:lnTo>
                  <a:lnTo>
                    <a:pt x="0" y="1443297"/>
                  </a:lnTo>
                </a:path>
              </a:pathLst>
            </a:custGeom>
            <a:ln w="19049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9" name="object 209" descr=""/>
          <p:cNvSpPr txBox="1"/>
          <p:nvPr/>
        </p:nvSpPr>
        <p:spPr>
          <a:xfrm>
            <a:off x="469687" y="4257113"/>
            <a:ext cx="11601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Persistent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Storage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10" name="object 21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25851" y="4155191"/>
            <a:ext cx="414911" cy="414899"/>
          </a:xfrm>
          <a:prstGeom prst="rect">
            <a:avLst/>
          </a:prstGeom>
        </p:spPr>
      </p:pic>
      <p:sp>
        <p:nvSpPr>
          <p:cNvPr id="211" name="object 211" descr=""/>
          <p:cNvSpPr txBox="1"/>
          <p:nvPr/>
        </p:nvSpPr>
        <p:spPr>
          <a:xfrm>
            <a:off x="1497219" y="4485551"/>
            <a:ext cx="6159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Arial"/>
                <a:cs typeface="Arial"/>
              </a:rPr>
              <a:t>Volume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12" name="object 212" descr=""/>
          <p:cNvGrpSpPr/>
          <p:nvPr/>
        </p:nvGrpSpPr>
        <p:grpSpPr>
          <a:xfrm>
            <a:off x="3172556" y="4578103"/>
            <a:ext cx="2477135" cy="41275"/>
            <a:chOff x="3172556" y="4578103"/>
            <a:chExt cx="2477135" cy="41275"/>
          </a:xfrm>
        </p:grpSpPr>
        <p:sp>
          <p:nvSpPr>
            <p:cNvPr id="213" name="object 213" descr=""/>
            <p:cNvSpPr/>
            <p:nvPr/>
          </p:nvSpPr>
          <p:spPr>
            <a:xfrm>
              <a:off x="3177318" y="4598615"/>
              <a:ext cx="2424430" cy="0"/>
            </a:xfrm>
            <a:custGeom>
              <a:avLst/>
              <a:gdLst/>
              <a:ahLst/>
              <a:cxnLst/>
              <a:rect l="l" t="t" r="r" b="b"/>
              <a:pathLst>
                <a:path w="2424429" h="0">
                  <a:moveTo>
                    <a:pt x="0" y="0"/>
                  </a:moveTo>
                  <a:lnTo>
                    <a:pt x="242384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5601163" y="458286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0" y="0"/>
                  </a:lnTo>
                  <a:lnTo>
                    <a:pt x="43224" y="15749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5601163" y="458286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43224" y="15749"/>
                  </a:lnTo>
                  <a:lnTo>
                    <a:pt x="0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6" name="object 216" descr=""/>
          <p:cNvSpPr txBox="1"/>
          <p:nvPr/>
        </p:nvSpPr>
        <p:spPr>
          <a:xfrm>
            <a:off x="3686191" y="4396337"/>
            <a:ext cx="1772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Asynchronous Replication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7" name="object 217" descr=""/>
          <p:cNvSpPr txBox="1"/>
          <p:nvPr/>
        </p:nvSpPr>
        <p:spPr>
          <a:xfrm>
            <a:off x="2038361" y="4235025"/>
            <a:ext cx="12477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(INFRA</a:t>
            </a:r>
            <a:r>
              <a:rPr dirty="0" sz="800" spc="-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Node</a:t>
            </a:r>
            <a:r>
              <a:rPr dirty="0" sz="800">
                <a:latin typeface="Batang"/>
                <a:cs typeface="Batang"/>
              </a:rPr>
              <a:t>에</a:t>
            </a:r>
            <a:r>
              <a:rPr dirty="0" sz="800" spc="-30">
                <a:latin typeface="Batang"/>
                <a:cs typeface="Batang"/>
              </a:rPr>
              <a:t> </a:t>
            </a:r>
            <a:r>
              <a:rPr dirty="0" sz="800">
                <a:latin typeface="Arial"/>
                <a:cs typeface="Arial"/>
              </a:rPr>
              <a:t>ODF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25">
                <a:latin typeface="Batang"/>
                <a:cs typeface="Batang"/>
              </a:rPr>
              <a:t>구성</a:t>
            </a:r>
            <a:r>
              <a:rPr dirty="0" sz="800" spc="-25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218" name="object 218" descr=""/>
          <p:cNvSpPr/>
          <p:nvPr/>
        </p:nvSpPr>
        <p:spPr>
          <a:xfrm>
            <a:off x="5700588" y="4118991"/>
            <a:ext cx="2951480" cy="582930"/>
          </a:xfrm>
          <a:custGeom>
            <a:avLst/>
            <a:gdLst/>
            <a:ahLst/>
            <a:cxnLst/>
            <a:rect l="l" t="t" r="r" b="b"/>
            <a:pathLst>
              <a:path w="2951479" h="582929">
                <a:moveTo>
                  <a:pt x="0" y="0"/>
                </a:moveTo>
                <a:lnTo>
                  <a:pt x="2951394" y="0"/>
                </a:lnTo>
                <a:lnTo>
                  <a:pt x="2951394" y="582898"/>
                </a:lnTo>
                <a:lnTo>
                  <a:pt x="0" y="5828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9" descr=""/>
          <p:cNvSpPr txBox="1"/>
          <p:nvPr/>
        </p:nvSpPr>
        <p:spPr>
          <a:xfrm>
            <a:off x="5816379" y="4257113"/>
            <a:ext cx="11474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Persistent</a:t>
            </a:r>
            <a:r>
              <a:rPr dirty="0" sz="1100" spc="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Storage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20" name="object 22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959836" y="4155191"/>
            <a:ext cx="414914" cy="414899"/>
          </a:xfrm>
          <a:prstGeom prst="rect">
            <a:avLst/>
          </a:prstGeom>
        </p:spPr>
      </p:pic>
      <p:sp>
        <p:nvSpPr>
          <p:cNvPr id="221" name="object 221" descr=""/>
          <p:cNvSpPr txBox="1"/>
          <p:nvPr/>
        </p:nvSpPr>
        <p:spPr>
          <a:xfrm>
            <a:off x="6843908" y="4485551"/>
            <a:ext cx="6032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Arial"/>
                <a:cs typeface="Arial"/>
              </a:rPr>
              <a:t>Volume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2" name="object 222" descr=""/>
          <p:cNvSpPr txBox="1"/>
          <p:nvPr/>
        </p:nvSpPr>
        <p:spPr>
          <a:xfrm>
            <a:off x="7385050" y="4235025"/>
            <a:ext cx="12350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(INFRA</a:t>
            </a:r>
            <a:r>
              <a:rPr dirty="0" sz="800" spc="-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Node</a:t>
            </a:r>
            <a:r>
              <a:rPr dirty="0" sz="800">
                <a:latin typeface="Batang"/>
                <a:cs typeface="Batang"/>
              </a:rPr>
              <a:t>에</a:t>
            </a:r>
            <a:r>
              <a:rPr dirty="0" sz="800" spc="-30">
                <a:latin typeface="Batang"/>
                <a:cs typeface="Batang"/>
              </a:rPr>
              <a:t> </a:t>
            </a:r>
            <a:r>
              <a:rPr dirty="0" sz="800">
                <a:latin typeface="Arial"/>
                <a:cs typeface="Arial"/>
              </a:rPr>
              <a:t>ODF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25">
                <a:latin typeface="Batang"/>
                <a:cs typeface="Batang"/>
              </a:rPr>
              <a:t>구성</a:t>
            </a:r>
            <a:r>
              <a:rPr dirty="0" sz="800" spc="-25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23" name="object 223" descr=""/>
          <p:cNvGrpSpPr/>
          <p:nvPr/>
        </p:nvGrpSpPr>
        <p:grpSpPr>
          <a:xfrm>
            <a:off x="3455130" y="1571351"/>
            <a:ext cx="3731260" cy="2557780"/>
            <a:chOff x="3455130" y="1571351"/>
            <a:chExt cx="3731260" cy="2557780"/>
          </a:xfrm>
        </p:grpSpPr>
        <p:sp>
          <p:nvSpPr>
            <p:cNvPr id="224" name="object 224" descr=""/>
            <p:cNvSpPr/>
            <p:nvPr/>
          </p:nvSpPr>
          <p:spPr>
            <a:xfrm>
              <a:off x="7072260" y="2838069"/>
              <a:ext cx="104139" cy="1281430"/>
            </a:xfrm>
            <a:custGeom>
              <a:avLst/>
              <a:gdLst/>
              <a:ahLst/>
              <a:cxnLst/>
              <a:rect l="l" t="t" r="r" b="b"/>
              <a:pathLst>
                <a:path w="104140" h="1281429">
                  <a:moveTo>
                    <a:pt x="0" y="0"/>
                  </a:moveTo>
                  <a:lnTo>
                    <a:pt x="23833" y="43146"/>
                  </a:lnTo>
                  <a:lnTo>
                    <a:pt x="35394" y="94456"/>
                  </a:lnTo>
                  <a:lnTo>
                    <a:pt x="46529" y="163258"/>
                  </a:lnTo>
                  <a:lnTo>
                    <a:pt x="51892" y="203672"/>
                  </a:lnTo>
                  <a:lnTo>
                    <a:pt x="57096" y="247803"/>
                  </a:lnTo>
                  <a:lnTo>
                    <a:pt x="62121" y="295432"/>
                  </a:lnTo>
                  <a:lnTo>
                    <a:pt x="66951" y="346341"/>
                  </a:lnTo>
                  <a:lnTo>
                    <a:pt x="71568" y="400311"/>
                  </a:lnTo>
                  <a:lnTo>
                    <a:pt x="75954" y="457124"/>
                  </a:lnTo>
                  <a:lnTo>
                    <a:pt x="80091" y="516560"/>
                  </a:lnTo>
                  <a:lnTo>
                    <a:pt x="83962" y="578402"/>
                  </a:lnTo>
                  <a:lnTo>
                    <a:pt x="87548" y="642430"/>
                  </a:lnTo>
                  <a:lnTo>
                    <a:pt x="90832" y="708425"/>
                  </a:lnTo>
                  <a:lnTo>
                    <a:pt x="93797" y="776171"/>
                  </a:lnTo>
                  <a:lnTo>
                    <a:pt x="96423" y="845446"/>
                  </a:lnTo>
                  <a:lnTo>
                    <a:pt x="98695" y="916034"/>
                  </a:lnTo>
                  <a:lnTo>
                    <a:pt x="100593" y="987714"/>
                  </a:lnTo>
                  <a:lnTo>
                    <a:pt x="102100" y="1060270"/>
                  </a:lnTo>
                  <a:lnTo>
                    <a:pt x="103199" y="1133481"/>
                  </a:lnTo>
                  <a:lnTo>
                    <a:pt x="103871" y="1207130"/>
                  </a:lnTo>
                  <a:lnTo>
                    <a:pt x="104099" y="1280997"/>
                  </a:lnTo>
                </a:path>
              </a:pathLst>
            </a:custGeom>
            <a:ln w="19049">
              <a:solidFill>
                <a:srgbClr val="6048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80291" y="1571351"/>
              <a:ext cx="431799" cy="238122"/>
            </a:xfrm>
            <a:prstGeom prst="rect">
              <a:avLst/>
            </a:prstGeom>
          </p:spPr>
        </p:pic>
        <p:sp>
          <p:nvSpPr>
            <p:cNvPr id="226" name="object 226" descr=""/>
            <p:cNvSpPr/>
            <p:nvPr/>
          </p:nvSpPr>
          <p:spPr>
            <a:xfrm>
              <a:off x="3459893" y="1690304"/>
              <a:ext cx="2150110" cy="153670"/>
            </a:xfrm>
            <a:custGeom>
              <a:avLst/>
              <a:gdLst/>
              <a:ahLst/>
              <a:cxnLst/>
              <a:rect l="l" t="t" r="r" b="b"/>
              <a:pathLst>
                <a:path w="2150110" h="153669">
                  <a:moveTo>
                    <a:pt x="0" y="153599"/>
                  </a:moveTo>
                  <a:lnTo>
                    <a:pt x="72596" y="152230"/>
                  </a:lnTo>
                  <a:lnTo>
                    <a:pt x="137617" y="148332"/>
                  </a:lnTo>
                  <a:lnTo>
                    <a:pt x="196010" y="142221"/>
                  </a:lnTo>
                  <a:lnTo>
                    <a:pt x="248722" y="134215"/>
                  </a:lnTo>
                  <a:lnTo>
                    <a:pt x="296698" y="124628"/>
                  </a:lnTo>
                  <a:lnTo>
                    <a:pt x="340888" y="113777"/>
                  </a:lnTo>
                  <a:lnTo>
                    <a:pt x="382236" y="101978"/>
                  </a:lnTo>
                  <a:lnTo>
                    <a:pt x="421691" y="89547"/>
                  </a:lnTo>
                  <a:lnTo>
                    <a:pt x="460199" y="76799"/>
                  </a:lnTo>
                  <a:lnTo>
                    <a:pt x="498706" y="64052"/>
                  </a:lnTo>
                  <a:lnTo>
                    <a:pt x="538161" y="51621"/>
                  </a:lnTo>
                  <a:lnTo>
                    <a:pt x="579509" y="39822"/>
                  </a:lnTo>
                  <a:lnTo>
                    <a:pt x="623699" y="28971"/>
                  </a:lnTo>
                  <a:lnTo>
                    <a:pt x="671676" y="19384"/>
                  </a:lnTo>
                  <a:lnTo>
                    <a:pt x="724387" y="11377"/>
                  </a:lnTo>
                  <a:lnTo>
                    <a:pt x="782780" y="5267"/>
                  </a:lnTo>
                  <a:lnTo>
                    <a:pt x="847801" y="1369"/>
                  </a:lnTo>
                  <a:lnTo>
                    <a:pt x="920398" y="0"/>
                  </a:lnTo>
                </a:path>
                <a:path w="2150110" h="153669">
                  <a:moveTo>
                    <a:pt x="1352197" y="107"/>
                  </a:moveTo>
                  <a:lnTo>
                    <a:pt x="1422493" y="1138"/>
                  </a:lnTo>
                  <a:lnTo>
                    <a:pt x="1484611" y="4052"/>
                  </a:lnTo>
                  <a:lnTo>
                    <a:pt x="1539718" y="8579"/>
                  </a:lnTo>
                  <a:lnTo>
                    <a:pt x="1588984" y="14451"/>
                  </a:lnTo>
                  <a:lnTo>
                    <a:pt x="1633576" y="21398"/>
                  </a:lnTo>
                  <a:lnTo>
                    <a:pt x="1674663" y="29153"/>
                  </a:lnTo>
                  <a:lnTo>
                    <a:pt x="1713414" y="37445"/>
                  </a:lnTo>
                  <a:lnTo>
                    <a:pt x="1750996" y="46007"/>
                  </a:lnTo>
                  <a:lnTo>
                    <a:pt x="1788588" y="54568"/>
                  </a:lnTo>
                  <a:lnTo>
                    <a:pt x="1827348" y="62861"/>
                  </a:lnTo>
                  <a:lnTo>
                    <a:pt x="1868445" y="70615"/>
                  </a:lnTo>
                  <a:lnTo>
                    <a:pt x="1913049" y="77563"/>
                  </a:lnTo>
                  <a:lnTo>
                    <a:pt x="1962327" y="83435"/>
                  </a:lnTo>
                  <a:lnTo>
                    <a:pt x="2017448" y="87962"/>
                  </a:lnTo>
                  <a:lnTo>
                    <a:pt x="2079581" y="90876"/>
                  </a:lnTo>
                  <a:lnTo>
                    <a:pt x="2149895" y="91907"/>
                  </a:lnTo>
                </a:path>
              </a:pathLst>
            </a:custGeom>
            <a:ln w="952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71898" y="3345043"/>
            <a:ext cx="4162425" cy="1235710"/>
            <a:chOff x="771898" y="3345043"/>
            <a:chExt cx="4162425" cy="1235710"/>
          </a:xfrm>
        </p:grpSpPr>
        <p:sp>
          <p:nvSpPr>
            <p:cNvPr id="3" name="object 3" descr=""/>
            <p:cNvSpPr/>
            <p:nvPr/>
          </p:nvSpPr>
          <p:spPr>
            <a:xfrm>
              <a:off x="781423" y="3354568"/>
              <a:ext cx="4143375" cy="1216660"/>
            </a:xfrm>
            <a:custGeom>
              <a:avLst/>
              <a:gdLst/>
              <a:ahLst/>
              <a:cxnLst/>
              <a:rect l="l" t="t" r="r" b="b"/>
              <a:pathLst>
                <a:path w="4143375" h="1216660">
                  <a:moveTo>
                    <a:pt x="0" y="202749"/>
                  </a:moveTo>
                  <a:lnTo>
                    <a:pt x="5354" y="156261"/>
                  </a:lnTo>
                  <a:lnTo>
                    <a:pt x="20607" y="113585"/>
                  </a:lnTo>
                  <a:lnTo>
                    <a:pt x="44542" y="75940"/>
                  </a:lnTo>
                  <a:lnTo>
                    <a:pt x="75941" y="44542"/>
                  </a:lnTo>
                  <a:lnTo>
                    <a:pt x="113587" y="20607"/>
                  </a:lnTo>
                  <a:lnTo>
                    <a:pt x="156264" y="5354"/>
                  </a:lnTo>
                  <a:lnTo>
                    <a:pt x="202754" y="0"/>
                  </a:lnTo>
                  <a:lnTo>
                    <a:pt x="3940542" y="0"/>
                  </a:lnTo>
                  <a:lnTo>
                    <a:pt x="3980283" y="3933"/>
                  </a:lnTo>
                  <a:lnTo>
                    <a:pt x="4018135" y="15440"/>
                  </a:lnTo>
                  <a:lnTo>
                    <a:pt x="4053034" y="34076"/>
                  </a:lnTo>
                  <a:lnTo>
                    <a:pt x="4083916" y="59399"/>
                  </a:lnTo>
                  <a:lnTo>
                    <a:pt x="4109235" y="90277"/>
                  </a:lnTo>
                  <a:lnTo>
                    <a:pt x="4127863" y="125168"/>
                  </a:lnTo>
                  <a:lnTo>
                    <a:pt x="4139361" y="163012"/>
                  </a:lnTo>
                  <a:lnTo>
                    <a:pt x="4143291" y="202749"/>
                  </a:lnTo>
                  <a:lnTo>
                    <a:pt x="4143291" y="1013747"/>
                  </a:lnTo>
                  <a:lnTo>
                    <a:pt x="4137936" y="1060236"/>
                  </a:lnTo>
                  <a:lnTo>
                    <a:pt x="4122683" y="1102911"/>
                  </a:lnTo>
                  <a:lnTo>
                    <a:pt x="4098749" y="1140557"/>
                  </a:lnTo>
                  <a:lnTo>
                    <a:pt x="4067351" y="1171955"/>
                  </a:lnTo>
                  <a:lnTo>
                    <a:pt x="4029705" y="1195889"/>
                  </a:lnTo>
                  <a:lnTo>
                    <a:pt x="3987030" y="1211142"/>
                  </a:lnTo>
                  <a:lnTo>
                    <a:pt x="3940542" y="1216497"/>
                  </a:lnTo>
                  <a:lnTo>
                    <a:pt x="202754" y="1216497"/>
                  </a:lnTo>
                  <a:lnTo>
                    <a:pt x="156264" y="1211142"/>
                  </a:lnTo>
                  <a:lnTo>
                    <a:pt x="113587" y="1195889"/>
                  </a:lnTo>
                  <a:lnTo>
                    <a:pt x="75941" y="1171955"/>
                  </a:lnTo>
                  <a:lnTo>
                    <a:pt x="44542" y="1140557"/>
                  </a:lnTo>
                  <a:lnTo>
                    <a:pt x="20607" y="1102911"/>
                  </a:lnTo>
                  <a:lnTo>
                    <a:pt x="5354" y="1060236"/>
                  </a:lnTo>
                  <a:lnTo>
                    <a:pt x="0" y="1013747"/>
                  </a:lnTo>
                  <a:lnTo>
                    <a:pt x="0" y="202749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4665" y="3401043"/>
              <a:ext cx="414911" cy="4148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81423" y="4143316"/>
              <a:ext cx="4143375" cy="0"/>
            </a:xfrm>
            <a:custGeom>
              <a:avLst/>
              <a:gdLst/>
              <a:ahLst/>
              <a:cxnLst/>
              <a:rect l="l" t="t" r="r" b="b"/>
              <a:pathLst>
                <a:path w="4143375" h="0">
                  <a:moveTo>
                    <a:pt x="0" y="0"/>
                  </a:moveTo>
                  <a:lnTo>
                    <a:pt x="4143291" y="0"/>
                  </a:lnTo>
                </a:path>
              </a:pathLst>
            </a:custGeom>
            <a:ln w="1904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5116" y="3409243"/>
              <a:ext cx="414899" cy="414899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83375" y="4580640"/>
            <a:ext cx="6734809" cy="49593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600" spc="-25" b="1">
                <a:latin typeface="Arial"/>
                <a:cs typeface="Arial"/>
              </a:rPr>
              <a:t>10</a:t>
            </a:r>
            <a:endParaRPr sz="600">
              <a:latin typeface="Arial"/>
              <a:cs typeface="Arial"/>
            </a:endParaRPr>
          </a:p>
          <a:p>
            <a:pPr marL="289560" indent="-82550">
              <a:lnSpc>
                <a:spcPct val="100000"/>
              </a:lnSpc>
              <a:spcBef>
                <a:spcPts val="305"/>
              </a:spcBef>
              <a:buClr>
                <a:srgbClr val="4D4D4F"/>
              </a:buClr>
              <a:buAutoNum type="arabicPlain"/>
              <a:tabLst>
                <a:tab pos="289560" algn="l"/>
              </a:tabLst>
            </a:pPr>
            <a:r>
              <a:rPr dirty="0" u="sng" sz="50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3"/>
              </a:rPr>
              <a:t>https://access.redhat.com/documentation/en-us/red_hat_openshift_data_foundation/4.11/html-single/configuring_openshift_data_foundation_disaster_recovery_for_openshift_workloads/index#metro-dr-</a:t>
            </a:r>
            <a:r>
              <a:rPr dirty="0" u="sng" sz="500" spc="-1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3"/>
              </a:rPr>
              <a:t>solution</a:t>
            </a:r>
            <a:endParaRPr sz="500">
              <a:latin typeface="Arial"/>
              <a:cs typeface="Arial"/>
            </a:endParaRPr>
          </a:p>
          <a:p>
            <a:pPr marL="210185" marR="5080" indent="97790">
              <a:lnSpc>
                <a:spcPct val="142000"/>
              </a:lnSpc>
              <a:buAutoNum type="arabicPlain"/>
              <a:tabLst>
                <a:tab pos="307975" algn="l"/>
              </a:tabLst>
            </a:pPr>
            <a:r>
              <a:rPr dirty="0" sz="500" spc="-25">
                <a:solidFill>
                  <a:srgbClr val="4D4D4F"/>
                </a:solidFill>
                <a:latin typeface="Arial"/>
                <a:cs typeface="Arial"/>
              </a:rPr>
              <a:t>RHCS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스토리지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간의</a:t>
            </a:r>
            <a:r>
              <a:rPr dirty="0" sz="500" spc="-30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RTT(Round</a:t>
            </a:r>
            <a:r>
              <a:rPr dirty="0" sz="500" spc="-5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Trip Time)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은</a:t>
            </a:r>
            <a:r>
              <a:rPr dirty="0" sz="500" spc="-30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40">
                <a:solidFill>
                  <a:srgbClr val="4D4D4F"/>
                </a:solidFill>
                <a:latin typeface="Arial"/>
                <a:cs typeface="Arial"/>
              </a:rPr>
              <a:t>10</a:t>
            </a:r>
            <a:r>
              <a:rPr dirty="0" sz="500" spc="-5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ms</a:t>
            </a:r>
            <a:r>
              <a:rPr dirty="0" sz="500" spc="-10">
                <a:solidFill>
                  <a:srgbClr val="4D4D4F"/>
                </a:solidFill>
                <a:latin typeface="Batang"/>
                <a:cs typeface="Batang"/>
              </a:rPr>
              <a:t>이며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,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쿼럼을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유지하기</a:t>
            </a:r>
            <a:r>
              <a:rPr dirty="0" sz="500" spc="-30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위해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DataCenter </a:t>
            </a:r>
            <a:r>
              <a:rPr dirty="0" sz="500" spc="-20">
                <a:solidFill>
                  <a:srgbClr val="4D4D4F"/>
                </a:solidFill>
                <a:latin typeface="Arial"/>
                <a:cs typeface="Arial"/>
              </a:rPr>
              <a:t>A</a:t>
            </a:r>
            <a:r>
              <a:rPr dirty="0" sz="500" spc="-20">
                <a:solidFill>
                  <a:srgbClr val="4D4D4F"/>
                </a:solidFill>
                <a:latin typeface="Batang"/>
                <a:cs typeface="Batang"/>
              </a:rPr>
              <a:t>와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B</a:t>
            </a:r>
            <a:r>
              <a:rPr dirty="0" sz="500" spc="-10">
                <a:solidFill>
                  <a:srgbClr val="4D4D4F"/>
                </a:solidFill>
                <a:latin typeface="Batang"/>
                <a:cs typeface="Batang"/>
              </a:rPr>
              <a:t>와는</a:t>
            </a:r>
            <a:r>
              <a:rPr dirty="0" sz="500" spc="-30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별도의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사이트에</a:t>
            </a:r>
            <a:r>
              <a:rPr dirty="0" sz="500" spc="-30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Arbiter</a:t>
            </a:r>
            <a:r>
              <a:rPr dirty="0" sz="500" spc="-5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Node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를</a:t>
            </a:r>
            <a:r>
              <a:rPr dirty="0" sz="500" spc="-30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Batang"/>
                <a:cs typeface="Batang"/>
              </a:rPr>
              <a:t>배치합니다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.</a:t>
            </a:r>
            <a:r>
              <a:rPr dirty="0" sz="500" spc="-5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이</a:t>
            </a:r>
            <a:r>
              <a:rPr dirty="0" sz="500" spc="-30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Arbiter</a:t>
            </a:r>
            <a:r>
              <a:rPr dirty="0" sz="500" spc="-5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4D4D4F"/>
                </a:solidFill>
                <a:latin typeface="Arial"/>
                <a:cs typeface="Arial"/>
              </a:rPr>
              <a:t>Node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로의</a:t>
            </a:r>
            <a:r>
              <a:rPr dirty="0" sz="500" spc="-30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20">
                <a:solidFill>
                  <a:srgbClr val="4D4D4F"/>
                </a:solidFill>
                <a:latin typeface="Arial"/>
                <a:cs typeface="Arial"/>
              </a:rPr>
              <a:t>RTT</a:t>
            </a:r>
            <a:r>
              <a:rPr dirty="0" sz="500" spc="-20">
                <a:solidFill>
                  <a:srgbClr val="4D4D4F"/>
                </a:solidFill>
                <a:latin typeface="Batang"/>
                <a:cs typeface="Batang"/>
              </a:rPr>
              <a:t>는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10">
                <a:solidFill>
                  <a:srgbClr val="4D4D4F"/>
                </a:solidFill>
                <a:latin typeface="Arial"/>
                <a:cs typeface="Arial"/>
              </a:rPr>
              <a:t>100ms</a:t>
            </a:r>
            <a:r>
              <a:rPr dirty="0" sz="500" spc="-10">
                <a:solidFill>
                  <a:srgbClr val="4D4D4F"/>
                </a:solidFill>
                <a:latin typeface="Batang"/>
                <a:cs typeface="Batang"/>
              </a:rPr>
              <a:t>를</a:t>
            </a:r>
            <a:r>
              <a:rPr dirty="0" sz="500" spc="-30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>
                <a:solidFill>
                  <a:srgbClr val="4D4D4F"/>
                </a:solidFill>
                <a:latin typeface="Batang"/>
                <a:cs typeface="Batang"/>
              </a:rPr>
              <a:t>전제로</a:t>
            </a:r>
            <a:r>
              <a:rPr dirty="0" sz="500" spc="-35">
                <a:solidFill>
                  <a:srgbClr val="4D4D4F"/>
                </a:solidFill>
                <a:latin typeface="Batang"/>
                <a:cs typeface="Batang"/>
              </a:rPr>
              <a:t> </a:t>
            </a:r>
            <a:r>
              <a:rPr dirty="0" sz="500" spc="-20">
                <a:solidFill>
                  <a:srgbClr val="4D4D4F"/>
                </a:solidFill>
                <a:latin typeface="Batang"/>
                <a:cs typeface="Batang"/>
              </a:rPr>
              <a:t>합니다</a:t>
            </a:r>
            <a:r>
              <a:rPr dirty="0" sz="500" spc="-20">
                <a:solidFill>
                  <a:srgbClr val="4D4D4F"/>
                </a:solidFill>
                <a:latin typeface="Arial"/>
                <a:cs typeface="Arial"/>
              </a:rPr>
              <a:t>.</a:t>
            </a:r>
            <a:r>
              <a:rPr dirty="0" sz="500" spc="500">
                <a:solidFill>
                  <a:srgbClr val="4D4D4F"/>
                </a:solidFill>
                <a:latin typeface="Arial"/>
                <a:cs typeface="Arial"/>
              </a:rPr>
              <a:t> </a:t>
            </a:r>
            <a:r>
              <a:rPr dirty="0" u="sng" sz="50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4"/>
              </a:rPr>
              <a:t>https://access.redhat.com/documentation/en-us/red_hat_openshift_data_foundation/4.11/html-</a:t>
            </a:r>
            <a:r>
              <a:rPr dirty="0" u="sng" sz="500" spc="-1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4"/>
              </a:rPr>
              <a:t>single/configuring_openshift_data_foundation_disaster_recovery_for_openshift_workloads/index#network_configuration_requirement</a:t>
            </a:r>
            <a:r>
              <a:rPr dirty="0" sz="500" spc="-10">
                <a:solidFill>
                  <a:srgbClr val="6B9E24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Metro</a:t>
            </a:r>
            <a:r>
              <a:rPr dirty="0" spc="45"/>
              <a:t> </a:t>
            </a:r>
            <a:r>
              <a:rPr dirty="0" spc="-80"/>
              <a:t>DR</a:t>
            </a:r>
            <a:r>
              <a:rPr dirty="0" spc="45"/>
              <a:t> </a:t>
            </a:r>
            <a:r>
              <a:rPr dirty="0"/>
              <a:t>(ACM/ODF/Ceph</a:t>
            </a:r>
            <a:r>
              <a:rPr dirty="0" spc="50"/>
              <a:t> </a:t>
            </a:r>
            <a:r>
              <a:rPr dirty="0" spc="-10"/>
              <a:t>Storage)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5486917" y="1010994"/>
            <a:ext cx="3137535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5435">
              <a:lnSpc>
                <a:spcPct val="114999"/>
              </a:lnSpc>
              <a:spcBef>
                <a:spcPts val="100"/>
              </a:spcBef>
              <a:buChar char="●"/>
              <a:tabLst>
                <a:tab pos="317500" algn="l"/>
              </a:tabLst>
            </a:pPr>
            <a:r>
              <a:rPr dirty="0" sz="1000">
                <a:latin typeface="Arial"/>
                <a:cs typeface="Arial"/>
              </a:rPr>
              <a:t>DataCenter</a:t>
            </a:r>
            <a:r>
              <a:rPr dirty="0" sz="1000">
                <a:latin typeface="Batang"/>
                <a:cs typeface="Batang"/>
              </a:rPr>
              <a:t>나</a:t>
            </a:r>
            <a:r>
              <a:rPr dirty="0" sz="1000" spc="-130">
                <a:latin typeface="Batang"/>
                <a:cs typeface="Batang"/>
              </a:rPr>
              <a:t> </a:t>
            </a:r>
            <a:r>
              <a:rPr dirty="0" sz="1000">
                <a:latin typeface="Arial"/>
                <a:cs typeface="Arial"/>
              </a:rPr>
              <a:t>AZ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Batang"/>
                <a:cs typeface="Batang"/>
              </a:rPr>
              <a:t>등</a:t>
            </a:r>
            <a:r>
              <a:rPr dirty="0" sz="1000" spc="-130">
                <a:latin typeface="Batang"/>
                <a:cs typeface="Batang"/>
              </a:rPr>
              <a:t> </a:t>
            </a:r>
            <a:r>
              <a:rPr dirty="0" sz="1000">
                <a:latin typeface="Arial"/>
                <a:cs typeface="Arial"/>
              </a:rPr>
              <a:t>3</a:t>
            </a:r>
            <a:r>
              <a:rPr dirty="0" sz="1000">
                <a:latin typeface="Batang"/>
                <a:cs typeface="Batang"/>
              </a:rPr>
              <a:t>개</a:t>
            </a:r>
            <a:r>
              <a:rPr dirty="0" sz="1000" spc="-12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사이트</a:t>
            </a:r>
            <a:r>
              <a:rPr dirty="0" sz="1000" spc="-18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구성을</a:t>
            </a:r>
            <a:r>
              <a:rPr dirty="0" sz="1000" spc="-185">
                <a:latin typeface="Batang"/>
                <a:cs typeface="Batang"/>
              </a:rPr>
              <a:t> </a:t>
            </a:r>
            <a:r>
              <a:rPr dirty="0" sz="1000" spc="-25">
                <a:latin typeface="Batang"/>
                <a:cs typeface="Batang"/>
              </a:rPr>
              <a:t>전제로 </a:t>
            </a:r>
            <a:r>
              <a:rPr dirty="0" sz="1000" spc="-10">
                <a:latin typeface="Batang"/>
                <a:cs typeface="Batang"/>
              </a:rPr>
              <a:t>클러스터를배치하고</a:t>
            </a:r>
            <a:r>
              <a:rPr dirty="0" sz="1000" spc="-10">
                <a:latin typeface="Arial"/>
                <a:cs typeface="Arial"/>
              </a:rPr>
              <a:t>,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Batang"/>
                <a:cs typeface="Batang"/>
              </a:rPr>
              <a:t>사이트</a:t>
            </a:r>
            <a:r>
              <a:rPr dirty="0" sz="1000" spc="-18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장애로</a:t>
            </a:r>
            <a:r>
              <a:rPr dirty="0" sz="1000" spc="-18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인한</a:t>
            </a:r>
            <a:r>
              <a:rPr dirty="0" sz="1000" spc="-155">
                <a:latin typeface="Batang"/>
                <a:cs typeface="Batang"/>
              </a:rPr>
              <a:t> </a:t>
            </a:r>
            <a:r>
              <a:rPr dirty="0" sz="1000" spc="-20">
                <a:latin typeface="Batang"/>
                <a:cs typeface="Batang"/>
              </a:rPr>
              <a:t>클러스터 </a:t>
            </a:r>
            <a:r>
              <a:rPr dirty="0" sz="1000">
                <a:latin typeface="Batang"/>
                <a:cs typeface="Batang"/>
              </a:rPr>
              <a:t>장애시</a:t>
            </a:r>
            <a:r>
              <a:rPr dirty="0" sz="1000" spc="-16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애플리케이션을자동으로</a:t>
            </a:r>
            <a:r>
              <a:rPr dirty="0" sz="1000" spc="-195">
                <a:latin typeface="Batang"/>
                <a:cs typeface="Batang"/>
              </a:rPr>
              <a:t> </a:t>
            </a:r>
            <a:r>
              <a:rPr dirty="0" sz="1000" spc="-25">
                <a:latin typeface="Arial"/>
                <a:cs typeface="Arial"/>
              </a:rPr>
              <a:t>Failover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40">
                <a:latin typeface="Batang"/>
                <a:cs typeface="Batang"/>
              </a:rPr>
              <a:t>합니다</a:t>
            </a:r>
            <a:r>
              <a:rPr dirty="0" sz="1000" spc="-40">
                <a:latin typeface="Arial"/>
                <a:cs typeface="Arial"/>
              </a:rPr>
              <a:t>.[1]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86917" y="1712032"/>
            <a:ext cx="310832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5435">
              <a:lnSpc>
                <a:spcPct val="114999"/>
              </a:lnSpc>
              <a:spcBef>
                <a:spcPts val="100"/>
              </a:spcBef>
              <a:buChar char="●"/>
              <a:tabLst>
                <a:tab pos="317500" algn="l"/>
              </a:tabLst>
            </a:pPr>
            <a:r>
              <a:rPr dirty="0" sz="1000" spc="-30">
                <a:latin typeface="Arial"/>
                <a:cs typeface="Arial"/>
              </a:rPr>
              <a:t>RHACM</a:t>
            </a:r>
            <a:r>
              <a:rPr dirty="0" sz="1000" spc="-30">
                <a:latin typeface="Batang"/>
                <a:cs typeface="Batang"/>
              </a:rPr>
              <a:t>은</a:t>
            </a:r>
            <a:r>
              <a:rPr dirty="0" sz="1000" spc="-120">
                <a:latin typeface="Batang"/>
                <a:cs typeface="Batang"/>
              </a:rPr>
              <a:t> </a:t>
            </a:r>
            <a:r>
              <a:rPr dirty="0" sz="1000" spc="-10">
                <a:latin typeface="Arial"/>
                <a:cs typeface="Arial"/>
              </a:rPr>
              <a:t>Pod</a:t>
            </a:r>
            <a:r>
              <a:rPr dirty="0" sz="1000" spc="-10">
                <a:latin typeface="Batang"/>
                <a:cs typeface="Batang"/>
              </a:rPr>
              <a:t>등</a:t>
            </a:r>
            <a:r>
              <a:rPr dirty="0" sz="1000" spc="-120">
                <a:latin typeface="Batang"/>
                <a:cs typeface="Batang"/>
              </a:rPr>
              <a:t> </a:t>
            </a:r>
            <a:r>
              <a:rPr dirty="0" sz="1000" spc="-20">
                <a:latin typeface="Arial"/>
                <a:cs typeface="Arial"/>
              </a:rPr>
              <a:t>API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Batang"/>
                <a:cs typeface="Batang"/>
              </a:rPr>
              <a:t>객체의</a:t>
            </a:r>
            <a:r>
              <a:rPr dirty="0" sz="1000" spc="-180">
                <a:latin typeface="Batang"/>
                <a:cs typeface="Batang"/>
              </a:rPr>
              <a:t> </a:t>
            </a:r>
            <a:r>
              <a:rPr dirty="0" sz="1000" spc="-10">
                <a:latin typeface="Batang"/>
                <a:cs typeface="Batang"/>
              </a:rPr>
              <a:t>페일오버를관리하고</a:t>
            </a:r>
            <a:r>
              <a:rPr dirty="0" sz="1000" spc="-10">
                <a:latin typeface="Arial"/>
                <a:cs typeface="Arial"/>
              </a:rPr>
              <a:t>, </a:t>
            </a:r>
            <a:r>
              <a:rPr dirty="0" sz="1000" spc="-20">
                <a:latin typeface="Arial"/>
                <a:cs typeface="Arial"/>
              </a:rPr>
              <a:t>RHODF</a:t>
            </a:r>
            <a:r>
              <a:rPr dirty="0" sz="1000" spc="-20">
                <a:latin typeface="Batang"/>
                <a:cs typeface="Batang"/>
              </a:rPr>
              <a:t>와</a:t>
            </a:r>
            <a:r>
              <a:rPr dirty="0" sz="1000" spc="-135">
                <a:latin typeface="Batang"/>
                <a:cs typeface="Batang"/>
              </a:rPr>
              <a:t> </a:t>
            </a:r>
            <a:r>
              <a:rPr dirty="0" sz="1000" spc="-35">
                <a:latin typeface="Arial"/>
                <a:cs typeface="Arial"/>
              </a:rPr>
              <a:t>RHCS</a:t>
            </a:r>
            <a:r>
              <a:rPr dirty="0" sz="1000" spc="-35">
                <a:latin typeface="Batang"/>
                <a:cs typeface="Batang"/>
              </a:rPr>
              <a:t>는</a:t>
            </a:r>
            <a:r>
              <a:rPr dirty="0" sz="1000" spc="-13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데이터</a:t>
            </a:r>
            <a:r>
              <a:rPr dirty="0" sz="1000" spc="-18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동기화를</a:t>
            </a:r>
            <a:r>
              <a:rPr dirty="0" sz="1000" spc="-215">
                <a:latin typeface="Batang"/>
                <a:cs typeface="Batang"/>
              </a:rPr>
              <a:t> </a:t>
            </a:r>
            <a:r>
              <a:rPr dirty="0" sz="1000" spc="-10">
                <a:latin typeface="Batang"/>
                <a:cs typeface="Batang"/>
              </a:rPr>
              <a:t>제공합니다</a:t>
            </a:r>
            <a:r>
              <a:rPr dirty="0" sz="1000" spc="-1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486917" y="2237811"/>
            <a:ext cx="3265804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5435">
              <a:lnSpc>
                <a:spcPct val="114999"/>
              </a:lnSpc>
              <a:spcBef>
                <a:spcPts val="100"/>
              </a:spcBef>
              <a:buChar char="●"/>
              <a:tabLst>
                <a:tab pos="317500" algn="l"/>
              </a:tabLst>
            </a:pPr>
            <a:r>
              <a:rPr dirty="0" sz="1000">
                <a:latin typeface="Arial"/>
                <a:cs typeface="Arial"/>
              </a:rPr>
              <a:t>ODF</a:t>
            </a:r>
            <a:r>
              <a:rPr dirty="0" sz="1000">
                <a:latin typeface="Batang"/>
                <a:cs typeface="Batang"/>
              </a:rPr>
              <a:t>는</a:t>
            </a:r>
            <a:r>
              <a:rPr dirty="0" sz="1000" spc="-120">
                <a:latin typeface="Batang"/>
                <a:cs typeface="Batang"/>
              </a:rPr>
              <a:t> </a:t>
            </a:r>
            <a:r>
              <a:rPr dirty="0" sz="1000" spc="-10">
                <a:latin typeface="Arial"/>
                <a:cs typeface="Arial"/>
              </a:rPr>
              <a:t>External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Mode</a:t>
            </a:r>
            <a:r>
              <a:rPr dirty="0" sz="1000">
                <a:latin typeface="Batang"/>
                <a:cs typeface="Batang"/>
              </a:rPr>
              <a:t>를</a:t>
            </a:r>
            <a:r>
              <a:rPr dirty="0" sz="1000" spc="-114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전제로</a:t>
            </a:r>
            <a:r>
              <a:rPr dirty="0" sz="1000" spc="-175">
                <a:latin typeface="Batang"/>
                <a:cs typeface="Batang"/>
              </a:rPr>
              <a:t> </a:t>
            </a:r>
            <a:r>
              <a:rPr dirty="0" sz="1000" spc="-30">
                <a:latin typeface="Batang"/>
                <a:cs typeface="Batang"/>
              </a:rPr>
              <a:t>하며</a:t>
            </a:r>
            <a:r>
              <a:rPr dirty="0" sz="1000" spc="-30">
                <a:latin typeface="Arial"/>
                <a:cs typeface="Arial"/>
              </a:rPr>
              <a:t>,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Batang"/>
                <a:cs typeface="Batang"/>
              </a:rPr>
              <a:t>별도</a:t>
            </a:r>
            <a:r>
              <a:rPr dirty="0" sz="1000" spc="-145">
                <a:latin typeface="Batang"/>
                <a:cs typeface="Batang"/>
              </a:rPr>
              <a:t> </a:t>
            </a:r>
            <a:r>
              <a:rPr dirty="0" sz="1000" spc="-20">
                <a:latin typeface="Batang"/>
                <a:cs typeface="Batang"/>
              </a:rPr>
              <a:t>사이트에 </a:t>
            </a:r>
            <a:r>
              <a:rPr dirty="0" sz="1000">
                <a:latin typeface="Arial"/>
                <a:cs typeface="Arial"/>
              </a:rPr>
              <a:t>Arbiter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Node</a:t>
            </a:r>
            <a:r>
              <a:rPr dirty="0" sz="1000">
                <a:latin typeface="Batang"/>
                <a:cs typeface="Batang"/>
              </a:rPr>
              <a:t>를</a:t>
            </a:r>
            <a:r>
              <a:rPr dirty="0" sz="1000" spc="-9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배치하여</a:t>
            </a:r>
            <a:r>
              <a:rPr dirty="0" sz="1000" spc="-185">
                <a:latin typeface="Batang"/>
                <a:cs typeface="Batang"/>
              </a:rPr>
              <a:t> </a:t>
            </a:r>
            <a:r>
              <a:rPr dirty="0" sz="1000">
                <a:latin typeface="Arial"/>
                <a:cs typeface="Arial"/>
              </a:rPr>
              <a:t>3</a:t>
            </a:r>
            <a:r>
              <a:rPr dirty="0" sz="1000">
                <a:latin typeface="Batang"/>
                <a:cs typeface="Batang"/>
              </a:rPr>
              <a:t>개</a:t>
            </a:r>
            <a:r>
              <a:rPr dirty="0" sz="1000" spc="-9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사이트로</a:t>
            </a:r>
            <a:r>
              <a:rPr dirty="0" sz="1000" spc="-185">
                <a:latin typeface="Batang"/>
                <a:cs typeface="Batang"/>
              </a:rPr>
              <a:t> </a:t>
            </a:r>
            <a:r>
              <a:rPr dirty="0" sz="1000" spc="-50">
                <a:latin typeface="Arial"/>
                <a:cs typeface="Arial"/>
              </a:rPr>
              <a:t>RHCS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Stretch Cluster</a:t>
            </a:r>
            <a:r>
              <a:rPr dirty="0" sz="1000" spc="-10">
                <a:latin typeface="Batang"/>
                <a:cs typeface="Batang"/>
              </a:rPr>
              <a:t>를</a:t>
            </a:r>
            <a:r>
              <a:rPr dirty="0" sz="1000" spc="-105">
                <a:latin typeface="Batang"/>
                <a:cs typeface="Batang"/>
              </a:rPr>
              <a:t> </a:t>
            </a:r>
            <a:r>
              <a:rPr dirty="0" sz="1000" spc="-30">
                <a:latin typeface="Batang"/>
                <a:cs typeface="Batang"/>
              </a:rPr>
              <a:t>구성합니다</a:t>
            </a:r>
            <a:r>
              <a:rPr dirty="0" sz="1000" spc="-30">
                <a:latin typeface="Arial"/>
                <a:cs typeface="Arial"/>
              </a:rPr>
              <a:t>.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35">
                <a:latin typeface="Arial"/>
                <a:cs typeface="Arial"/>
              </a:rPr>
              <a:t>[2]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86917" y="2938850"/>
            <a:ext cx="314706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5435">
              <a:lnSpc>
                <a:spcPct val="114999"/>
              </a:lnSpc>
              <a:spcBef>
                <a:spcPts val="100"/>
              </a:spcBef>
              <a:buChar char="●"/>
              <a:tabLst>
                <a:tab pos="317500" algn="l"/>
              </a:tabLst>
            </a:pPr>
            <a:r>
              <a:rPr dirty="0" sz="1000" spc="-20">
                <a:latin typeface="Arial"/>
                <a:cs typeface="Arial"/>
              </a:rPr>
              <a:t>Regional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40">
                <a:latin typeface="Arial"/>
                <a:cs typeface="Arial"/>
              </a:rPr>
              <a:t>DR</a:t>
            </a:r>
            <a:r>
              <a:rPr dirty="0" sz="1000" spc="-40">
                <a:latin typeface="Batang"/>
                <a:cs typeface="Batang"/>
              </a:rPr>
              <a:t>과</a:t>
            </a:r>
            <a:r>
              <a:rPr dirty="0" sz="1000" spc="-114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마찬가지로장애</a:t>
            </a:r>
            <a:r>
              <a:rPr dirty="0" sz="1000" spc="-14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시</a:t>
            </a:r>
            <a:r>
              <a:rPr dirty="0" sz="1000" spc="-11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전환은</a:t>
            </a:r>
            <a:r>
              <a:rPr dirty="0" sz="1000" spc="-170">
                <a:latin typeface="Batang"/>
                <a:cs typeface="Batang"/>
              </a:rPr>
              <a:t> </a:t>
            </a:r>
            <a:r>
              <a:rPr dirty="0" sz="1000" spc="-20">
                <a:latin typeface="Batang"/>
                <a:cs typeface="Batang"/>
              </a:rPr>
              <a:t>클러스터 </a:t>
            </a:r>
            <a:r>
              <a:rPr dirty="0" sz="1000">
                <a:latin typeface="Batang"/>
                <a:cs typeface="Batang"/>
              </a:rPr>
              <a:t>단위가</a:t>
            </a:r>
            <a:r>
              <a:rPr dirty="0" sz="1000" spc="-185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아닌</a:t>
            </a:r>
            <a:r>
              <a:rPr dirty="0" sz="1000" spc="-150">
                <a:latin typeface="Batang"/>
                <a:cs typeface="Batang"/>
              </a:rPr>
              <a:t> </a:t>
            </a:r>
            <a:r>
              <a:rPr dirty="0" sz="1000" spc="-10">
                <a:latin typeface="Arial"/>
                <a:cs typeface="Arial"/>
              </a:rPr>
              <a:t>Namespace</a:t>
            </a:r>
            <a:r>
              <a:rPr dirty="0" sz="1000" spc="-10">
                <a:latin typeface="Batang"/>
                <a:cs typeface="Batang"/>
              </a:rPr>
              <a:t>별로</a:t>
            </a:r>
            <a:r>
              <a:rPr dirty="0" sz="1000" spc="-155">
                <a:latin typeface="Batang"/>
                <a:cs typeface="Batang"/>
              </a:rPr>
              <a:t> </a:t>
            </a:r>
            <a:r>
              <a:rPr dirty="0" sz="1000" spc="-10">
                <a:latin typeface="Batang"/>
                <a:cs typeface="Batang"/>
              </a:rPr>
              <a:t>지정합니다</a:t>
            </a:r>
            <a:r>
              <a:rPr dirty="0" sz="1000" spc="-1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486917" y="3464629"/>
            <a:ext cx="263398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marR="5080" indent="-305435">
              <a:lnSpc>
                <a:spcPct val="114999"/>
              </a:lnSpc>
              <a:spcBef>
                <a:spcPts val="100"/>
              </a:spcBef>
              <a:buChar char="●"/>
              <a:tabLst>
                <a:tab pos="317500" algn="l"/>
              </a:tabLst>
            </a:pPr>
            <a:r>
              <a:rPr dirty="0" sz="1000">
                <a:latin typeface="Arial"/>
                <a:cs typeface="Arial"/>
              </a:rPr>
              <a:t>GTM/GSLB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Batang"/>
                <a:cs typeface="Batang"/>
              </a:rPr>
              <a:t>를</a:t>
            </a:r>
            <a:r>
              <a:rPr dirty="0" sz="1000" spc="-12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통한</a:t>
            </a:r>
            <a:r>
              <a:rPr dirty="0" sz="1000" spc="-15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사이트</a:t>
            </a:r>
            <a:r>
              <a:rPr dirty="0" sz="1000" spc="-180">
                <a:latin typeface="Batang"/>
                <a:cs typeface="Batang"/>
              </a:rPr>
              <a:t> </a:t>
            </a:r>
            <a:r>
              <a:rPr dirty="0" sz="1000">
                <a:latin typeface="Batang"/>
                <a:cs typeface="Batang"/>
              </a:rPr>
              <a:t>트래픽</a:t>
            </a:r>
            <a:r>
              <a:rPr dirty="0" sz="1000" spc="-175">
                <a:latin typeface="Batang"/>
                <a:cs typeface="Batang"/>
              </a:rPr>
              <a:t> </a:t>
            </a:r>
            <a:r>
              <a:rPr dirty="0" sz="1000" spc="-25">
                <a:latin typeface="Batang"/>
                <a:cs typeface="Batang"/>
              </a:rPr>
              <a:t>전환은 </a:t>
            </a:r>
            <a:r>
              <a:rPr dirty="0" sz="1000" spc="-25">
                <a:latin typeface="Arial"/>
                <a:cs typeface="Arial"/>
              </a:rPr>
              <a:t>RHACM</a:t>
            </a:r>
            <a:r>
              <a:rPr dirty="0" sz="1000" spc="-25">
                <a:latin typeface="Batang"/>
                <a:cs typeface="Batang"/>
              </a:rPr>
              <a:t>에서</a:t>
            </a:r>
            <a:r>
              <a:rPr dirty="0" sz="1000" spc="-120">
                <a:latin typeface="Batang"/>
                <a:cs typeface="Batang"/>
              </a:rPr>
              <a:t> </a:t>
            </a:r>
            <a:r>
              <a:rPr dirty="0" sz="1000" spc="-10">
                <a:latin typeface="Batang"/>
                <a:cs typeface="Batang"/>
              </a:rPr>
              <a:t>제공하지않습니다</a:t>
            </a:r>
            <a:r>
              <a:rPr dirty="0" sz="1000" spc="-1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72117" y="3780847"/>
            <a:ext cx="1092197" cy="30474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996528" y="1407048"/>
            <a:ext cx="9385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Data</a:t>
            </a:r>
            <a:r>
              <a:rPr dirty="0" sz="1100" spc="-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Center</a:t>
            </a:r>
            <a:r>
              <a:rPr dirty="0" sz="1100" spc="-70" b="1">
                <a:latin typeface="Arial"/>
                <a:cs typeface="Arial"/>
              </a:rPr>
              <a:t> </a:t>
            </a:r>
            <a:r>
              <a:rPr dirty="0" sz="1100" spc="-50" b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769488" y="1407048"/>
            <a:ext cx="9340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Data</a:t>
            </a:r>
            <a:r>
              <a:rPr dirty="0" sz="1100" spc="-7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Center</a:t>
            </a:r>
            <a:r>
              <a:rPr dirty="0" sz="1100" spc="-70" b="1">
                <a:latin typeface="Arial"/>
                <a:cs typeface="Arial"/>
              </a:rPr>
              <a:t> </a:t>
            </a:r>
            <a:r>
              <a:rPr dirty="0" sz="1100" spc="-50" b="1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969208" y="774073"/>
            <a:ext cx="1643380" cy="1054100"/>
            <a:chOff x="1969208" y="774073"/>
            <a:chExt cx="1643380" cy="1054100"/>
          </a:xfrm>
        </p:grpSpPr>
        <p:sp>
          <p:nvSpPr>
            <p:cNvPr id="18" name="object 18" descr=""/>
            <p:cNvSpPr/>
            <p:nvPr/>
          </p:nvSpPr>
          <p:spPr>
            <a:xfrm>
              <a:off x="1973970" y="1410632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412750" h="412750">
                  <a:moveTo>
                    <a:pt x="89" y="412326"/>
                  </a:moveTo>
                  <a:lnTo>
                    <a:pt x="0" y="198127"/>
                  </a:lnTo>
                  <a:lnTo>
                    <a:pt x="53572" y="251654"/>
                  </a:lnTo>
                  <a:lnTo>
                    <a:pt x="305016" y="0"/>
                  </a:lnTo>
                  <a:lnTo>
                    <a:pt x="412161" y="107054"/>
                  </a:lnTo>
                  <a:lnTo>
                    <a:pt x="160717" y="358709"/>
                  </a:lnTo>
                  <a:lnTo>
                    <a:pt x="214289" y="412236"/>
                  </a:lnTo>
                  <a:lnTo>
                    <a:pt x="89" y="41232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973970" y="1410632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412750" h="412750">
                  <a:moveTo>
                    <a:pt x="412161" y="107054"/>
                  </a:moveTo>
                  <a:lnTo>
                    <a:pt x="160717" y="358709"/>
                  </a:lnTo>
                  <a:lnTo>
                    <a:pt x="214289" y="412236"/>
                  </a:lnTo>
                  <a:lnTo>
                    <a:pt x="89" y="412326"/>
                  </a:lnTo>
                  <a:lnTo>
                    <a:pt x="0" y="198127"/>
                  </a:lnTo>
                  <a:lnTo>
                    <a:pt x="53572" y="251654"/>
                  </a:lnTo>
                  <a:lnTo>
                    <a:pt x="305016" y="0"/>
                  </a:lnTo>
                  <a:lnTo>
                    <a:pt x="412161" y="1070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164068" y="1371689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5" h="438785">
                  <a:moveTo>
                    <a:pt x="107074" y="0"/>
                  </a:moveTo>
                  <a:lnTo>
                    <a:pt x="384824" y="277541"/>
                  </a:lnTo>
                  <a:lnTo>
                    <a:pt x="438349" y="223972"/>
                  </a:lnTo>
                  <a:lnTo>
                    <a:pt x="438449" y="438171"/>
                  </a:lnTo>
                  <a:lnTo>
                    <a:pt x="224249" y="438254"/>
                  </a:lnTo>
                  <a:lnTo>
                    <a:pt x="277774" y="384684"/>
                  </a:lnTo>
                  <a:lnTo>
                    <a:pt x="0" y="107142"/>
                  </a:lnTo>
                  <a:lnTo>
                    <a:pt x="107074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6787" y="774073"/>
              <a:ext cx="647981" cy="649781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2416451" y="1235589"/>
            <a:ext cx="7645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GTM/GSLB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781423" y="1819066"/>
            <a:ext cx="1285875" cy="1472565"/>
          </a:xfrm>
          <a:custGeom>
            <a:avLst/>
            <a:gdLst/>
            <a:ahLst/>
            <a:cxnLst/>
            <a:rect l="l" t="t" r="r" b="b"/>
            <a:pathLst>
              <a:path w="1285875" h="1472564">
                <a:moveTo>
                  <a:pt x="0" y="214314"/>
                </a:moveTo>
                <a:lnTo>
                  <a:pt x="5660" y="165174"/>
                </a:lnTo>
                <a:lnTo>
                  <a:pt x="21783" y="120064"/>
                </a:lnTo>
                <a:lnTo>
                  <a:pt x="47082" y="80271"/>
                </a:lnTo>
                <a:lnTo>
                  <a:pt x="80272" y="47082"/>
                </a:lnTo>
                <a:lnTo>
                  <a:pt x="120065" y="21783"/>
                </a:lnTo>
                <a:lnTo>
                  <a:pt x="165175" y="5660"/>
                </a:lnTo>
                <a:lnTo>
                  <a:pt x="214317" y="0"/>
                </a:lnTo>
                <a:lnTo>
                  <a:pt x="1071555" y="0"/>
                </a:lnTo>
                <a:lnTo>
                  <a:pt x="1113561" y="4155"/>
                </a:lnTo>
                <a:lnTo>
                  <a:pt x="1153570" y="16312"/>
                </a:lnTo>
                <a:lnTo>
                  <a:pt x="1190458" y="36005"/>
                </a:lnTo>
                <a:lnTo>
                  <a:pt x="1223100" y="62769"/>
                </a:lnTo>
                <a:lnTo>
                  <a:pt x="1249864" y="95411"/>
                </a:lnTo>
                <a:lnTo>
                  <a:pt x="1269558" y="132299"/>
                </a:lnTo>
                <a:lnTo>
                  <a:pt x="1281716" y="172308"/>
                </a:lnTo>
                <a:lnTo>
                  <a:pt x="1285872" y="214314"/>
                </a:lnTo>
                <a:lnTo>
                  <a:pt x="1285872" y="1257852"/>
                </a:lnTo>
                <a:lnTo>
                  <a:pt x="1280212" y="1306997"/>
                </a:lnTo>
                <a:lnTo>
                  <a:pt x="1264089" y="1352109"/>
                </a:lnTo>
                <a:lnTo>
                  <a:pt x="1238789" y="1391904"/>
                </a:lnTo>
                <a:lnTo>
                  <a:pt x="1205600" y="1425094"/>
                </a:lnTo>
                <a:lnTo>
                  <a:pt x="1165806" y="1450393"/>
                </a:lnTo>
                <a:lnTo>
                  <a:pt x="1120696" y="1466516"/>
                </a:lnTo>
                <a:lnTo>
                  <a:pt x="1071555" y="1472177"/>
                </a:lnTo>
                <a:lnTo>
                  <a:pt x="214317" y="1472177"/>
                </a:lnTo>
                <a:lnTo>
                  <a:pt x="165175" y="1466516"/>
                </a:lnTo>
                <a:lnTo>
                  <a:pt x="120065" y="1450393"/>
                </a:lnTo>
                <a:lnTo>
                  <a:pt x="80272" y="1425094"/>
                </a:lnTo>
                <a:lnTo>
                  <a:pt x="47082" y="1391904"/>
                </a:lnTo>
                <a:lnTo>
                  <a:pt x="21783" y="1352109"/>
                </a:lnTo>
                <a:lnTo>
                  <a:pt x="5660" y="1306997"/>
                </a:lnTo>
                <a:lnTo>
                  <a:pt x="0" y="1257852"/>
                </a:lnTo>
                <a:lnTo>
                  <a:pt x="0" y="214314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023220" y="1930227"/>
            <a:ext cx="8032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0495" marR="5080" indent="-13843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OCP</a:t>
            </a:r>
            <a:r>
              <a:rPr dirty="0" sz="1100" spc="-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Cluster (Active)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0362" y="2291130"/>
            <a:ext cx="647988" cy="647988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1054872" y="2877925"/>
            <a:ext cx="8083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318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Application </a:t>
            </a:r>
            <a:r>
              <a:rPr dirty="0" sz="1100">
                <a:latin typeface="Arial"/>
                <a:cs typeface="Arial"/>
              </a:rPr>
              <a:t>(API</a:t>
            </a:r>
            <a:r>
              <a:rPr dirty="0" sz="1100" spc="-7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Object)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815613" y="3502180"/>
            <a:ext cx="2082800" cy="471805"/>
            <a:chOff x="1815613" y="3502180"/>
            <a:chExt cx="2082800" cy="471805"/>
          </a:xfrm>
        </p:grpSpPr>
        <p:sp>
          <p:nvSpPr>
            <p:cNvPr id="28" name="object 28" descr=""/>
            <p:cNvSpPr/>
            <p:nvPr/>
          </p:nvSpPr>
          <p:spPr>
            <a:xfrm>
              <a:off x="1820376" y="3506942"/>
              <a:ext cx="2073275" cy="462280"/>
            </a:xfrm>
            <a:custGeom>
              <a:avLst/>
              <a:gdLst/>
              <a:ahLst/>
              <a:cxnLst/>
              <a:rect l="l" t="t" r="r" b="b"/>
              <a:pathLst>
                <a:path w="2073275" h="462279">
                  <a:moveTo>
                    <a:pt x="1842141" y="461699"/>
                  </a:moveTo>
                  <a:lnTo>
                    <a:pt x="1842141" y="346274"/>
                  </a:lnTo>
                  <a:lnTo>
                    <a:pt x="0" y="346274"/>
                  </a:lnTo>
                  <a:lnTo>
                    <a:pt x="0" y="115424"/>
                  </a:lnTo>
                  <a:lnTo>
                    <a:pt x="1842141" y="115424"/>
                  </a:lnTo>
                  <a:lnTo>
                    <a:pt x="1842141" y="0"/>
                  </a:lnTo>
                  <a:lnTo>
                    <a:pt x="2072990" y="230849"/>
                  </a:lnTo>
                  <a:lnTo>
                    <a:pt x="1842141" y="4616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820376" y="3506942"/>
              <a:ext cx="2073275" cy="462280"/>
            </a:xfrm>
            <a:custGeom>
              <a:avLst/>
              <a:gdLst/>
              <a:ahLst/>
              <a:cxnLst/>
              <a:rect l="l" t="t" r="r" b="b"/>
              <a:pathLst>
                <a:path w="2073275" h="462279">
                  <a:moveTo>
                    <a:pt x="0" y="115424"/>
                  </a:moveTo>
                  <a:lnTo>
                    <a:pt x="1842141" y="115424"/>
                  </a:lnTo>
                  <a:lnTo>
                    <a:pt x="1842141" y="0"/>
                  </a:lnTo>
                  <a:lnTo>
                    <a:pt x="2072990" y="230849"/>
                  </a:lnTo>
                  <a:lnTo>
                    <a:pt x="1842141" y="461699"/>
                  </a:lnTo>
                  <a:lnTo>
                    <a:pt x="1842141" y="346274"/>
                  </a:lnTo>
                  <a:lnTo>
                    <a:pt x="0" y="346274"/>
                  </a:lnTo>
                  <a:lnTo>
                    <a:pt x="0" y="115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2022219" y="3462349"/>
            <a:ext cx="1555115" cy="36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 sz="1100" spc="-55">
                <a:solidFill>
                  <a:srgbClr val="FF0000"/>
                </a:solidFill>
                <a:latin typeface="Arial"/>
                <a:cs typeface="Arial"/>
              </a:rPr>
              <a:t>RHCS</a:t>
            </a:r>
            <a:r>
              <a:rPr dirty="0" sz="11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Stretch</a:t>
            </a:r>
            <a:r>
              <a:rPr dirty="0" sz="1100" spc="-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Cluster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Synchronous</a:t>
            </a:r>
            <a:r>
              <a:rPr dirty="0" sz="11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Replication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815613" y="2011908"/>
            <a:ext cx="2082800" cy="1273810"/>
            <a:chOff x="1815613" y="2011908"/>
            <a:chExt cx="2082800" cy="1273810"/>
          </a:xfrm>
        </p:grpSpPr>
        <p:pic>
          <p:nvPicPr>
            <p:cNvPr id="32" name="object 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23325" y="2011908"/>
              <a:ext cx="926693" cy="382799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82387" y="2937256"/>
              <a:ext cx="1027125" cy="347961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820376" y="2365747"/>
              <a:ext cx="2073275" cy="462280"/>
            </a:xfrm>
            <a:custGeom>
              <a:avLst/>
              <a:gdLst/>
              <a:ahLst/>
              <a:cxnLst/>
              <a:rect l="l" t="t" r="r" b="b"/>
              <a:pathLst>
                <a:path w="2073275" h="462280">
                  <a:moveTo>
                    <a:pt x="1842141" y="461696"/>
                  </a:moveTo>
                  <a:lnTo>
                    <a:pt x="1842141" y="346271"/>
                  </a:lnTo>
                  <a:lnTo>
                    <a:pt x="0" y="346271"/>
                  </a:lnTo>
                  <a:lnTo>
                    <a:pt x="0" y="115424"/>
                  </a:lnTo>
                  <a:lnTo>
                    <a:pt x="1842141" y="115424"/>
                  </a:lnTo>
                  <a:lnTo>
                    <a:pt x="1842141" y="0"/>
                  </a:lnTo>
                  <a:lnTo>
                    <a:pt x="2072990" y="230847"/>
                  </a:lnTo>
                  <a:lnTo>
                    <a:pt x="1842141" y="46169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820376" y="2365747"/>
              <a:ext cx="2073275" cy="462280"/>
            </a:xfrm>
            <a:custGeom>
              <a:avLst/>
              <a:gdLst/>
              <a:ahLst/>
              <a:cxnLst/>
              <a:rect l="l" t="t" r="r" b="b"/>
              <a:pathLst>
                <a:path w="2073275" h="462280">
                  <a:moveTo>
                    <a:pt x="0" y="115424"/>
                  </a:moveTo>
                  <a:lnTo>
                    <a:pt x="1842141" y="115424"/>
                  </a:lnTo>
                  <a:lnTo>
                    <a:pt x="1842141" y="0"/>
                  </a:lnTo>
                  <a:lnTo>
                    <a:pt x="2072990" y="230847"/>
                  </a:lnTo>
                  <a:lnTo>
                    <a:pt x="1842141" y="461696"/>
                  </a:lnTo>
                  <a:lnTo>
                    <a:pt x="1842141" y="346271"/>
                  </a:lnTo>
                  <a:lnTo>
                    <a:pt x="0" y="346271"/>
                  </a:lnTo>
                  <a:lnTo>
                    <a:pt x="0" y="115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2176969" y="2494488"/>
            <a:ext cx="12458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dirty="0" sz="11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Failover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3638917" y="1819066"/>
            <a:ext cx="1285875" cy="1472565"/>
          </a:xfrm>
          <a:custGeom>
            <a:avLst/>
            <a:gdLst/>
            <a:ahLst/>
            <a:cxnLst/>
            <a:rect l="l" t="t" r="r" b="b"/>
            <a:pathLst>
              <a:path w="1285875" h="1472564">
                <a:moveTo>
                  <a:pt x="0" y="214314"/>
                </a:moveTo>
                <a:lnTo>
                  <a:pt x="5660" y="165174"/>
                </a:lnTo>
                <a:lnTo>
                  <a:pt x="21783" y="120064"/>
                </a:lnTo>
                <a:lnTo>
                  <a:pt x="47082" y="80271"/>
                </a:lnTo>
                <a:lnTo>
                  <a:pt x="80272" y="47082"/>
                </a:lnTo>
                <a:lnTo>
                  <a:pt x="120067" y="21783"/>
                </a:lnTo>
                <a:lnTo>
                  <a:pt x="165179" y="5660"/>
                </a:lnTo>
                <a:lnTo>
                  <a:pt x="214324" y="0"/>
                </a:lnTo>
                <a:lnTo>
                  <a:pt x="1071547" y="0"/>
                </a:lnTo>
                <a:lnTo>
                  <a:pt x="1113557" y="4155"/>
                </a:lnTo>
                <a:lnTo>
                  <a:pt x="1153566" y="16312"/>
                </a:lnTo>
                <a:lnTo>
                  <a:pt x="1190453" y="36005"/>
                </a:lnTo>
                <a:lnTo>
                  <a:pt x="1223097" y="62769"/>
                </a:lnTo>
                <a:lnTo>
                  <a:pt x="1249865" y="95411"/>
                </a:lnTo>
                <a:lnTo>
                  <a:pt x="1269559" y="132299"/>
                </a:lnTo>
                <a:lnTo>
                  <a:pt x="1281716" y="172308"/>
                </a:lnTo>
                <a:lnTo>
                  <a:pt x="1285872" y="214314"/>
                </a:lnTo>
                <a:lnTo>
                  <a:pt x="1285872" y="1257852"/>
                </a:lnTo>
                <a:lnTo>
                  <a:pt x="1280212" y="1306997"/>
                </a:lnTo>
                <a:lnTo>
                  <a:pt x="1264089" y="1352109"/>
                </a:lnTo>
                <a:lnTo>
                  <a:pt x="1238789" y="1391904"/>
                </a:lnTo>
                <a:lnTo>
                  <a:pt x="1205599" y="1425094"/>
                </a:lnTo>
                <a:lnTo>
                  <a:pt x="1165805" y="1450393"/>
                </a:lnTo>
                <a:lnTo>
                  <a:pt x="1120692" y="1466516"/>
                </a:lnTo>
                <a:lnTo>
                  <a:pt x="1071547" y="1472177"/>
                </a:lnTo>
                <a:lnTo>
                  <a:pt x="214324" y="1472177"/>
                </a:lnTo>
                <a:lnTo>
                  <a:pt x="165179" y="1466516"/>
                </a:lnTo>
                <a:lnTo>
                  <a:pt x="120067" y="1450393"/>
                </a:lnTo>
                <a:lnTo>
                  <a:pt x="80272" y="1425094"/>
                </a:lnTo>
                <a:lnTo>
                  <a:pt x="47082" y="1391904"/>
                </a:lnTo>
                <a:lnTo>
                  <a:pt x="21783" y="1352109"/>
                </a:lnTo>
                <a:lnTo>
                  <a:pt x="5660" y="1306997"/>
                </a:lnTo>
                <a:lnTo>
                  <a:pt x="0" y="1257852"/>
                </a:lnTo>
                <a:lnTo>
                  <a:pt x="0" y="214314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3880719" y="1930227"/>
            <a:ext cx="8032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6839" marR="5080" indent="-104775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0000"/>
                </a:solidFill>
                <a:latin typeface="Arial"/>
                <a:cs typeface="Arial"/>
              </a:rPr>
              <a:t>OCP</a:t>
            </a:r>
            <a:r>
              <a:rPr dirty="0" sz="1100" spc="-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Cluster (Passive)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57866" y="2291130"/>
            <a:ext cx="647973" cy="647988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3912366" y="2877925"/>
            <a:ext cx="8083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318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Application </a:t>
            </a:r>
            <a:r>
              <a:rPr dirty="0" sz="1100">
                <a:latin typeface="Arial"/>
                <a:cs typeface="Arial"/>
              </a:rPr>
              <a:t>(API</a:t>
            </a:r>
            <a:r>
              <a:rPr dirty="0" sz="1100" spc="-7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Object)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865003" y="3780847"/>
            <a:ext cx="2266950" cy="817880"/>
            <a:chOff x="865003" y="3780847"/>
            <a:chExt cx="2266950" cy="817880"/>
          </a:xfrm>
        </p:grpSpPr>
        <p:pic>
          <p:nvPicPr>
            <p:cNvPr id="42" name="object 4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003" y="3780847"/>
              <a:ext cx="1092207" cy="30474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83640" y="3948692"/>
              <a:ext cx="647978" cy="649773"/>
            </a:xfrm>
            <a:prstGeom prst="rect">
              <a:avLst/>
            </a:prstGeom>
          </p:spPr>
        </p:pic>
      </p:grpSp>
      <p:sp>
        <p:nvSpPr>
          <p:cNvPr id="44" name="object 44" descr=""/>
          <p:cNvSpPr txBox="1"/>
          <p:nvPr/>
        </p:nvSpPr>
        <p:spPr>
          <a:xfrm>
            <a:off x="889508" y="4235215"/>
            <a:ext cx="2356485" cy="321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165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Arbiter</a:t>
            </a:r>
            <a:r>
              <a:rPr dirty="0" sz="1100" spc="-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Data</a:t>
            </a:r>
            <a:r>
              <a:rPr dirty="0" sz="1100" spc="-6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Center</a:t>
            </a:r>
            <a:endParaRPr sz="1100">
              <a:latin typeface="Arial"/>
              <a:cs typeface="Arial"/>
            </a:endParaRPr>
          </a:p>
          <a:p>
            <a:pPr marL="1537970">
              <a:lnSpc>
                <a:spcPts val="1165"/>
              </a:lnSpc>
            </a:pPr>
            <a:r>
              <a:rPr dirty="0" sz="1100">
                <a:latin typeface="Arial"/>
                <a:cs typeface="Arial"/>
              </a:rPr>
              <a:t>Arbiter</a:t>
            </a:r>
            <a:r>
              <a:rPr dirty="0" sz="1100" spc="4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Node</a:t>
            </a:r>
            <a:endParaRPr sz="110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7813538" y="356003"/>
            <a:ext cx="1210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RPO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Near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Zero </a:t>
            </a:r>
            <a:r>
              <a:rPr dirty="0" sz="1200">
                <a:latin typeface="Arial"/>
                <a:cs typeface="Arial"/>
              </a:rPr>
              <a:t>RTO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Mins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46555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000000"/>
                </a:solidFill>
                <a:latin typeface="Lucida Sans"/>
                <a:cs typeface="Lucida Sans"/>
              </a:rPr>
              <a:t>Red</a:t>
            </a:r>
            <a:r>
              <a:rPr dirty="0" sz="1800" spc="-105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dirty="0" sz="1800" spc="-80">
                <a:solidFill>
                  <a:srgbClr val="000000"/>
                </a:solidFill>
                <a:latin typeface="Lucida Sans"/>
                <a:cs typeface="Lucida Sans"/>
              </a:rPr>
              <a:t>Hat</a:t>
            </a:r>
            <a:r>
              <a:rPr dirty="0" sz="1800" spc="-105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dirty="0" sz="1800" spc="-60">
                <a:solidFill>
                  <a:srgbClr val="000000"/>
                </a:solidFill>
                <a:latin typeface="Lucida Sans"/>
                <a:cs typeface="Lucida Sans"/>
              </a:rPr>
              <a:t>OpenShift</a:t>
            </a:r>
            <a:r>
              <a:rPr dirty="0" sz="1800" spc="-100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dirty="0" sz="1800" b="1">
                <a:solidFill>
                  <a:srgbClr val="000000"/>
                </a:solidFill>
                <a:latin typeface="Arial"/>
                <a:cs typeface="Arial"/>
              </a:rPr>
              <a:t>Active-</a:t>
            </a:r>
            <a:r>
              <a:rPr dirty="0" sz="1800" spc="-10" b="1">
                <a:solidFill>
                  <a:srgbClr val="000000"/>
                </a:solidFill>
                <a:latin typeface="Arial"/>
                <a:cs typeface="Arial"/>
              </a:rPr>
              <a:t>Active</a:t>
            </a:r>
            <a:r>
              <a:rPr dirty="0" sz="1800" spc="-3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000000"/>
                </a:solidFill>
                <a:latin typeface="Lucida Sans"/>
                <a:cs typeface="Lucida Sans"/>
              </a:rPr>
              <a:t>DR</a:t>
            </a:r>
            <a:r>
              <a:rPr dirty="0" sz="1800" spc="-105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dirty="0" sz="1800" spc="-25">
                <a:solidFill>
                  <a:srgbClr val="000000"/>
                </a:solidFill>
                <a:latin typeface="Batang"/>
                <a:cs typeface="Batang"/>
              </a:rPr>
              <a:t>구성</a:t>
            </a:r>
            <a:endParaRPr sz="1800">
              <a:latin typeface="Batang"/>
              <a:cs typeface="Batang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5246" y="3263168"/>
            <a:ext cx="409076" cy="67762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095322" y="3697450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54289" y="2333440"/>
            <a:ext cx="1952625" cy="1409065"/>
            <a:chOff x="454289" y="2333440"/>
            <a:chExt cx="1952625" cy="140906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2718" y="3278293"/>
              <a:ext cx="463881" cy="46387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4289" y="2333440"/>
              <a:ext cx="409074" cy="67762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978" y="2440432"/>
              <a:ext cx="239690" cy="26168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499100" y="2767726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919448" y="2333440"/>
            <a:ext cx="409575" cy="678180"/>
            <a:chOff x="919448" y="2333440"/>
            <a:chExt cx="409575" cy="67818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448" y="2333440"/>
              <a:ext cx="409076" cy="67762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4140" y="2440432"/>
              <a:ext cx="239689" cy="261686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964260" y="2767726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73831" y="2333440"/>
            <a:ext cx="409074" cy="677628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2056555" y="2767726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384607" y="2333440"/>
            <a:ext cx="924560" cy="678180"/>
            <a:chOff x="1384607" y="2333440"/>
            <a:chExt cx="924560" cy="678180"/>
          </a:xfrm>
        </p:grpSpPr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49093" y="2432965"/>
              <a:ext cx="259504" cy="25950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4607" y="2333440"/>
              <a:ext cx="409076" cy="67762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9299" y="2440432"/>
              <a:ext cx="239690" cy="261686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429421" y="2767726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38990" y="2333440"/>
            <a:ext cx="409076" cy="67762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2521707" y="2767726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514244" y="2333440"/>
            <a:ext cx="791210" cy="678180"/>
            <a:chOff x="2514244" y="2333440"/>
            <a:chExt cx="791210" cy="678180"/>
          </a:xfrm>
        </p:grpSpPr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14244" y="2432965"/>
              <a:ext cx="259506" cy="25950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6294" y="2333440"/>
              <a:ext cx="409074" cy="677628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2979011" y="2767726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13219" y="2432965"/>
            <a:ext cx="2818130" cy="1443990"/>
            <a:chOff x="413219" y="2432965"/>
            <a:chExt cx="2818130" cy="1443990"/>
          </a:xfrm>
        </p:grpSpPr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71544" y="2432965"/>
              <a:ext cx="259506" cy="25950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2314" y="3228546"/>
              <a:ext cx="389481" cy="64517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3219" y="3563977"/>
              <a:ext cx="530191" cy="31261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344" y="3242955"/>
              <a:ext cx="441661" cy="44166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8552" y="3228546"/>
              <a:ext cx="389481" cy="64517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9458" y="3563977"/>
              <a:ext cx="530191" cy="31261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582" y="3242955"/>
              <a:ext cx="441661" cy="441661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801246" y="662059"/>
            <a:ext cx="75355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Batang"/>
                <a:cs typeface="Batang"/>
              </a:rPr>
              <a:t>동일한</a:t>
            </a:r>
            <a:r>
              <a:rPr dirty="0" sz="1400" spc="-35">
                <a:latin typeface="Batang"/>
                <a:cs typeface="Batang"/>
              </a:rPr>
              <a:t> </a:t>
            </a:r>
            <a:r>
              <a:rPr dirty="0" sz="1400" spc="-10">
                <a:latin typeface="Lucida Sans"/>
                <a:cs typeface="Lucida Sans"/>
              </a:rPr>
              <a:t>2</a:t>
            </a:r>
            <a:r>
              <a:rPr dirty="0" sz="1400" spc="-10">
                <a:latin typeface="Batang"/>
                <a:cs typeface="Batang"/>
              </a:rPr>
              <a:t>개의</a:t>
            </a:r>
            <a:r>
              <a:rPr dirty="0" sz="1400" spc="-65">
                <a:latin typeface="Batang"/>
                <a:cs typeface="Batang"/>
              </a:rPr>
              <a:t> </a:t>
            </a:r>
            <a:r>
              <a:rPr dirty="0" sz="1400" spc="-20">
                <a:latin typeface="Lucida Sans"/>
                <a:cs typeface="Lucida Sans"/>
              </a:rPr>
              <a:t>RHOCP</a:t>
            </a:r>
            <a:r>
              <a:rPr dirty="0" sz="1400" spc="-95">
                <a:latin typeface="Lucida Sans"/>
                <a:cs typeface="Lucida Sans"/>
              </a:rPr>
              <a:t> </a:t>
            </a:r>
            <a:r>
              <a:rPr dirty="0" sz="1400">
                <a:latin typeface="Batang"/>
                <a:cs typeface="Batang"/>
              </a:rPr>
              <a:t>클러스터를</a:t>
            </a:r>
            <a:r>
              <a:rPr dirty="0" sz="1400" spc="-40">
                <a:latin typeface="Batang"/>
                <a:cs typeface="Batang"/>
              </a:rPr>
              <a:t> </a:t>
            </a:r>
            <a:r>
              <a:rPr dirty="0" sz="1400" spc="-20">
                <a:latin typeface="Lucida Sans"/>
                <a:cs typeface="Lucida Sans"/>
              </a:rPr>
              <a:t>Active-</a:t>
            </a:r>
            <a:r>
              <a:rPr dirty="0" sz="1400" spc="-35">
                <a:latin typeface="Lucida Sans"/>
                <a:cs typeface="Lucida Sans"/>
              </a:rPr>
              <a:t>Active</a:t>
            </a:r>
            <a:r>
              <a:rPr dirty="0" sz="1400" spc="-35">
                <a:latin typeface="Batang"/>
                <a:cs typeface="Batang"/>
              </a:rPr>
              <a:t>로</a:t>
            </a:r>
            <a:r>
              <a:rPr dirty="0" sz="1400" spc="-90">
                <a:latin typeface="Batang"/>
                <a:cs typeface="Batang"/>
              </a:rPr>
              <a:t> </a:t>
            </a:r>
            <a:r>
              <a:rPr dirty="0" sz="1400">
                <a:latin typeface="Batang"/>
                <a:cs typeface="Batang"/>
              </a:rPr>
              <a:t>구성하고</a:t>
            </a:r>
            <a:r>
              <a:rPr dirty="0" sz="1400" spc="-5">
                <a:latin typeface="Batang"/>
                <a:cs typeface="Batang"/>
              </a:rPr>
              <a:t> </a:t>
            </a:r>
            <a:r>
              <a:rPr dirty="0" sz="1400">
                <a:latin typeface="Lucida Sans"/>
                <a:cs typeface="Lucida Sans"/>
              </a:rPr>
              <a:t>GSLB</a:t>
            </a:r>
            <a:r>
              <a:rPr dirty="0" sz="1400">
                <a:latin typeface="Batang"/>
                <a:cs typeface="Batang"/>
              </a:rPr>
              <a:t>로</a:t>
            </a:r>
            <a:r>
              <a:rPr dirty="0" sz="1400" spc="-90">
                <a:latin typeface="Batang"/>
                <a:cs typeface="Batang"/>
              </a:rPr>
              <a:t> </a:t>
            </a:r>
            <a:r>
              <a:rPr dirty="0" sz="1400">
                <a:latin typeface="Batang"/>
                <a:cs typeface="Batang"/>
              </a:rPr>
              <a:t>트래픽</a:t>
            </a:r>
            <a:r>
              <a:rPr dirty="0" sz="1400" spc="-35">
                <a:latin typeface="Batang"/>
                <a:cs typeface="Batang"/>
              </a:rPr>
              <a:t> </a:t>
            </a:r>
            <a:r>
              <a:rPr dirty="0" sz="1400">
                <a:latin typeface="Batang"/>
                <a:cs typeface="Batang"/>
              </a:rPr>
              <a:t>분산</a:t>
            </a:r>
            <a:r>
              <a:rPr dirty="0" sz="1400" spc="-60">
                <a:latin typeface="Batang"/>
                <a:cs typeface="Batang"/>
              </a:rPr>
              <a:t> </a:t>
            </a:r>
            <a:r>
              <a:rPr dirty="0" sz="1400">
                <a:latin typeface="Batang"/>
                <a:cs typeface="Batang"/>
              </a:rPr>
              <a:t>처리하는</a:t>
            </a:r>
            <a:r>
              <a:rPr dirty="0" sz="1400" spc="-10">
                <a:latin typeface="Batang"/>
                <a:cs typeface="Batang"/>
              </a:rPr>
              <a:t> </a:t>
            </a:r>
            <a:r>
              <a:rPr dirty="0" sz="1400" spc="-25">
                <a:latin typeface="Batang"/>
                <a:cs typeface="Batang"/>
              </a:rPr>
              <a:t>구조</a:t>
            </a:r>
            <a:endParaRPr sz="1400">
              <a:latin typeface="Batang"/>
              <a:cs typeface="Batang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91629" y="3182493"/>
            <a:ext cx="1150620" cy="852169"/>
          </a:xfrm>
          <a:prstGeom prst="rect">
            <a:avLst/>
          </a:prstGeom>
          <a:ln w="19049">
            <a:solidFill>
              <a:srgbClr val="69A8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Times New Roman"/>
              <a:cs typeface="Times New Roman"/>
            </a:endParaRPr>
          </a:p>
          <a:p>
            <a:pPr algn="ctr" marR="2540">
              <a:lnSpc>
                <a:spcPct val="100000"/>
              </a:lnSpc>
              <a:tabLst>
                <a:tab pos="565785" algn="l"/>
              </a:tabLst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BASTION</a:t>
            </a:r>
            <a:r>
              <a:rPr dirty="0" sz="60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BASTION</a:t>
            </a:r>
            <a:endParaRPr sz="6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600">
              <a:latin typeface="Lucida Sans"/>
              <a:cs typeface="Lucida Sans"/>
            </a:endParaRPr>
          </a:p>
          <a:p>
            <a:pPr algn="ctr">
              <a:lnSpc>
                <a:spcPct val="100000"/>
              </a:lnSpc>
            </a:pPr>
            <a:r>
              <a:rPr dirty="0" sz="900">
                <a:latin typeface="Arial"/>
                <a:cs typeface="Arial"/>
              </a:rPr>
              <a:t>Bastion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HA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2126423" y="1717549"/>
            <a:ext cx="4833620" cy="238125"/>
            <a:chOff x="2126423" y="1717549"/>
            <a:chExt cx="4833620" cy="238125"/>
          </a:xfrm>
        </p:grpSpPr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27786" y="1717549"/>
              <a:ext cx="431799" cy="238122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26423" y="1717549"/>
              <a:ext cx="431796" cy="238122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2614383" y="1680079"/>
            <a:ext cx="762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75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Cluster-Level </a:t>
            </a:r>
            <a:r>
              <a:rPr dirty="0" sz="900">
                <a:latin typeface="Arial"/>
                <a:cs typeface="Arial"/>
              </a:rPr>
              <a:t>Load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Balancer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216649" y="2181745"/>
            <a:ext cx="8609965" cy="1991360"/>
            <a:chOff x="216649" y="2181745"/>
            <a:chExt cx="8609965" cy="1991360"/>
          </a:xfrm>
        </p:grpSpPr>
        <p:sp>
          <p:nvSpPr>
            <p:cNvPr id="42" name="object 42" descr=""/>
            <p:cNvSpPr/>
            <p:nvPr/>
          </p:nvSpPr>
          <p:spPr>
            <a:xfrm>
              <a:off x="222999" y="2188095"/>
              <a:ext cx="3286760" cy="1978660"/>
            </a:xfrm>
            <a:custGeom>
              <a:avLst/>
              <a:gdLst/>
              <a:ahLst/>
              <a:cxnLst/>
              <a:rect l="l" t="t" r="r" b="b"/>
              <a:pathLst>
                <a:path w="3286760" h="1978660">
                  <a:moveTo>
                    <a:pt x="0" y="0"/>
                  </a:moveTo>
                  <a:lnTo>
                    <a:pt x="3286493" y="0"/>
                  </a:lnTo>
                  <a:lnTo>
                    <a:pt x="3286493" y="1978496"/>
                  </a:lnTo>
                  <a:lnTo>
                    <a:pt x="0" y="197849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509688" y="2188095"/>
              <a:ext cx="3310890" cy="1978660"/>
            </a:xfrm>
            <a:custGeom>
              <a:avLst/>
              <a:gdLst/>
              <a:ahLst/>
              <a:cxnLst/>
              <a:rect l="l" t="t" r="r" b="b"/>
              <a:pathLst>
                <a:path w="3310890" h="1978660">
                  <a:moveTo>
                    <a:pt x="3310493" y="1978496"/>
                  </a:moveTo>
                  <a:lnTo>
                    <a:pt x="0" y="1978496"/>
                  </a:lnTo>
                  <a:lnTo>
                    <a:pt x="0" y="0"/>
                  </a:lnTo>
                  <a:lnTo>
                    <a:pt x="3310493" y="0"/>
                  </a:lnTo>
                  <a:lnTo>
                    <a:pt x="3310493" y="1978496"/>
                  </a:lnTo>
                  <a:close/>
                </a:path>
              </a:pathLst>
            </a:custGeom>
            <a:solidFill>
              <a:srgbClr val="7E7E7E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509688" y="2188095"/>
              <a:ext cx="3310890" cy="1978660"/>
            </a:xfrm>
            <a:custGeom>
              <a:avLst/>
              <a:gdLst/>
              <a:ahLst/>
              <a:cxnLst/>
              <a:rect l="l" t="t" r="r" b="b"/>
              <a:pathLst>
                <a:path w="3310890" h="1978660">
                  <a:moveTo>
                    <a:pt x="0" y="0"/>
                  </a:moveTo>
                  <a:lnTo>
                    <a:pt x="3310493" y="0"/>
                  </a:lnTo>
                  <a:lnTo>
                    <a:pt x="3310493" y="1978496"/>
                  </a:lnTo>
                  <a:lnTo>
                    <a:pt x="0" y="197849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86669" y="3263168"/>
              <a:ext cx="409074" cy="677623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3006748" y="3697450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2434942" y="3263168"/>
            <a:ext cx="883285" cy="678180"/>
            <a:chOff x="2434942" y="3263168"/>
            <a:chExt cx="883285" cy="678180"/>
          </a:xfrm>
        </p:grpSpPr>
        <p:pic>
          <p:nvPicPr>
            <p:cNvPr id="48" name="object 4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4144" y="3278293"/>
              <a:ext cx="463874" cy="463874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4942" y="3263168"/>
              <a:ext cx="409076" cy="677623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2555016" y="3697450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2159033" y="1950908"/>
            <a:ext cx="3978275" cy="1998980"/>
            <a:chOff x="2159033" y="1950908"/>
            <a:chExt cx="3978275" cy="1998980"/>
          </a:xfrm>
        </p:grpSpPr>
        <p:pic>
          <p:nvPicPr>
            <p:cNvPr id="52" name="object 5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2415" y="3278293"/>
              <a:ext cx="463879" cy="463874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2200995" y="1955671"/>
              <a:ext cx="141605" cy="325755"/>
            </a:xfrm>
            <a:custGeom>
              <a:avLst/>
              <a:gdLst/>
              <a:ahLst/>
              <a:cxnLst/>
              <a:rect l="l" t="t" r="r" b="b"/>
              <a:pathLst>
                <a:path w="141605" h="325755">
                  <a:moveTo>
                    <a:pt x="141327" y="0"/>
                  </a:moveTo>
                  <a:lnTo>
                    <a:pt x="0" y="32528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183770" y="2274685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45914"/>
                  </a:moveTo>
                  <a:lnTo>
                    <a:pt x="2794" y="0"/>
                  </a:lnTo>
                  <a:lnTo>
                    <a:pt x="31654" y="12539"/>
                  </a:lnTo>
                  <a:lnTo>
                    <a:pt x="0" y="4591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183770" y="2274685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2794" y="0"/>
                  </a:moveTo>
                  <a:lnTo>
                    <a:pt x="0" y="45914"/>
                  </a:lnTo>
                  <a:lnTo>
                    <a:pt x="31654" y="12539"/>
                  </a:lnTo>
                  <a:lnTo>
                    <a:pt x="279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342322" y="1955671"/>
              <a:ext cx="266065" cy="333375"/>
            </a:xfrm>
            <a:custGeom>
              <a:avLst/>
              <a:gdLst/>
              <a:ahLst/>
              <a:cxnLst/>
              <a:rect l="l" t="t" r="r" b="b"/>
              <a:pathLst>
                <a:path w="266064" h="333375">
                  <a:moveTo>
                    <a:pt x="0" y="0"/>
                  </a:moveTo>
                  <a:lnTo>
                    <a:pt x="265571" y="33301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595594" y="2278880"/>
              <a:ext cx="39370" cy="43815"/>
            </a:xfrm>
            <a:custGeom>
              <a:avLst/>
              <a:gdLst/>
              <a:ahLst/>
              <a:cxnLst/>
              <a:rect l="l" t="t" r="r" b="b"/>
              <a:pathLst>
                <a:path w="39369" h="43814">
                  <a:moveTo>
                    <a:pt x="39249" y="43604"/>
                  </a:moveTo>
                  <a:lnTo>
                    <a:pt x="0" y="19617"/>
                  </a:lnTo>
                  <a:lnTo>
                    <a:pt x="24599" y="0"/>
                  </a:lnTo>
                  <a:lnTo>
                    <a:pt x="39249" y="4360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595594" y="2278880"/>
              <a:ext cx="39370" cy="43815"/>
            </a:xfrm>
            <a:custGeom>
              <a:avLst/>
              <a:gdLst/>
              <a:ahLst/>
              <a:cxnLst/>
              <a:rect l="l" t="t" r="r" b="b"/>
              <a:pathLst>
                <a:path w="39369" h="43814">
                  <a:moveTo>
                    <a:pt x="0" y="19617"/>
                  </a:moveTo>
                  <a:lnTo>
                    <a:pt x="39249" y="43604"/>
                  </a:lnTo>
                  <a:lnTo>
                    <a:pt x="24599" y="0"/>
                  </a:lnTo>
                  <a:lnTo>
                    <a:pt x="0" y="19617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342322" y="1955671"/>
              <a:ext cx="707390" cy="352425"/>
            </a:xfrm>
            <a:custGeom>
              <a:avLst/>
              <a:gdLst/>
              <a:ahLst/>
              <a:cxnLst/>
              <a:rect l="l" t="t" r="r" b="b"/>
              <a:pathLst>
                <a:path w="707389" h="352425">
                  <a:moveTo>
                    <a:pt x="0" y="0"/>
                  </a:moveTo>
                  <a:lnTo>
                    <a:pt x="707246" y="352221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042543" y="2293810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19" h="33655">
                  <a:moveTo>
                    <a:pt x="45724" y="33352"/>
                  </a:moveTo>
                  <a:lnTo>
                    <a:pt x="0" y="28167"/>
                  </a:lnTo>
                  <a:lnTo>
                    <a:pt x="14024" y="0"/>
                  </a:lnTo>
                  <a:lnTo>
                    <a:pt x="45724" y="3335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042543" y="2293810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19" h="33655">
                  <a:moveTo>
                    <a:pt x="0" y="28167"/>
                  </a:moveTo>
                  <a:lnTo>
                    <a:pt x="45724" y="33352"/>
                  </a:lnTo>
                  <a:lnTo>
                    <a:pt x="14024" y="0"/>
                  </a:lnTo>
                  <a:lnTo>
                    <a:pt x="0" y="28167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178368" y="3011069"/>
              <a:ext cx="411480" cy="224790"/>
            </a:xfrm>
            <a:custGeom>
              <a:avLst/>
              <a:gdLst/>
              <a:ahLst/>
              <a:cxnLst/>
              <a:rect l="l" t="t" r="r" b="b"/>
              <a:pathLst>
                <a:path w="411480" h="224789">
                  <a:moveTo>
                    <a:pt x="0" y="0"/>
                  </a:moveTo>
                  <a:lnTo>
                    <a:pt x="410951" y="2245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581769" y="3221843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45474" y="34549"/>
                  </a:moveTo>
                  <a:lnTo>
                    <a:pt x="0" y="27624"/>
                  </a:lnTo>
                  <a:lnTo>
                    <a:pt x="15099" y="0"/>
                  </a:lnTo>
                  <a:lnTo>
                    <a:pt x="45474" y="345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581769" y="3221843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0" y="27624"/>
                  </a:moveTo>
                  <a:lnTo>
                    <a:pt x="45474" y="34549"/>
                  </a:lnTo>
                  <a:lnTo>
                    <a:pt x="15099" y="0"/>
                  </a:lnTo>
                  <a:lnTo>
                    <a:pt x="0" y="276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178368" y="3011069"/>
              <a:ext cx="1270" cy="194945"/>
            </a:xfrm>
            <a:custGeom>
              <a:avLst/>
              <a:gdLst/>
              <a:ahLst/>
              <a:cxnLst/>
              <a:rect l="l" t="t" r="r" b="b"/>
              <a:pathLst>
                <a:path w="1269" h="194944">
                  <a:moveTo>
                    <a:pt x="0" y="0"/>
                  </a:moveTo>
                  <a:lnTo>
                    <a:pt x="1159" y="1948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163795" y="32058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989" y="43324"/>
                  </a:moveTo>
                  <a:lnTo>
                    <a:pt x="0" y="199"/>
                  </a:lnTo>
                  <a:lnTo>
                    <a:pt x="31464" y="0"/>
                  </a:lnTo>
                  <a:lnTo>
                    <a:pt x="15989" y="433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163795" y="32058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199"/>
                  </a:moveTo>
                  <a:lnTo>
                    <a:pt x="15989" y="43324"/>
                  </a:lnTo>
                  <a:lnTo>
                    <a:pt x="31464" y="0"/>
                  </a:lnTo>
                  <a:lnTo>
                    <a:pt x="0" y="1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178368" y="3011069"/>
              <a:ext cx="857885" cy="236854"/>
            </a:xfrm>
            <a:custGeom>
              <a:avLst/>
              <a:gdLst/>
              <a:ahLst/>
              <a:cxnLst/>
              <a:rect l="l" t="t" r="r" b="b"/>
              <a:pathLst>
                <a:path w="857885" h="236855">
                  <a:moveTo>
                    <a:pt x="0" y="0"/>
                  </a:moveTo>
                  <a:lnTo>
                    <a:pt x="857800" y="2367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031993" y="32326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0" y="30324"/>
                  </a:moveTo>
                  <a:lnTo>
                    <a:pt x="8374" y="0"/>
                  </a:lnTo>
                  <a:lnTo>
                    <a:pt x="45849" y="26674"/>
                  </a:lnTo>
                  <a:lnTo>
                    <a:pt x="0" y="303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031993" y="32326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0" y="30324"/>
                  </a:moveTo>
                  <a:lnTo>
                    <a:pt x="45849" y="26674"/>
                  </a:lnTo>
                  <a:lnTo>
                    <a:pt x="8374" y="0"/>
                  </a:lnTo>
                  <a:lnTo>
                    <a:pt x="0" y="303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683919" y="3011069"/>
              <a:ext cx="417195" cy="239395"/>
            </a:xfrm>
            <a:custGeom>
              <a:avLst/>
              <a:gdLst/>
              <a:ahLst/>
              <a:cxnLst/>
              <a:rect l="l" t="t" r="r" b="b"/>
              <a:pathLst>
                <a:path w="417194" h="239394">
                  <a:moveTo>
                    <a:pt x="416899" y="0"/>
                  </a:moveTo>
                  <a:lnTo>
                    <a:pt x="0" y="23887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646419" y="3236293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0" y="35149"/>
                  </a:moveTo>
                  <a:lnTo>
                    <a:pt x="29674" y="0"/>
                  </a:lnTo>
                  <a:lnTo>
                    <a:pt x="45324" y="27299"/>
                  </a:lnTo>
                  <a:lnTo>
                    <a:pt x="0" y="351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646419" y="3236293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29674" y="0"/>
                  </a:moveTo>
                  <a:lnTo>
                    <a:pt x="0" y="35149"/>
                  </a:lnTo>
                  <a:lnTo>
                    <a:pt x="45324" y="27299"/>
                  </a:lnTo>
                  <a:lnTo>
                    <a:pt x="2967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229640" y="3011069"/>
              <a:ext cx="871219" cy="251460"/>
            </a:xfrm>
            <a:custGeom>
              <a:avLst/>
              <a:gdLst/>
              <a:ahLst/>
              <a:cxnLst/>
              <a:rect l="l" t="t" r="r" b="b"/>
              <a:pathLst>
                <a:path w="871219" h="251460">
                  <a:moveTo>
                    <a:pt x="871178" y="0"/>
                  </a:moveTo>
                  <a:lnTo>
                    <a:pt x="0" y="2514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188110" y="32473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45892" y="30249"/>
                  </a:moveTo>
                  <a:lnTo>
                    <a:pt x="0" y="27099"/>
                  </a:lnTo>
                  <a:lnTo>
                    <a:pt x="37164" y="0"/>
                  </a:lnTo>
                  <a:lnTo>
                    <a:pt x="45892" y="302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188110" y="32473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79">
                  <a:moveTo>
                    <a:pt x="37164" y="0"/>
                  </a:moveTo>
                  <a:lnTo>
                    <a:pt x="0" y="27099"/>
                  </a:lnTo>
                  <a:lnTo>
                    <a:pt x="45892" y="30249"/>
                  </a:lnTo>
                  <a:lnTo>
                    <a:pt x="3716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089268" y="3011069"/>
              <a:ext cx="12065" cy="210820"/>
            </a:xfrm>
            <a:custGeom>
              <a:avLst/>
              <a:gdLst/>
              <a:ahLst/>
              <a:cxnLst/>
              <a:rect l="l" t="t" r="r" b="b"/>
              <a:pathLst>
                <a:path w="12064" h="210819">
                  <a:moveTo>
                    <a:pt x="11549" y="0"/>
                  </a:moveTo>
                  <a:lnTo>
                    <a:pt x="0" y="2102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073568" y="3220443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3324" y="44024"/>
                  </a:moveTo>
                  <a:lnTo>
                    <a:pt x="0" y="0"/>
                  </a:lnTo>
                  <a:lnTo>
                    <a:pt x="31399" y="1724"/>
                  </a:lnTo>
                  <a:lnTo>
                    <a:pt x="13324" y="440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073568" y="3220443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3324" y="44024"/>
                  </a:lnTo>
                  <a:lnTo>
                    <a:pt x="31399" y="17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2640519" y="3011069"/>
              <a:ext cx="3175" cy="194945"/>
            </a:xfrm>
            <a:custGeom>
              <a:avLst/>
              <a:gdLst/>
              <a:ahLst/>
              <a:cxnLst/>
              <a:rect l="l" t="t" r="r" b="b"/>
              <a:pathLst>
                <a:path w="3175" h="194944">
                  <a:moveTo>
                    <a:pt x="2999" y="0"/>
                  </a:moveTo>
                  <a:lnTo>
                    <a:pt x="0" y="1948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2624769" y="32056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074" y="43449"/>
                  </a:moveTo>
                  <a:lnTo>
                    <a:pt x="0" y="0"/>
                  </a:lnTo>
                  <a:lnTo>
                    <a:pt x="31474" y="474"/>
                  </a:lnTo>
                  <a:lnTo>
                    <a:pt x="15074" y="43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2624769" y="32056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074" y="43449"/>
                  </a:lnTo>
                  <a:lnTo>
                    <a:pt x="31474" y="4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2224278" y="3011069"/>
              <a:ext cx="419734" cy="239395"/>
            </a:xfrm>
            <a:custGeom>
              <a:avLst/>
              <a:gdLst/>
              <a:ahLst/>
              <a:cxnLst/>
              <a:rect l="l" t="t" r="r" b="b"/>
              <a:pathLst>
                <a:path w="419735" h="239394">
                  <a:moveTo>
                    <a:pt x="419241" y="0"/>
                  </a:moveTo>
                  <a:lnTo>
                    <a:pt x="0" y="2389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2186725" y="3236393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0" y="35074"/>
                  </a:moveTo>
                  <a:lnTo>
                    <a:pt x="29762" y="0"/>
                  </a:lnTo>
                  <a:lnTo>
                    <a:pt x="45344" y="27349"/>
                  </a:lnTo>
                  <a:lnTo>
                    <a:pt x="0" y="350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2186725" y="3236393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29762" y="0"/>
                  </a:moveTo>
                  <a:lnTo>
                    <a:pt x="0" y="35074"/>
                  </a:lnTo>
                  <a:lnTo>
                    <a:pt x="45344" y="27349"/>
                  </a:lnTo>
                  <a:lnTo>
                    <a:pt x="29762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2643519" y="3011069"/>
              <a:ext cx="398145" cy="224154"/>
            </a:xfrm>
            <a:custGeom>
              <a:avLst/>
              <a:gdLst/>
              <a:ahLst/>
              <a:cxnLst/>
              <a:rect l="l" t="t" r="r" b="b"/>
              <a:pathLst>
                <a:path w="398144" h="224155">
                  <a:moveTo>
                    <a:pt x="0" y="0"/>
                  </a:moveTo>
                  <a:lnTo>
                    <a:pt x="397799" y="2239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033618" y="322131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45374" y="34924"/>
                  </a:moveTo>
                  <a:lnTo>
                    <a:pt x="0" y="27424"/>
                  </a:lnTo>
                  <a:lnTo>
                    <a:pt x="15424" y="0"/>
                  </a:lnTo>
                  <a:lnTo>
                    <a:pt x="45374" y="349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3033618" y="322131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0" y="27424"/>
                  </a:moveTo>
                  <a:lnTo>
                    <a:pt x="45374" y="34924"/>
                  </a:lnTo>
                  <a:lnTo>
                    <a:pt x="15424" y="0"/>
                  </a:lnTo>
                  <a:lnTo>
                    <a:pt x="0" y="274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28238" y="3272038"/>
              <a:ext cx="409074" cy="677628"/>
            </a:xfrm>
            <a:prstGeom prst="rect">
              <a:avLst/>
            </a:prstGeom>
          </p:spPr>
        </p:pic>
      </p:grpSp>
      <p:sp>
        <p:nvSpPr>
          <p:cNvPr id="90" name="object 90" descr=""/>
          <p:cNvSpPr txBox="1"/>
          <p:nvPr/>
        </p:nvSpPr>
        <p:spPr>
          <a:xfrm>
            <a:off x="5848326" y="3706318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91" name="object 91" descr=""/>
          <p:cNvGrpSpPr/>
          <p:nvPr/>
        </p:nvGrpSpPr>
        <p:grpSpPr>
          <a:xfrm>
            <a:off x="5695713" y="2342315"/>
            <a:ext cx="2006600" cy="1409065"/>
            <a:chOff x="5695713" y="2342315"/>
            <a:chExt cx="2006600" cy="1409065"/>
          </a:xfrm>
        </p:grpSpPr>
        <p:pic>
          <p:nvPicPr>
            <p:cNvPr id="92" name="object 9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5713" y="3287168"/>
              <a:ext cx="463881" cy="463874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92610" y="2342315"/>
              <a:ext cx="409076" cy="677628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7310" y="2449307"/>
              <a:ext cx="239690" cy="261686"/>
            </a:xfrm>
            <a:prstGeom prst="rect">
              <a:avLst/>
            </a:prstGeom>
          </p:spPr>
        </p:pic>
      </p:grpSp>
      <p:sp>
        <p:nvSpPr>
          <p:cNvPr id="95" name="object 95" descr=""/>
          <p:cNvSpPr txBox="1"/>
          <p:nvPr/>
        </p:nvSpPr>
        <p:spPr>
          <a:xfrm>
            <a:off x="7337433" y="2776603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96" name="object 96" descr=""/>
          <p:cNvGrpSpPr/>
          <p:nvPr/>
        </p:nvGrpSpPr>
        <p:grpSpPr>
          <a:xfrm>
            <a:off x="7757784" y="2342315"/>
            <a:ext cx="409575" cy="678180"/>
            <a:chOff x="7757784" y="2342315"/>
            <a:chExt cx="409575" cy="678180"/>
          </a:xfrm>
        </p:grpSpPr>
        <p:pic>
          <p:nvPicPr>
            <p:cNvPr id="97" name="object 9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57784" y="2342315"/>
              <a:ext cx="409074" cy="677628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2484" y="2449307"/>
              <a:ext cx="239674" cy="261686"/>
            </a:xfrm>
            <a:prstGeom prst="rect">
              <a:avLst/>
            </a:prstGeom>
          </p:spPr>
        </p:pic>
      </p:grpSp>
      <p:sp>
        <p:nvSpPr>
          <p:cNvPr id="99" name="object 99" descr=""/>
          <p:cNvSpPr txBox="1"/>
          <p:nvPr/>
        </p:nvSpPr>
        <p:spPr>
          <a:xfrm>
            <a:off x="7802595" y="2776603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pic>
        <p:nvPicPr>
          <p:cNvPr id="100" name="object 10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26838" y="2342315"/>
            <a:ext cx="409074" cy="677628"/>
          </a:xfrm>
          <a:prstGeom prst="rect">
            <a:avLst/>
          </a:prstGeom>
        </p:spPr>
      </p:pic>
      <p:sp>
        <p:nvSpPr>
          <p:cNvPr id="101" name="object 101" descr=""/>
          <p:cNvSpPr txBox="1"/>
          <p:nvPr/>
        </p:nvSpPr>
        <p:spPr>
          <a:xfrm>
            <a:off x="5809550" y="2776603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02" name="object 102" descr=""/>
          <p:cNvGrpSpPr/>
          <p:nvPr/>
        </p:nvGrpSpPr>
        <p:grpSpPr>
          <a:xfrm>
            <a:off x="5802088" y="2342315"/>
            <a:ext cx="2830195" cy="678180"/>
            <a:chOff x="5802088" y="2342315"/>
            <a:chExt cx="2830195" cy="678180"/>
          </a:xfrm>
        </p:grpSpPr>
        <p:pic>
          <p:nvPicPr>
            <p:cNvPr id="103" name="object 10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02088" y="2441837"/>
              <a:ext cx="259499" cy="259506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22933" y="2342315"/>
              <a:ext cx="409074" cy="677628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7633" y="2449307"/>
              <a:ext cx="239690" cy="261686"/>
            </a:xfrm>
            <a:prstGeom prst="rect">
              <a:avLst/>
            </a:prstGeom>
          </p:spPr>
        </p:pic>
      </p:grpSp>
      <p:sp>
        <p:nvSpPr>
          <p:cNvPr id="106" name="object 106" descr=""/>
          <p:cNvSpPr txBox="1"/>
          <p:nvPr/>
        </p:nvSpPr>
        <p:spPr>
          <a:xfrm>
            <a:off x="8267757" y="2776603"/>
            <a:ext cx="3200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MASTER</a:t>
            </a:r>
            <a:endParaRPr sz="600">
              <a:latin typeface="Lucida Sans"/>
              <a:cs typeface="Lucida Sans"/>
            </a:endParaRPr>
          </a:p>
        </p:txBody>
      </p:sp>
      <p:pic>
        <p:nvPicPr>
          <p:cNvPr id="107" name="object 10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91987" y="2342315"/>
            <a:ext cx="409074" cy="677628"/>
          </a:xfrm>
          <a:prstGeom prst="rect">
            <a:avLst/>
          </a:prstGeom>
        </p:spPr>
      </p:pic>
      <p:sp>
        <p:nvSpPr>
          <p:cNvPr id="108" name="object 108" descr=""/>
          <p:cNvSpPr txBox="1"/>
          <p:nvPr/>
        </p:nvSpPr>
        <p:spPr>
          <a:xfrm>
            <a:off x="6274712" y="2776603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09" name="object 109" descr=""/>
          <p:cNvGrpSpPr/>
          <p:nvPr/>
        </p:nvGrpSpPr>
        <p:grpSpPr>
          <a:xfrm>
            <a:off x="6267262" y="2342315"/>
            <a:ext cx="791210" cy="678180"/>
            <a:chOff x="6267262" y="2342315"/>
            <a:chExt cx="791210" cy="678180"/>
          </a:xfrm>
        </p:grpSpPr>
        <p:pic>
          <p:nvPicPr>
            <p:cNvPr id="110" name="object 1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7262" y="2441837"/>
              <a:ext cx="259499" cy="259506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9286" y="2342315"/>
              <a:ext cx="409074" cy="677628"/>
            </a:xfrm>
            <a:prstGeom prst="rect">
              <a:avLst/>
            </a:prstGeom>
          </p:spPr>
        </p:pic>
      </p:grpSp>
      <p:sp>
        <p:nvSpPr>
          <p:cNvPr id="112" name="object 112" descr=""/>
          <p:cNvSpPr txBox="1"/>
          <p:nvPr/>
        </p:nvSpPr>
        <p:spPr>
          <a:xfrm>
            <a:off x="6732016" y="2776603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INFRA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13" name="object 113" descr=""/>
          <p:cNvGrpSpPr/>
          <p:nvPr/>
        </p:nvGrpSpPr>
        <p:grpSpPr>
          <a:xfrm>
            <a:off x="6724561" y="2441837"/>
            <a:ext cx="1882775" cy="1443990"/>
            <a:chOff x="6724561" y="2441837"/>
            <a:chExt cx="1882775" cy="1443990"/>
          </a:xfrm>
        </p:grpSpPr>
        <p:pic>
          <p:nvPicPr>
            <p:cNvPr id="114" name="object 1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24561" y="2441837"/>
              <a:ext cx="259499" cy="259506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579959" y="3237418"/>
              <a:ext cx="389474" cy="645148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10860" y="3572852"/>
              <a:ext cx="530191" cy="312614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8984" y="3251830"/>
              <a:ext cx="441661" cy="441661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46183" y="3237418"/>
              <a:ext cx="389481" cy="645148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77108" y="3572852"/>
              <a:ext cx="530191" cy="312614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5233" y="3251830"/>
              <a:ext cx="441648" cy="441661"/>
            </a:xfrm>
            <a:prstGeom prst="rect">
              <a:avLst/>
            </a:prstGeom>
          </p:spPr>
        </p:pic>
      </p:grpSp>
      <p:sp>
        <p:nvSpPr>
          <p:cNvPr id="121" name="object 121" descr=""/>
          <p:cNvSpPr txBox="1"/>
          <p:nvPr/>
        </p:nvSpPr>
        <p:spPr>
          <a:xfrm>
            <a:off x="7489284" y="3191368"/>
            <a:ext cx="1150620" cy="852169"/>
          </a:xfrm>
          <a:prstGeom prst="rect">
            <a:avLst/>
          </a:prstGeom>
          <a:ln w="19049">
            <a:solidFill>
              <a:srgbClr val="69A84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Times New Roman"/>
              <a:cs typeface="Times New Roman"/>
            </a:endParaRPr>
          </a:p>
          <a:p>
            <a:pPr algn="ctr" marR="2540">
              <a:lnSpc>
                <a:spcPct val="100000"/>
              </a:lnSpc>
              <a:tabLst>
                <a:tab pos="565785" algn="l"/>
              </a:tabLst>
            </a:pP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BASTION</a:t>
            </a:r>
            <a:r>
              <a:rPr dirty="0" sz="60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dirty="0" sz="600" spc="-10">
                <a:solidFill>
                  <a:srgbClr val="FFFFFF"/>
                </a:solidFill>
                <a:latin typeface="Lucida Sans"/>
                <a:cs typeface="Lucida Sans"/>
              </a:rPr>
              <a:t>BASTION</a:t>
            </a:r>
            <a:endParaRPr sz="6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600">
              <a:latin typeface="Lucida Sans"/>
              <a:cs typeface="Lucida Sans"/>
            </a:endParaRPr>
          </a:p>
          <a:p>
            <a:pPr algn="ctr">
              <a:lnSpc>
                <a:spcPct val="100000"/>
              </a:lnSpc>
            </a:pPr>
            <a:r>
              <a:rPr dirty="0" sz="900">
                <a:latin typeface="Arial"/>
                <a:cs typeface="Arial"/>
              </a:rPr>
              <a:t>Bastion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HA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22" name="object 12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639661" y="3272038"/>
            <a:ext cx="409076" cy="677628"/>
          </a:xfrm>
          <a:prstGeom prst="rect">
            <a:avLst/>
          </a:prstGeom>
        </p:spPr>
      </p:pic>
      <p:sp>
        <p:nvSpPr>
          <p:cNvPr id="123" name="object 123" descr=""/>
          <p:cNvSpPr txBox="1"/>
          <p:nvPr/>
        </p:nvSpPr>
        <p:spPr>
          <a:xfrm>
            <a:off x="6759753" y="3706318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24" name="object 124" descr=""/>
          <p:cNvGrpSpPr/>
          <p:nvPr/>
        </p:nvGrpSpPr>
        <p:grpSpPr>
          <a:xfrm>
            <a:off x="6187937" y="3272038"/>
            <a:ext cx="883285" cy="678180"/>
            <a:chOff x="6187937" y="3272038"/>
            <a:chExt cx="883285" cy="678180"/>
          </a:xfrm>
        </p:grpSpPr>
        <p:pic>
          <p:nvPicPr>
            <p:cNvPr id="125" name="object 1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7136" y="3287168"/>
              <a:ext cx="463881" cy="463874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87937" y="3272038"/>
              <a:ext cx="409074" cy="677628"/>
            </a:xfrm>
            <a:prstGeom prst="rect">
              <a:avLst/>
            </a:prstGeom>
          </p:spPr>
        </p:pic>
      </p:grpSp>
      <p:sp>
        <p:nvSpPr>
          <p:cNvPr id="127" name="object 127" descr=""/>
          <p:cNvSpPr txBox="1"/>
          <p:nvPr/>
        </p:nvSpPr>
        <p:spPr>
          <a:xfrm>
            <a:off x="6308021" y="3706318"/>
            <a:ext cx="1720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FFFF"/>
                </a:solidFill>
                <a:latin typeface="Lucida Sans"/>
                <a:cs typeface="Lucida Sans"/>
              </a:rPr>
              <a:t>APP</a:t>
            </a:r>
            <a:endParaRPr sz="600">
              <a:latin typeface="Lucida Sans"/>
              <a:cs typeface="Lucida Sans"/>
            </a:endParaRPr>
          </a:p>
        </p:txBody>
      </p:sp>
      <p:grpSp>
        <p:nvGrpSpPr>
          <p:cNvPr id="128" name="object 128" descr=""/>
          <p:cNvGrpSpPr/>
          <p:nvPr/>
        </p:nvGrpSpPr>
        <p:grpSpPr>
          <a:xfrm>
            <a:off x="282534" y="1843921"/>
            <a:ext cx="8514715" cy="1907539"/>
            <a:chOff x="282534" y="1843921"/>
            <a:chExt cx="8514715" cy="1907539"/>
          </a:xfrm>
        </p:grpSpPr>
        <p:pic>
          <p:nvPicPr>
            <p:cNvPr id="129" name="object 12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5412" y="3287168"/>
              <a:ext cx="463873" cy="463874"/>
            </a:xfrm>
            <a:prstGeom prst="rect">
              <a:avLst/>
            </a:prstGeom>
          </p:spPr>
        </p:pic>
        <p:sp>
          <p:nvSpPr>
            <p:cNvPr id="130" name="object 130" descr=""/>
            <p:cNvSpPr/>
            <p:nvPr/>
          </p:nvSpPr>
          <p:spPr>
            <a:xfrm>
              <a:off x="5982888" y="1955671"/>
              <a:ext cx="761365" cy="362585"/>
            </a:xfrm>
            <a:custGeom>
              <a:avLst/>
              <a:gdLst/>
              <a:ahLst/>
              <a:cxnLst/>
              <a:rect l="l" t="t" r="r" b="b"/>
              <a:pathLst>
                <a:path w="761365" h="362585">
                  <a:moveTo>
                    <a:pt x="760798" y="0"/>
                  </a:moveTo>
                  <a:lnTo>
                    <a:pt x="0" y="362136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5943838" y="2303602"/>
              <a:ext cx="46355" cy="33020"/>
            </a:xfrm>
            <a:custGeom>
              <a:avLst/>
              <a:gdLst/>
              <a:ahLst/>
              <a:cxnLst/>
              <a:rect l="l" t="t" r="r" b="b"/>
              <a:pathLst>
                <a:path w="46354" h="33019">
                  <a:moveTo>
                    <a:pt x="0" y="32784"/>
                  </a:moveTo>
                  <a:lnTo>
                    <a:pt x="32274" y="0"/>
                  </a:lnTo>
                  <a:lnTo>
                    <a:pt x="45799" y="28412"/>
                  </a:lnTo>
                  <a:lnTo>
                    <a:pt x="0" y="3278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5943838" y="2303602"/>
              <a:ext cx="46355" cy="33020"/>
            </a:xfrm>
            <a:custGeom>
              <a:avLst/>
              <a:gdLst/>
              <a:ahLst/>
              <a:cxnLst/>
              <a:rect l="l" t="t" r="r" b="b"/>
              <a:pathLst>
                <a:path w="46354" h="33019">
                  <a:moveTo>
                    <a:pt x="32274" y="0"/>
                  </a:moveTo>
                  <a:lnTo>
                    <a:pt x="0" y="32784"/>
                  </a:lnTo>
                  <a:lnTo>
                    <a:pt x="45799" y="28412"/>
                  </a:lnTo>
                  <a:lnTo>
                    <a:pt x="3227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434762" y="1955671"/>
              <a:ext cx="309245" cy="344170"/>
            </a:xfrm>
            <a:custGeom>
              <a:avLst/>
              <a:gdLst/>
              <a:ahLst/>
              <a:cxnLst/>
              <a:rect l="l" t="t" r="r" b="b"/>
              <a:pathLst>
                <a:path w="309245" h="344169">
                  <a:moveTo>
                    <a:pt x="308924" y="0"/>
                  </a:moveTo>
                  <a:lnTo>
                    <a:pt x="0" y="34416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6405887" y="2289332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0" y="42674"/>
                  </a:moveTo>
                  <a:lnTo>
                    <a:pt x="17149" y="0"/>
                  </a:lnTo>
                  <a:lnTo>
                    <a:pt x="40574" y="21017"/>
                  </a:lnTo>
                  <a:lnTo>
                    <a:pt x="0" y="426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405887" y="2289332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17149" y="0"/>
                  </a:moveTo>
                  <a:lnTo>
                    <a:pt x="0" y="42674"/>
                  </a:lnTo>
                  <a:lnTo>
                    <a:pt x="40574" y="21017"/>
                  </a:lnTo>
                  <a:lnTo>
                    <a:pt x="17149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6743686" y="1955671"/>
              <a:ext cx="94615" cy="332105"/>
            </a:xfrm>
            <a:custGeom>
              <a:avLst/>
              <a:gdLst/>
              <a:ahLst/>
              <a:cxnLst/>
              <a:rect l="l" t="t" r="r" b="b"/>
              <a:pathLst>
                <a:path w="94615" h="332105">
                  <a:moveTo>
                    <a:pt x="0" y="0"/>
                  </a:moveTo>
                  <a:lnTo>
                    <a:pt x="94449" y="33173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822986" y="228309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26974" y="45879"/>
                  </a:moveTo>
                  <a:lnTo>
                    <a:pt x="0" y="8614"/>
                  </a:lnTo>
                  <a:lnTo>
                    <a:pt x="30274" y="0"/>
                  </a:lnTo>
                  <a:lnTo>
                    <a:pt x="26974" y="4587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822986" y="228309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0" y="8614"/>
                  </a:moveTo>
                  <a:lnTo>
                    <a:pt x="26974" y="45879"/>
                  </a:lnTo>
                  <a:lnTo>
                    <a:pt x="30274" y="0"/>
                  </a:lnTo>
                  <a:lnTo>
                    <a:pt x="0" y="861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5931362" y="3019943"/>
              <a:ext cx="411480" cy="224790"/>
            </a:xfrm>
            <a:custGeom>
              <a:avLst/>
              <a:gdLst/>
              <a:ahLst/>
              <a:cxnLst/>
              <a:rect l="l" t="t" r="r" b="b"/>
              <a:pathLst>
                <a:path w="411479" h="224789">
                  <a:moveTo>
                    <a:pt x="0" y="0"/>
                  </a:moveTo>
                  <a:lnTo>
                    <a:pt x="410949" y="22457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6334762" y="323071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474" y="34549"/>
                  </a:moveTo>
                  <a:lnTo>
                    <a:pt x="0" y="27624"/>
                  </a:lnTo>
                  <a:lnTo>
                    <a:pt x="15099" y="0"/>
                  </a:lnTo>
                  <a:lnTo>
                    <a:pt x="45474" y="345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6334762" y="323071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0" y="27624"/>
                  </a:moveTo>
                  <a:lnTo>
                    <a:pt x="45474" y="34549"/>
                  </a:lnTo>
                  <a:lnTo>
                    <a:pt x="15099" y="0"/>
                  </a:lnTo>
                  <a:lnTo>
                    <a:pt x="0" y="276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5931362" y="3019943"/>
              <a:ext cx="1270" cy="194945"/>
            </a:xfrm>
            <a:custGeom>
              <a:avLst/>
              <a:gdLst/>
              <a:ahLst/>
              <a:cxnLst/>
              <a:rect l="l" t="t" r="r" b="b"/>
              <a:pathLst>
                <a:path w="1270" h="194944">
                  <a:moveTo>
                    <a:pt x="0" y="0"/>
                  </a:moveTo>
                  <a:lnTo>
                    <a:pt x="1174" y="1948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5916788" y="32146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999" y="43324"/>
                  </a:moveTo>
                  <a:lnTo>
                    <a:pt x="0" y="199"/>
                  </a:lnTo>
                  <a:lnTo>
                    <a:pt x="31474" y="0"/>
                  </a:lnTo>
                  <a:lnTo>
                    <a:pt x="15999" y="433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5916788" y="32146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199"/>
                  </a:moveTo>
                  <a:lnTo>
                    <a:pt x="15999" y="43324"/>
                  </a:lnTo>
                  <a:lnTo>
                    <a:pt x="31474" y="0"/>
                  </a:lnTo>
                  <a:lnTo>
                    <a:pt x="0" y="1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5931362" y="3019943"/>
              <a:ext cx="857885" cy="236854"/>
            </a:xfrm>
            <a:custGeom>
              <a:avLst/>
              <a:gdLst/>
              <a:ahLst/>
              <a:cxnLst/>
              <a:rect l="l" t="t" r="r" b="b"/>
              <a:pathLst>
                <a:path w="857884" h="236854">
                  <a:moveTo>
                    <a:pt x="0" y="0"/>
                  </a:moveTo>
                  <a:lnTo>
                    <a:pt x="857823" y="23677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6784986" y="324156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0" y="30324"/>
                  </a:moveTo>
                  <a:lnTo>
                    <a:pt x="8374" y="0"/>
                  </a:lnTo>
                  <a:lnTo>
                    <a:pt x="45849" y="26674"/>
                  </a:lnTo>
                  <a:lnTo>
                    <a:pt x="0" y="303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6784986" y="324156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0" y="30324"/>
                  </a:moveTo>
                  <a:lnTo>
                    <a:pt x="45849" y="26674"/>
                  </a:lnTo>
                  <a:lnTo>
                    <a:pt x="8374" y="0"/>
                  </a:lnTo>
                  <a:lnTo>
                    <a:pt x="0" y="303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6436911" y="3019943"/>
              <a:ext cx="417195" cy="239395"/>
            </a:xfrm>
            <a:custGeom>
              <a:avLst/>
              <a:gdLst/>
              <a:ahLst/>
              <a:cxnLst/>
              <a:rect l="l" t="t" r="r" b="b"/>
              <a:pathLst>
                <a:path w="417195" h="239395">
                  <a:moveTo>
                    <a:pt x="416924" y="0"/>
                  </a:moveTo>
                  <a:lnTo>
                    <a:pt x="0" y="23887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6399412" y="3245168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0" y="35149"/>
                  </a:moveTo>
                  <a:lnTo>
                    <a:pt x="29674" y="0"/>
                  </a:lnTo>
                  <a:lnTo>
                    <a:pt x="45324" y="27299"/>
                  </a:lnTo>
                  <a:lnTo>
                    <a:pt x="0" y="351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6399412" y="3245168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29674" y="0"/>
                  </a:moveTo>
                  <a:lnTo>
                    <a:pt x="0" y="35149"/>
                  </a:lnTo>
                  <a:lnTo>
                    <a:pt x="45324" y="27299"/>
                  </a:lnTo>
                  <a:lnTo>
                    <a:pt x="2967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5982638" y="3019943"/>
              <a:ext cx="871219" cy="251460"/>
            </a:xfrm>
            <a:custGeom>
              <a:avLst/>
              <a:gdLst/>
              <a:ahLst/>
              <a:cxnLst/>
              <a:rect l="l" t="t" r="r" b="b"/>
              <a:pathLst>
                <a:path w="871220" h="251460">
                  <a:moveTo>
                    <a:pt x="871198" y="0"/>
                  </a:moveTo>
                  <a:lnTo>
                    <a:pt x="0" y="2514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5941113" y="325626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45899" y="30224"/>
                  </a:moveTo>
                  <a:lnTo>
                    <a:pt x="0" y="27099"/>
                  </a:lnTo>
                  <a:lnTo>
                    <a:pt x="37174" y="0"/>
                  </a:lnTo>
                  <a:lnTo>
                    <a:pt x="45899" y="302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5941113" y="325626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37174" y="0"/>
                  </a:moveTo>
                  <a:lnTo>
                    <a:pt x="0" y="27099"/>
                  </a:lnTo>
                  <a:lnTo>
                    <a:pt x="45899" y="30224"/>
                  </a:lnTo>
                  <a:lnTo>
                    <a:pt x="3717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6842261" y="3019943"/>
              <a:ext cx="12065" cy="210820"/>
            </a:xfrm>
            <a:custGeom>
              <a:avLst/>
              <a:gdLst/>
              <a:ahLst/>
              <a:cxnLst/>
              <a:rect l="l" t="t" r="r" b="b"/>
              <a:pathLst>
                <a:path w="12065" h="210819">
                  <a:moveTo>
                    <a:pt x="11574" y="0"/>
                  </a:moveTo>
                  <a:lnTo>
                    <a:pt x="0" y="2102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6826561" y="32293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3324" y="44024"/>
                  </a:moveTo>
                  <a:lnTo>
                    <a:pt x="0" y="0"/>
                  </a:lnTo>
                  <a:lnTo>
                    <a:pt x="31424" y="1724"/>
                  </a:lnTo>
                  <a:lnTo>
                    <a:pt x="13324" y="440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6826561" y="32293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3324" y="44024"/>
                  </a:lnTo>
                  <a:lnTo>
                    <a:pt x="31424" y="17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6393512" y="3019943"/>
              <a:ext cx="3175" cy="194945"/>
            </a:xfrm>
            <a:custGeom>
              <a:avLst/>
              <a:gdLst/>
              <a:ahLst/>
              <a:cxnLst/>
              <a:rect l="l" t="t" r="r" b="b"/>
              <a:pathLst>
                <a:path w="3175" h="194944">
                  <a:moveTo>
                    <a:pt x="3024" y="0"/>
                  </a:moveTo>
                  <a:lnTo>
                    <a:pt x="0" y="1948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6377787" y="32145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049" y="43474"/>
                  </a:moveTo>
                  <a:lnTo>
                    <a:pt x="0" y="0"/>
                  </a:lnTo>
                  <a:lnTo>
                    <a:pt x="31449" y="499"/>
                  </a:lnTo>
                  <a:lnTo>
                    <a:pt x="15049" y="434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6377787" y="32145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049" y="43474"/>
                  </a:lnTo>
                  <a:lnTo>
                    <a:pt x="31449" y="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5977287" y="3019943"/>
              <a:ext cx="419734" cy="239395"/>
            </a:xfrm>
            <a:custGeom>
              <a:avLst/>
              <a:gdLst/>
              <a:ahLst/>
              <a:cxnLst/>
              <a:rect l="l" t="t" r="r" b="b"/>
              <a:pathLst>
                <a:path w="419735" h="239395">
                  <a:moveTo>
                    <a:pt x="419249" y="0"/>
                  </a:moveTo>
                  <a:lnTo>
                    <a:pt x="0" y="2389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5939737" y="3245268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0" y="35074"/>
                  </a:moveTo>
                  <a:lnTo>
                    <a:pt x="29749" y="0"/>
                  </a:lnTo>
                  <a:lnTo>
                    <a:pt x="45324" y="27324"/>
                  </a:lnTo>
                  <a:lnTo>
                    <a:pt x="0" y="350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5939737" y="3245268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29749" y="0"/>
                  </a:moveTo>
                  <a:lnTo>
                    <a:pt x="0" y="35074"/>
                  </a:lnTo>
                  <a:lnTo>
                    <a:pt x="45324" y="27324"/>
                  </a:lnTo>
                  <a:lnTo>
                    <a:pt x="29749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6396537" y="3019943"/>
              <a:ext cx="398145" cy="224154"/>
            </a:xfrm>
            <a:custGeom>
              <a:avLst/>
              <a:gdLst/>
              <a:ahLst/>
              <a:cxnLst/>
              <a:rect l="l" t="t" r="r" b="b"/>
              <a:pathLst>
                <a:path w="398145" h="224155">
                  <a:moveTo>
                    <a:pt x="0" y="0"/>
                  </a:moveTo>
                  <a:lnTo>
                    <a:pt x="397799" y="2239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6786611" y="3230193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374" y="34899"/>
                  </a:moveTo>
                  <a:lnTo>
                    <a:pt x="0" y="27424"/>
                  </a:lnTo>
                  <a:lnTo>
                    <a:pt x="15424" y="0"/>
                  </a:lnTo>
                  <a:lnTo>
                    <a:pt x="45374" y="3489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6786611" y="3230193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0" y="27424"/>
                  </a:moveTo>
                  <a:lnTo>
                    <a:pt x="45374" y="34899"/>
                  </a:lnTo>
                  <a:lnTo>
                    <a:pt x="15424" y="0"/>
                  </a:lnTo>
                  <a:lnTo>
                    <a:pt x="0" y="274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2534" y="1843921"/>
              <a:ext cx="825663" cy="296329"/>
            </a:xfrm>
            <a:prstGeom prst="rect">
              <a:avLst/>
            </a:prstGeom>
          </p:spPr>
        </p:pic>
        <p:pic>
          <p:nvPicPr>
            <p:cNvPr id="167" name="object 16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971034" y="1843921"/>
              <a:ext cx="825648" cy="296329"/>
            </a:xfrm>
            <a:prstGeom prst="rect">
              <a:avLst/>
            </a:prstGeom>
          </p:spPr>
        </p:pic>
        <p:sp>
          <p:nvSpPr>
            <p:cNvPr id="168" name="object 168" descr=""/>
            <p:cNvSpPr/>
            <p:nvPr/>
          </p:nvSpPr>
          <p:spPr>
            <a:xfrm>
              <a:off x="3564767" y="2218033"/>
              <a:ext cx="657860" cy="779145"/>
            </a:xfrm>
            <a:custGeom>
              <a:avLst/>
              <a:gdLst/>
              <a:ahLst/>
              <a:cxnLst/>
              <a:rect l="l" t="t" r="r" b="b"/>
              <a:pathLst>
                <a:path w="657860" h="779144">
                  <a:moveTo>
                    <a:pt x="657298" y="779110"/>
                  </a:moveTo>
                  <a:lnTo>
                    <a:pt x="0" y="779110"/>
                  </a:lnTo>
                  <a:lnTo>
                    <a:pt x="0" y="0"/>
                  </a:lnTo>
                  <a:lnTo>
                    <a:pt x="657298" y="0"/>
                  </a:lnTo>
                  <a:lnTo>
                    <a:pt x="657298" y="77911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3564767" y="2218033"/>
              <a:ext cx="657860" cy="779145"/>
            </a:xfrm>
            <a:custGeom>
              <a:avLst/>
              <a:gdLst/>
              <a:ahLst/>
              <a:cxnLst/>
              <a:rect l="l" t="t" r="r" b="b"/>
              <a:pathLst>
                <a:path w="657860" h="779144">
                  <a:moveTo>
                    <a:pt x="0" y="0"/>
                  </a:moveTo>
                  <a:lnTo>
                    <a:pt x="657298" y="0"/>
                  </a:lnTo>
                  <a:lnTo>
                    <a:pt x="657298" y="779110"/>
                  </a:lnTo>
                  <a:lnTo>
                    <a:pt x="0" y="77911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619142" y="2296484"/>
              <a:ext cx="582891" cy="230885"/>
            </a:xfrm>
            <a:prstGeom prst="rect">
              <a:avLst/>
            </a:prstGeom>
          </p:spPr>
        </p:pic>
        <p:pic>
          <p:nvPicPr>
            <p:cNvPr id="171" name="object 17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41667" y="2567772"/>
              <a:ext cx="324496" cy="324496"/>
            </a:xfrm>
            <a:prstGeom prst="rect">
              <a:avLst/>
            </a:prstGeom>
          </p:spPr>
        </p:pic>
      </p:grpSp>
      <p:sp>
        <p:nvSpPr>
          <p:cNvPr id="172" name="object 172" descr=""/>
          <p:cNvSpPr txBox="1"/>
          <p:nvPr/>
        </p:nvSpPr>
        <p:spPr>
          <a:xfrm>
            <a:off x="3628911" y="1951058"/>
            <a:ext cx="5334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477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latin typeface="Batang"/>
                <a:cs typeface="Batang"/>
              </a:rPr>
              <a:t>이미지 </a:t>
            </a:r>
            <a:r>
              <a:rPr dirty="0" sz="800" spc="-10">
                <a:latin typeface="Batang"/>
                <a:cs typeface="Batang"/>
              </a:rPr>
              <a:t>중앙저장소</a:t>
            </a:r>
            <a:endParaRPr sz="800">
              <a:latin typeface="Batang"/>
              <a:cs typeface="Batang"/>
            </a:endParaRPr>
          </a:p>
        </p:txBody>
      </p:sp>
      <p:grpSp>
        <p:nvGrpSpPr>
          <p:cNvPr id="173" name="object 173" descr=""/>
          <p:cNvGrpSpPr/>
          <p:nvPr/>
        </p:nvGrpSpPr>
        <p:grpSpPr>
          <a:xfrm>
            <a:off x="3327155" y="3006256"/>
            <a:ext cx="2359660" cy="530225"/>
            <a:chOff x="3327155" y="3006256"/>
            <a:chExt cx="2359660" cy="530225"/>
          </a:xfrm>
        </p:grpSpPr>
        <p:sp>
          <p:nvSpPr>
            <p:cNvPr id="174" name="object 174" descr=""/>
            <p:cNvSpPr/>
            <p:nvPr/>
          </p:nvSpPr>
          <p:spPr>
            <a:xfrm>
              <a:off x="3375093" y="3054093"/>
              <a:ext cx="513715" cy="452755"/>
            </a:xfrm>
            <a:custGeom>
              <a:avLst/>
              <a:gdLst/>
              <a:ahLst/>
              <a:cxnLst/>
              <a:rect l="l" t="t" r="r" b="b"/>
              <a:pathLst>
                <a:path w="513714" h="452754">
                  <a:moveTo>
                    <a:pt x="513698" y="0"/>
                  </a:moveTo>
                  <a:lnTo>
                    <a:pt x="513198" y="3024"/>
                  </a:lnTo>
                  <a:lnTo>
                    <a:pt x="512523" y="7024"/>
                  </a:lnTo>
                  <a:lnTo>
                    <a:pt x="511798" y="10999"/>
                  </a:lnTo>
                  <a:lnTo>
                    <a:pt x="510973" y="14974"/>
                  </a:lnTo>
                  <a:lnTo>
                    <a:pt x="509373" y="22899"/>
                  </a:lnTo>
                  <a:lnTo>
                    <a:pt x="498352" y="62289"/>
                  </a:lnTo>
                  <a:lnTo>
                    <a:pt x="480051" y="108678"/>
                  </a:lnTo>
                  <a:lnTo>
                    <a:pt x="442836" y="175676"/>
                  </a:lnTo>
                  <a:lnTo>
                    <a:pt x="412139" y="218071"/>
                  </a:lnTo>
                  <a:lnTo>
                    <a:pt x="377229" y="258211"/>
                  </a:lnTo>
                  <a:lnTo>
                    <a:pt x="338524" y="295724"/>
                  </a:lnTo>
                  <a:lnTo>
                    <a:pt x="296449" y="330232"/>
                  </a:lnTo>
                  <a:lnTo>
                    <a:pt x="251427" y="361355"/>
                  </a:lnTo>
                  <a:lnTo>
                    <a:pt x="203879" y="388719"/>
                  </a:lnTo>
                  <a:lnTo>
                    <a:pt x="154224" y="411949"/>
                  </a:lnTo>
                  <a:lnTo>
                    <a:pt x="102865" y="430674"/>
                  </a:lnTo>
                  <a:lnTo>
                    <a:pt x="50249" y="444524"/>
                  </a:lnTo>
                  <a:lnTo>
                    <a:pt x="10224" y="451474"/>
                  </a:lnTo>
                  <a:lnTo>
                    <a:pt x="5749" y="452049"/>
                  </a:lnTo>
                  <a:lnTo>
                    <a:pt x="3524" y="452324"/>
                  </a:lnTo>
                  <a:lnTo>
                    <a:pt x="0" y="4527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3873117" y="30110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349" y="44349"/>
                  </a:moveTo>
                  <a:lnTo>
                    <a:pt x="0" y="41799"/>
                  </a:lnTo>
                  <a:lnTo>
                    <a:pt x="19174" y="0"/>
                  </a:lnTo>
                  <a:lnTo>
                    <a:pt x="31349" y="443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3873117" y="30110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349" y="44349"/>
                  </a:moveTo>
                  <a:lnTo>
                    <a:pt x="19174" y="0"/>
                  </a:lnTo>
                  <a:lnTo>
                    <a:pt x="0" y="41799"/>
                  </a:lnTo>
                  <a:lnTo>
                    <a:pt x="31349" y="443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3331918" y="349111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44074" y="31399"/>
                  </a:moveTo>
                  <a:lnTo>
                    <a:pt x="0" y="18199"/>
                  </a:lnTo>
                  <a:lnTo>
                    <a:pt x="42249" y="0"/>
                  </a:lnTo>
                  <a:lnTo>
                    <a:pt x="44074" y="3139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3331918" y="349111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42249" y="0"/>
                  </a:moveTo>
                  <a:lnTo>
                    <a:pt x="0" y="18199"/>
                  </a:lnTo>
                  <a:lnTo>
                    <a:pt x="44074" y="31399"/>
                  </a:lnTo>
                  <a:lnTo>
                    <a:pt x="42249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5109939" y="3054093"/>
              <a:ext cx="528955" cy="462280"/>
            </a:xfrm>
            <a:custGeom>
              <a:avLst/>
              <a:gdLst/>
              <a:ahLst/>
              <a:cxnLst/>
              <a:rect l="l" t="t" r="r" b="b"/>
              <a:pathLst>
                <a:path w="528954" h="462279">
                  <a:moveTo>
                    <a:pt x="0" y="0"/>
                  </a:moveTo>
                  <a:lnTo>
                    <a:pt x="674" y="4074"/>
                  </a:lnTo>
                  <a:lnTo>
                    <a:pt x="1374" y="8149"/>
                  </a:lnTo>
                  <a:lnTo>
                    <a:pt x="2124" y="12174"/>
                  </a:lnTo>
                  <a:lnTo>
                    <a:pt x="2949" y="16224"/>
                  </a:lnTo>
                  <a:lnTo>
                    <a:pt x="4599" y="24324"/>
                  </a:lnTo>
                  <a:lnTo>
                    <a:pt x="15908" y="64387"/>
                  </a:lnTo>
                  <a:lnTo>
                    <a:pt x="34697" y="111584"/>
                  </a:lnTo>
                  <a:lnTo>
                    <a:pt x="72880" y="179753"/>
                  </a:lnTo>
                  <a:lnTo>
                    <a:pt x="104371" y="222896"/>
                  </a:lnTo>
                  <a:lnTo>
                    <a:pt x="140189" y="263747"/>
                  </a:lnTo>
                  <a:lnTo>
                    <a:pt x="179899" y="301924"/>
                  </a:lnTo>
                  <a:lnTo>
                    <a:pt x="223069" y="337026"/>
                  </a:lnTo>
                  <a:lnTo>
                    <a:pt x="269268" y="368689"/>
                  </a:lnTo>
                  <a:lnTo>
                    <a:pt x="318063" y="396533"/>
                  </a:lnTo>
                  <a:lnTo>
                    <a:pt x="369024" y="420174"/>
                  </a:lnTo>
                  <a:lnTo>
                    <a:pt x="421702" y="439233"/>
                  </a:lnTo>
                  <a:lnTo>
                    <a:pt x="475674" y="453324"/>
                  </a:lnTo>
                  <a:lnTo>
                    <a:pt x="516748" y="460374"/>
                  </a:lnTo>
                  <a:lnTo>
                    <a:pt x="519048" y="460699"/>
                  </a:lnTo>
                  <a:lnTo>
                    <a:pt x="521348" y="460974"/>
                  </a:lnTo>
                  <a:lnTo>
                    <a:pt x="523648" y="461249"/>
                  </a:lnTo>
                  <a:lnTo>
                    <a:pt x="528748" y="4618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5094264" y="30110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44349"/>
                  </a:moveTo>
                  <a:lnTo>
                    <a:pt x="12199" y="0"/>
                  </a:lnTo>
                  <a:lnTo>
                    <a:pt x="31374" y="41799"/>
                  </a:lnTo>
                  <a:lnTo>
                    <a:pt x="0" y="443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5094264" y="30110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374" y="41799"/>
                  </a:moveTo>
                  <a:lnTo>
                    <a:pt x="12199" y="0"/>
                  </a:lnTo>
                  <a:lnTo>
                    <a:pt x="0" y="44349"/>
                  </a:lnTo>
                  <a:lnTo>
                    <a:pt x="31374" y="417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5637813" y="350021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424"/>
                  </a:moveTo>
                  <a:lnTo>
                    <a:pt x="1749" y="0"/>
                  </a:lnTo>
                  <a:lnTo>
                    <a:pt x="44024" y="18124"/>
                  </a:lnTo>
                  <a:lnTo>
                    <a:pt x="0" y="314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5637813" y="350021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424"/>
                  </a:moveTo>
                  <a:lnTo>
                    <a:pt x="44024" y="18124"/>
                  </a:lnTo>
                  <a:lnTo>
                    <a:pt x="1749" y="0"/>
                  </a:lnTo>
                  <a:lnTo>
                    <a:pt x="0" y="3142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 descr=""/>
          <p:cNvSpPr txBox="1"/>
          <p:nvPr/>
        </p:nvSpPr>
        <p:spPr>
          <a:xfrm>
            <a:off x="3518361" y="3410482"/>
            <a:ext cx="5086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255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Image Push/Pull</a:t>
            </a:r>
            <a:endParaRPr sz="900">
              <a:latin typeface="Arial"/>
              <a:cs typeface="Arial"/>
            </a:endParaRPr>
          </a:p>
        </p:txBody>
      </p:sp>
      <p:sp>
        <p:nvSpPr>
          <p:cNvPr id="185" name="object 185" descr=""/>
          <p:cNvSpPr txBox="1"/>
          <p:nvPr/>
        </p:nvSpPr>
        <p:spPr>
          <a:xfrm>
            <a:off x="7282871" y="1860368"/>
            <a:ext cx="35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DR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6" name="object 186" descr=""/>
          <p:cNvSpPr txBox="1"/>
          <p:nvPr/>
        </p:nvSpPr>
        <p:spPr>
          <a:xfrm>
            <a:off x="1355264" y="1819239"/>
            <a:ext cx="508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PRD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7" name="object 187" descr=""/>
          <p:cNvGrpSpPr/>
          <p:nvPr/>
        </p:nvGrpSpPr>
        <p:grpSpPr>
          <a:xfrm>
            <a:off x="4771927" y="2213270"/>
            <a:ext cx="667385" cy="788670"/>
            <a:chOff x="4771927" y="2213270"/>
            <a:chExt cx="667385" cy="788670"/>
          </a:xfrm>
        </p:grpSpPr>
        <p:sp>
          <p:nvSpPr>
            <p:cNvPr id="188" name="object 188" descr=""/>
            <p:cNvSpPr/>
            <p:nvPr/>
          </p:nvSpPr>
          <p:spPr>
            <a:xfrm>
              <a:off x="4776690" y="2218033"/>
              <a:ext cx="657860" cy="779145"/>
            </a:xfrm>
            <a:custGeom>
              <a:avLst/>
              <a:gdLst/>
              <a:ahLst/>
              <a:cxnLst/>
              <a:rect l="l" t="t" r="r" b="b"/>
              <a:pathLst>
                <a:path w="657860" h="779144">
                  <a:moveTo>
                    <a:pt x="657298" y="779110"/>
                  </a:moveTo>
                  <a:lnTo>
                    <a:pt x="0" y="779110"/>
                  </a:lnTo>
                  <a:lnTo>
                    <a:pt x="0" y="0"/>
                  </a:lnTo>
                  <a:lnTo>
                    <a:pt x="657298" y="0"/>
                  </a:lnTo>
                  <a:lnTo>
                    <a:pt x="657298" y="77911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4776690" y="2218033"/>
              <a:ext cx="657860" cy="779145"/>
            </a:xfrm>
            <a:custGeom>
              <a:avLst/>
              <a:gdLst/>
              <a:ahLst/>
              <a:cxnLst/>
              <a:rect l="l" t="t" r="r" b="b"/>
              <a:pathLst>
                <a:path w="657860" h="779144">
                  <a:moveTo>
                    <a:pt x="0" y="0"/>
                  </a:moveTo>
                  <a:lnTo>
                    <a:pt x="657298" y="0"/>
                  </a:lnTo>
                  <a:lnTo>
                    <a:pt x="657298" y="779110"/>
                  </a:lnTo>
                  <a:lnTo>
                    <a:pt x="0" y="77911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0" name="object 19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31065" y="2296484"/>
              <a:ext cx="582873" cy="230885"/>
            </a:xfrm>
            <a:prstGeom prst="rect">
              <a:avLst/>
            </a:prstGeom>
          </p:spPr>
        </p:pic>
        <p:pic>
          <p:nvPicPr>
            <p:cNvPr id="191" name="object 19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53589" y="2567772"/>
              <a:ext cx="324496" cy="324496"/>
            </a:xfrm>
            <a:prstGeom prst="rect">
              <a:avLst/>
            </a:prstGeom>
          </p:spPr>
        </p:pic>
      </p:grpSp>
      <p:sp>
        <p:nvSpPr>
          <p:cNvPr id="192" name="object 192" descr=""/>
          <p:cNvSpPr txBox="1"/>
          <p:nvPr/>
        </p:nvSpPr>
        <p:spPr>
          <a:xfrm>
            <a:off x="4841146" y="1955640"/>
            <a:ext cx="5334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4775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latin typeface="Batang"/>
                <a:cs typeface="Batang"/>
              </a:rPr>
              <a:t>이미지 </a:t>
            </a:r>
            <a:r>
              <a:rPr dirty="0" sz="800" spc="-10">
                <a:latin typeface="Batang"/>
                <a:cs typeface="Batang"/>
              </a:rPr>
              <a:t>중앙저장소</a:t>
            </a:r>
            <a:endParaRPr sz="800">
              <a:latin typeface="Batang"/>
              <a:cs typeface="Batang"/>
            </a:endParaRPr>
          </a:p>
        </p:txBody>
      </p:sp>
      <p:sp>
        <p:nvSpPr>
          <p:cNvPr id="193" name="object 193" descr=""/>
          <p:cNvSpPr txBox="1"/>
          <p:nvPr/>
        </p:nvSpPr>
        <p:spPr>
          <a:xfrm>
            <a:off x="4928945" y="3432628"/>
            <a:ext cx="5086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255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Image Push/Pull</a:t>
            </a:r>
            <a:endParaRPr sz="900">
              <a:latin typeface="Arial"/>
              <a:cs typeface="Arial"/>
            </a:endParaRPr>
          </a:p>
        </p:txBody>
      </p:sp>
      <p:sp>
        <p:nvSpPr>
          <p:cNvPr id="194" name="object 194" descr=""/>
          <p:cNvSpPr txBox="1"/>
          <p:nvPr/>
        </p:nvSpPr>
        <p:spPr>
          <a:xfrm>
            <a:off x="4332452" y="2236757"/>
            <a:ext cx="343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Image</a:t>
            </a:r>
            <a:endParaRPr sz="900">
              <a:latin typeface="Arial"/>
              <a:cs typeface="Arial"/>
            </a:endParaRPr>
          </a:p>
          <a:p>
            <a:pPr marL="57150">
              <a:lnSpc>
                <a:spcPct val="100000"/>
              </a:lnSpc>
            </a:pPr>
            <a:r>
              <a:rPr dirty="0" sz="900" spc="-25">
                <a:latin typeface="Batang"/>
                <a:cs typeface="Batang"/>
              </a:rPr>
              <a:t>복제</a:t>
            </a:r>
            <a:endParaRPr sz="900">
              <a:latin typeface="Batang"/>
              <a:cs typeface="Batang"/>
            </a:endParaRPr>
          </a:p>
        </p:txBody>
      </p:sp>
      <p:grpSp>
        <p:nvGrpSpPr>
          <p:cNvPr id="195" name="object 195" descr=""/>
          <p:cNvGrpSpPr/>
          <p:nvPr/>
        </p:nvGrpSpPr>
        <p:grpSpPr>
          <a:xfrm>
            <a:off x="4217303" y="2587682"/>
            <a:ext cx="550545" cy="41275"/>
            <a:chOff x="4217303" y="2587682"/>
            <a:chExt cx="550545" cy="41275"/>
          </a:xfrm>
        </p:grpSpPr>
        <p:sp>
          <p:nvSpPr>
            <p:cNvPr id="196" name="object 196" descr=""/>
            <p:cNvSpPr/>
            <p:nvPr/>
          </p:nvSpPr>
          <p:spPr>
            <a:xfrm>
              <a:off x="4222066" y="2607594"/>
              <a:ext cx="497840" cy="635"/>
            </a:xfrm>
            <a:custGeom>
              <a:avLst/>
              <a:gdLst/>
              <a:ahLst/>
              <a:cxnLst/>
              <a:rect l="l" t="t" r="r" b="b"/>
              <a:pathLst>
                <a:path w="497839" h="635">
                  <a:moveTo>
                    <a:pt x="0" y="0"/>
                  </a:moveTo>
                  <a:lnTo>
                    <a:pt x="75437" y="16"/>
                  </a:lnTo>
                  <a:lnTo>
                    <a:pt x="137560" y="62"/>
                  </a:lnTo>
                  <a:lnTo>
                    <a:pt x="189696" y="129"/>
                  </a:lnTo>
                  <a:lnTo>
                    <a:pt x="235174" y="211"/>
                  </a:lnTo>
                  <a:lnTo>
                    <a:pt x="277324" y="299"/>
                  </a:lnTo>
                  <a:lnTo>
                    <a:pt x="303465" y="355"/>
                  </a:lnTo>
                  <a:lnTo>
                    <a:pt x="330418" y="409"/>
                  </a:lnTo>
                  <a:lnTo>
                    <a:pt x="389999" y="499"/>
                  </a:lnTo>
                  <a:lnTo>
                    <a:pt x="442881" y="545"/>
                  </a:lnTo>
                  <a:lnTo>
                    <a:pt x="462599" y="549"/>
                  </a:lnTo>
                  <a:lnTo>
                    <a:pt x="497548" y="57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4719615" y="25924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24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4719615" y="25924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24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 descr=""/>
          <p:cNvSpPr txBox="1"/>
          <p:nvPr/>
        </p:nvSpPr>
        <p:spPr>
          <a:xfrm>
            <a:off x="5692695" y="1420647"/>
            <a:ext cx="14922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450" marR="5080" indent="520065">
              <a:lnSpc>
                <a:spcPct val="1499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DR</a:t>
            </a:r>
            <a:r>
              <a:rPr dirty="0" sz="900" spc="-10">
                <a:latin typeface="Batang"/>
                <a:cs typeface="Batang"/>
              </a:rPr>
              <a:t>용</a:t>
            </a:r>
            <a:r>
              <a:rPr dirty="0" sz="900" spc="-50">
                <a:latin typeface="Batang"/>
                <a:cs typeface="Batang"/>
              </a:rPr>
              <a:t> </a:t>
            </a:r>
            <a:r>
              <a:rPr dirty="0" sz="900" spc="-10">
                <a:latin typeface="Batang"/>
                <a:cs typeface="Batang"/>
              </a:rPr>
              <a:t>서비스</a:t>
            </a:r>
            <a:r>
              <a:rPr dirty="0" sz="900" spc="-55">
                <a:latin typeface="Batang"/>
                <a:cs typeface="Batang"/>
              </a:rPr>
              <a:t> </a:t>
            </a:r>
            <a:r>
              <a:rPr dirty="0" sz="900" spc="-25">
                <a:latin typeface="Arial"/>
                <a:cs typeface="Arial"/>
              </a:rPr>
              <a:t>URL </a:t>
            </a:r>
            <a:r>
              <a:rPr dirty="0" sz="900" spc="-10">
                <a:latin typeface="Arial"/>
                <a:cs typeface="Arial"/>
              </a:rPr>
              <a:t>Cluster-Level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latin typeface="Arial"/>
                <a:cs typeface="Arial"/>
              </a:rPr>
              <a:t>Load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Balancer</a:t>
            </a:r>
            <a:endParaRPr sz="900">
              <a:latin typeface="Arial"/>
              <a:cs typeface="Arial"/>
            </a:endParaRPr>
          </a:p>
        </p:txBody>
      </p:sp>
      <p:sp>
        <p:nvSpPr>
          <p:cNvPr id="200" name="object 200" descr=""/>
          <p:cNvSpPr txBox="1"/>
          <p:nvPr/>
        </p:nvSpPr>
        <p:spPr>
          <a:xfrm>
            <a:off x="1782137" y="1499628"/>
            <a:ext cx="10160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PRD</a:t>
            </a:r>
            <a:r>
              <a:rPr dirty="0" sz="900">
                <a:latin typeface="Batang"/>
                <a:cs typeface="Batang"/>
              </a:rPr>
              <a:t>용</a:t>
            </a:r>
            <a:r>
              <a:rPr dirty="0" sz="900" spc="-60">
                <a:latin typeface="Batang"/>
                <a:cs typeface="Batang"/>
              </a:rPr>
              <a:t> </a:t>
            </a:r>
            <a:r>
              <a:rPr dirty="0" sz="900">
                <a:latin typeface="Batang"/>
                <a:cs typeface="Batang"/>
              </a:rPr>
              <a:t>서비스</a:t>
            </a:r>
            <a:r>
              <a:rPr dirty="0" sz="900" spc="-55">
                <a:latin typeface="Batang"/>
                <a:cs typeface="Batang"/>
              </a:rPr>
              <a:t> </a:t>
            </a:r>
            <a:r>
              <a:rPr dirty="0" sz="900" spc="-25">
                <a:latin typeface="Arial"/>
                <a:cs typeface="Arial"/>
              </a:rPr>
              <a:t>URL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1" name="object 201" descr=""/>
          <p:cNvGrpSpPr/>
          <p:nvPr/>
        </p:nvGrpSpPr>
        <p:grpSpPr>
          <a:xfrm>
            <a:off x="1167159" y="1167135"/>
            <a:ext cx="6391275" cy="3270885"/>
            <a:chOff x="1167159" y="1167135"/>
            <a:chExt cx="6391275" cy="3270885"/>
          </a:xfrm>
        </p:grpSpPr>
        <p:sp>
          <p:nvSpPr>
            <p:cNvPr id="202" name="object 202" descr=""/>
            <p:cNvSpPr/>
            <p:nvPr/>
          </p:nvSpPr>
          <p:spPr>
            <a:xfrm>
              <a:off x="1171922" y="1255902"/>
              <a:ext cx="6381750" cy="679450"/>
            </a:xfrm>
            <a:custGeom>
              <a:avLst/>
              <a:gdLst/>
              <a:ahLst/>
              <a:cxnLst/>
              <a:rect l="l" t="t" r="r" b="b"/>
              <a:pathLst>
                <a:path w="6381750" h="679450">
                  <a:moveTo>
                    <a:pt x="2855594" y="76819"/>
                  </a:moveTo>
                  <a:lnTo>
                    <a:pt x="2904313" y="72242"/>
                  </a:lnTo>
                  <a:lnTo>
                    <a:pt x="2953041" y="67680"/>
                  </a:lnTo>
                  <a:lnTo>
                    <a:pt x="3001789" y="63147"/>
                  </a:lnTo>
                  <a:lnTo>
                    <a:pt x="3050565" y="58657"/>
                  </a:lnTo>
                  <a:lnTo>
                    <a:pt x="3099379" y="54225"/>
                  </a:lnTo>
                  <a:lnTo>
                    <a:pt x="3148240" y="49865"/>
                  </a:lnTo>
                  <a:lnTo>
                    <a:pt x="3197158" y="45592"/>
                  </a:lnTo>
                  <a:lnTo>
                    <a:pt x="3246142" y="41421"/>
                  </a:lnTo>
                  <a:lnTo>
                    <a:pt x="3295203" y="37364"/>
                  </a:lnTo>
                  <a:lnTo>
                    <a:pt x="3344348" y="33438"/>
                  </a:lnTo>
                  <a:lnTo>
                    <a:pt x="3393589" y="29657"/>
                  </a:lnTo>
                  <a:lnTo>
                    <a:pt x="3442934" y="26035"/>
                  </a:lnTo>
                  <a:lnTo>
                    <a:pt x="3492393" y="22586"/>
                  </a:lnTo>
                  <a:lnTo>
                    <a:pt x="3541975" y="19325"/>
                  </a:lnTo>
                  <a:lnTo>
                    <a:pt x="3591689" y="16267"/>
                  </a:lnTo>
                  <a:lnTo>
                    <a:pt x="3641546" y="13425"/>
                  </a:lnTo>
                  <a:lnTo>
                    <a:pt x="3691555" y="10815"/>
                  </a:lnTo>
                  <a:lnTo>
                    <a:pt x="3741725" y="8451"/>
                  </a:lnTo>
                  <a:lnTo>
                    <a:pt x="3792066" y="6347"/>
                  </a:lnTo>
                  <a:lnTo>
                    <a:pt x="3842586" y="4518"/>
                  </a:lnTo>
                  <a:lnTo>
                    <a:pt x="3893297" y="2978"/>
                  </a:lnTo>
                  <a:lnTo>
                    <a:pt x="3944206" y="1742"/>
                  </a:lnTo>
                  <a:lnTo>
                    <a:pt x="3995325" y="824"/>
                  </a:lnTo>
                  <a:lnTo>
                    <a:pt x="4046661" y="238"/>
                  </a:lnTo>
                  <a:lnTo>
                    <a:pt x="4098225" y="0"/>
                  </a:lnTo>
                  <a:lnTo>
                    <a:pt x="4150026" y="123"/>
                  </a:lnTo>
                  <a:lnTo>
                    <a:pt x="4202074" y="622"/>
                  </a:lnTo>
                  <a:lnTo>
                    <a:pt x="4254377" y="1511"/>
                  </a:lnTo>
                  <a:lnTo>
                    <a:pt x="4306947" y="2805"/>
                  </a:lnTo>
                  <a:lnTo>
                    <a:pt x="4359791" y="4519"/>
                  </a:lnTo>
                  <a:lnTo>
                    <a:pt x="4408702" y="6417"/>
                  </a:lnTo>
                  <a:lnTo>
                    <a:pt x="4459022" y="8602"/>
                  </a:lnTo>
                  <a:lnTo>
                    <a:pt x="4510625" y="11070"/>
                  </a:lnTo>
                  <a:lnTo>
                    <a:pt x="4563385" y="13815"/>
                  </a:lnTo>
                  <a:lnTo>
                    <a:pt x="4617178" y="16834"/>
                  </a:lnTo>
                  <a:lnTo>
                    <a:pt x="4671879" y="20120"/>
                  </a:lnTo>
                  <a:lnTo>
                    <a:pt x="4727362" y="23669"/>
                  </a:lnTo>
                  <a:lnTo>
                    <a:pt x="4783502" y="27477"/>
                  </a:lnTo>
                  <a:lnTo>
                    <a:pt x="4840175" y="31538"/>
                  </a:lnTo>
                  <a:lnTo>
                    <a:pt x="4897255" y="35848"/>
                  </a:lnTo>
                  <a:lnTo>
                    <a:pt x="4954617" y="40401"/>
                  </a:lnTo>
                  <a:lnTo>
                    <a:pt x="5012135" y="45194"/>
                  </a:lnTo>
                  <a:lnTo>
                    <a:pt x="5069685" y="50221"/>
                  </a:lnTo>
                  <a:lnTo>
                    <a:pt x="5127142" y="55477"/>
                  </a:lnTo>
                  <a:lnTo>
                    <a:pt x="5184381" y="60958"/>
                  </a:lnTo>
                  <a:lnTo>
                    <a:pt x="5241275" y="66658"/>
                  </a:lnTo>
                  <a:lnTo>
                    <a:pt x="5297701" y="72573"/>
                  </a:lnTo>
                  <a:lnTo>
                    <a:pt x="5353533" y="78699"/>
                  </a:lnTo>
                  <a:lnTo>
                    <a:pt x="5408646" y="85029"/>
                  </a:lnTo>
                  <a:lnTo>
                    <a:pt x="5462915" y="91560"/>
                  </a:lnTo>
                  <a:lnTo>
                    <a:pt x="5516215" y="98287"/>
                  </a:lnTo>
                  <a:lnTo>
                    <a:pt x="5568420" y="105204"/>
                  </a:lnTo>
                  <a:lnTo>
                    <a:pt x="5619406" y="112307"/>
                  </a:lnTo>
                  <a:lnTo>
                    <a:pt x="5669047" y="119591"/>
                  </a:lnTo>
                  <a:lnTo>
                    <a:pt x="5717218" y="127052"/>
                  </a:lnTo>
                  <a:lnTo>
                    <a:pt x="5763794" y="134684"/>
                  </a:lnTo>
                  <a:lnTo>
                    <a:pt x="5808651" y="142482"/>
                  </a:lnTo>
                  <a:lnTo>
                    <a:pt x="5851662" y="150443"/>
                  </a:lnTo>
                  <a:lnTo>
                    <a:pt x="5892703" y="158560"/>
                  </a:lnTo>
                  <a:lnTo>
                    <a:pt x="5931649" y="166829"/>
                  </a:lnTo>
                  <a:lnTo>
                    <a:pt x="6002754" y="183805"/>
                  </a:lnTo>
                  <a:lnTo>
                    <a:pt x="6106671" y="215623"/>
                  </a:lnTo>
                  <a:lnTo>
                    <a:pt x="6167798" y="240404"/>
                  </a:lnTo>
                  <a:lnTo>
                    <a:pt x="6218950" y="266705"/>
                  </a:lnTo>
                  <a:lnTo>
                    <a:pt x="6261033" y="294388"/>
                  </a:lnTo>
                  <a:lnTo>
                    <a:pt x="6294956" y="323315"/>
                  </a:lnTo>
                  <a:lnTo>
                    <a:pt x="6321624" y="353348"/>
                  </a:lnTo>
                  <a:lnTo>
                    <a:pt x="6356825" y="416178"/>
                  </a:lnTo>
                  <a:lnTo>
                    <a:pt x="6373892" y="481772"/>
                  </a:lnTo>
                  <a:lnTo>
                    <a:pt x="6380080" y="549025"/>
                  </a:lnTo>
                  <a:lnTo>
                    <a:pt x="6381362" y="582928"/>
                  </a:lnTo>
                </a:path>
                <a:path w="6381750" h="679450">
                  <a:moveTo>
                    <a:pt x="146982" y="679223"/>
                  </a:moveTo>
                  <a:lnTo>
                    <a:pt x="106293" y="650315"/>
                  </a:lnTo>
                  <a:lnTo>
                    <a:pt x="69557" y="618085"/>
                  </a:lnTo>
                  <a:lnTo>
                    <a:pt x="40725" y="579210"/>
                  </a:lnTo>
                  <a:lnTo>
                    <a:pt x="23750" y="530368"/>
                  </a:lnTo>
                  <a:lnTo>
                    <a:pt x="16280" y="495174"/>
                  </a:lnTo>
                  <a:lnTo>
                    <a:pt x="7412" y="453945"/>
                  </a:lnTo>
                  <a:lnTo>
                    <a:pt x="775" y="409038"/>
                  </a:lnTo>
                  <a:lnTo>
                    <a:pt x="0" y="362809"/>
                  </a:lnTo>
                  <a:lnTo>
                    <a:pt x="8717" y="317613"/>
                  </a:lnTo>
                  <a:lnTo>
                    <a:pt x="30556" y="275806"/>
                  </a:lnTo>
                  <a:lnTo>
                    <a:pt x="69150" y="239744"/>
                  </a:lnTo>
                  <a:lnTo>
                    <a:pt x="128464" y="206074"/>
                  </a:lnTo>
                  <a:lnTo>
                    <a:pt x="163586" y="190216"/>
                  </a:lnTo>
                  <a:lnTo>
                    <a:pt x="202256" y="175062"/>
                  </a:lnTo>
                  <a:lnTo>
                    <a:pt x="244404" y="160649"/>
                  </a:lnTo>
                  <a:lnTo>
                    <a:pt x="289959" y="147018"/>
                  </a:lnTo>
                  <a:lnTo>
                    <a:pt x="338849" y="134206"/>
                  </a:lnTo>
                  <a:lnTo>
                    <a:pt x="391005" y="122252"/>
                  </a:lnTo>
                  <a:lnTo>
                    <a:pt x="446354" y="111195"/>
                  </a:lnTo>
                  <a:lnTo>
                    <a:pt x="504827" y="101074"/>
                  </a:lnTo>
                  <a:lnTo>
                    <a:pt x="566353" y="91927"/>
                  </a:lnTo>
                  <a:lnTo>
                    <a:pt x="630860" y="83793"/>
                  </a:lnTo>
                  <a:lnTo>
                    <a:pt x="698278" y="76711"/>
                  </a:lnTo>
                  <a:lnTo>
                    <a:pt x="737937" y="73231"/>
                  </a:lnTo>
                  <a:lnTo>
                    <a:pt x="779037" y="70174"/>
                  </a:lnTo>
                  <a:lnTo>
                    <a:pt x="821515" y="67520"/>
                  </a:lnTo>
                  <a:lnTo>
                    <a:pt x="865305" y="65251"/>
                  </a:lnTo>
                  <a:lnTo>
                    <a:pt x="910340" y="63347"/>
                  </a:lnTo>
                  <a:lnTo>
                    <a:pt x="956555" y="61790"/>
                  </a:lnTo>
                  <a:lnTo>
                    <a:pt x="1003885" y="60559"/>
                  </a:lnTo>
                  <a:lnTo>
                    <a:pt x="1052264" y="59635"/>
                  </a:lnTo>
                  <a:lnTo>
                    <a:pt x="1101627" y="59000"/>
                  </a:lnTo>
                  <a:lnTo>
                    <a:pt x="1151907" y="58635"/>
                  </a:lnTo>
                  <a:lnTo>
                    <a:pt x="1203040" y="58519"/>
                  </a:lnTo>
                  <a:lnTo>
                    <a:pt x="1254960" y="58633"/>
                  </a:lnTo>
                  <a:lnTo>
                    <a:pt x="1307601" y="58960"/>
                  </a:lnTo>
                  <a:lnTo>
                    <a:pt x="1360897" y="59478"/>
                  </a:lnTo>
                  <a:lnTo>
                    <a:pt x="1414784" y="60170"/>
                  </a:lnTo>
                  <a:lnTo>
                    <a:pt x="1469195" y="61015"/>
                  </a:lnTo>
                  <a:lnTo>
                    <a:pt x="1524064" y="61995"/>
                  </a:lnTo>
                  <a:lnTo>
                    <a:pt x="1579327" y="63090"/>
                  </a:lnTo>
                  <a:lnTo>
                    <a:pt x="1634918" y="64282"/>
                  </a:lnTo>
                  <a:lnTo>
                    <a:pt x="1690771" y="65550"/>
                  </a:lnTo>
                  <a:lnTo>
                    <a:pt x="1746820" y="66876"/>
                  </a:lnTo>
                  <a:lnTo>
                    <a:pt x="1803000" y="68240"/>
                  </a:lnTo>
                  <a:lnTo>
                    <a:pt x="1859246" y="696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29968" y="1176660"/>
              <a:ext cx="997547" cy="382799"/>
            </a:xfrm>
            <a:prstGeom prst="rect">
              <a:avLst/>
            </a:prstGeom>
          </p:spPr>
        </p:pic>
        <p:sp>
          <p:nvSpPr>
            <p:cNvPr id="204" name="object 204" descr=""/>
            <p:cNvSpPr/>
            <p:nvPr/>
          </p:nvSpPr>
          <p:spPr>
            <a:xfrm>
              <a:off x="3025218" y="1171897"/>
              <a:ext cx="1007110" cy="392430"/>
            </a:xfrm>
            <a:custGeom>
              <a:avLst/>
              <a:gdLst/>
              <a:ahLst/>
              <a:cxnLst/>
              <a:rect l="l" t="t" r="r" b="b"/>
              <a:pathLst>
                <a:path w="1007110" h="392430">
                  <a:moveTo>
                    <a:pt x="0" y="0"/>
                  </a:moveTo>
                  <a:lnTo>
                    <a:pt x="1007072" y="0"/>
                  </a:lnTo>
                  <a:lnTo>
                    <a:pt x="1007072" y="392324"/>
                  </a:lnTo>
                  <a:lnTo>
                    <a:pt x="0" y="3923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5" name="object 20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96041" y="4089654"/>
              <a:ext cx="1027122" cy="347961"/>
            </a:xfrm>
            <a:prstGeom prst="rect">
              <a:avLst/>
            </a:prstGeom>
          </p:spPr>
        </p:pic>
      </p:grpSp>
      <p:sp>
        <p:nvSpPr>
          <p:cNvPr id="206" name="object 206" descr=""/>
          <p:cNvSpPr txBox="1"/>
          <p:nvPr/>
        </p:nvSpPr>
        <p:spPr>
          <a:xfrm>
            <a:off x="4360904" y="1320219"/>
            <a:ext cx="49910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Arial"/>
                <a:cs typeface="Arial"/>
              </a:rPr>
              <a:t>GSLB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7" name="object 207" descr=""/>
          <p:cNvGrpSpPr/>
          <p:nvPr/>
        </p:nvGrpSpPr>
        <p:grpSpPr>
          <a:xfrm>
            <a:off x="1365959" y="1571351"/>
            <a:ext cx="6128385" cy="3427095"/>
            <a:chOff x="1365959" y="1571351"/>
            <a:chExt cx="6128385" cy="3427095"/>
          </a:xfrm>
        </p:grpSpPr>
        <p:pic>
          <p:nvPicPr>
            <p:cNvPr id="208" name="object 20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80291" y="1571351"/>
              <a:ext cx="431799" cy="238122"/>
            </a:xfrm>
            <a:prstGeom prst="rect">
              <a:avLst/>
            </a:prstGeom>
          </p:spPr>
        </p:pic>
        <p:sp>
          <p:nvSpPr>
            <p:cNvPr id="209" name="object 209" descr=""/>
            <p:cNvSpPr/>
            <p:nvPr/>
          </p:nvSpPr>
          <p:spPr>
            <a:xfrm>
              <a:off x="1370722" y="1690411"/>
              <a:ext cx="6118860" cy="3303270"/>
            </a:xfrm>
            <a:custGeom>
              <a:avLst/>
              <a:gdLst/>
              <a:ahLst/>
              <a:cxnLst/>
              <a:rect l="l" t="t" r="r" b="b"/>
              <a:pathLst>
                <a:path w="6118859" h="3303270">
                  <a:moveTo>
                    <a:pt x="2089170" y="153599"/>
                  </a:moveTo>
                  <a:lnTo>
                    <a:pt x="2161767" y="152230"/>
                  </a:lnTo>
                  <a:lnTo>
                    <a:pt x="2226788" y="148332"/>
                  </a:lnTo>
                  <a:lnTo>
                    <a:pt x="2285181" y="142221"/>
                  </a:lnTo>
                  <a:lnTo>
                    <a:pt x="2337892" y="134215"/>
                  </a:lnTo>
                  <a:lnTo>
                    <a:pt x="2385869" y="124628"/>
                  </a:lnTo>
                  <a:lnTo>
                    <a:pt x="2430058" y="113777"/>
                  </a:lnTo>
                  <a:lnTo>
                    <a:pt x="2471407" y="101978"/>
                  </a:lnTo>
                  <a:lnTo>
                    <a:pt x="2510862" y="89547"/>
                  </a:lnTo>
                  <a:lnTo>
                    <a:pt x="2549369" y="76799"/>
                  </a:lnTo>
                  <a:lnTo>
                    <a:pt x="2587877" y="64052"/>
                  </a:lnTo>
                  <a:lnTo>
                    <a:pt x="2627332" y="51621"/>
                  </a:lnTo>
                  <a:lnTo>
                    <a:pt x="2668680" y="39822"/>
                  </a:lnTo>
                  <a:lnTo>
                    <a:pt x="2712869" y="28971"/>
                  </a:lnTo>
                  <a:lnTo>
                    <a:pt x="2760846" y="19384"/>
                  </a:lnTo>
                  <a:lnTo>
                    <a:pt x="2813558" y="11377"/>
                  </a:lnTo>
                  <a:lnTo>
                    <a:pt x="2871951" y="5267"/>
                  </a:lnTo>
                  <a:lnTo>
                    <a:pt x="2936972" y="1369"/>
                  </a:lnTo>
                  <a:lnTo>
                    <a:pt x="3009568" y="0"/>
                  </a:lnTo>
                </a:path>
                <a:path w="6118859" h="3303270">
                  <a:moveTo>
                    <a:pt x="3441368" y="0"/>
                  </a:moveTo>
                  <a:lnTo>
                    <a:pt x="3511672" y="1030"/>
                  </a:lnTo>
                  <a:lnTo>
                    <a:pt x="3573796" y="3944"/>
                  </a:lnTo>
                  <a:lnTo>
                    <a:pt x="3628909" y="8471"/>
                  </a:lnTo>
                  <a:lnTo>
                    <a:pt x="3678180" y="14343"/>
                  </a:lnTo>
                  <a:lnTo>
                    <a:pt x="3722777" y="21291"/>
                  </a:lnTo>
                  <a:lnTo>
                    <a:pt x="3763869" y="29046"/>
                  </a:lnTo>
                  <a:lnTo>
                    <a:pt x="3802626" y="37338"/>
                  </a:lnTo>
                  <a:lnTo>
                    <a:pt x="3840217" y="45899"/>
                  </a:lnTo>
                  <a:lnTo>
                    <a:pt x="3877800" y="54461"/>
                  </a:lnTo>
                  <a:lnTo>
                    <a:pt x="3916554" y="62753"/>
                  </a:lnTo>
                  <a:lnTo>
                    <a:pt x="3957646" y="70508"/>
                  </a:lnTo>
                  <a:lnTo>
                    <a:pt x="4002245" y="77456"/>
                  </a:lnTo>
                  <a:lnTo>
                    <a:pt x="4051518" y="83328"/>
                  </a:lnTo>
                  <a:lnTo>
                    <a:pt x="4106634" y="87855"/>
                  </a:lnTo>
                  <a:lnTo>
                    <a:pt x="4168760" y="90768"/>
                  </a:lnTo>
                  <a:lnTo>
                    <a:pt x="4239066" y="91799"/>
                  </a:lnTo>
                </a:path>
                <a:path w="6118859" h="3303270">
                  <a:moveTo>
                    <a:pt x="0" y="2625504"/>
                  </a:moveTo>
                  <a:lnTo>
                    <a:pt x="6118487" y="2625504"/>
                  </a:lnTo>
                  <a:lnTo>
                    <a:pt x="6118487" y="3303203"/>
                  </a:lnTo>
                  <a:lnTo>
                    <a:pt x="0" y="3303203"/>
                  </a:lnTo>
                  <a:lnTo>
                    <a:pt x="0" y="2625504"/>
                  </a:lnTo>
                  <a:close/>
                </a:path>
              </a:pathLst>
            </a:custGeom>
            <a:ln w="952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33119" y="4419566"/>
              <a:ext cx="468899" cy="468898"/>
            </a:xfrm>
            <a:prstGeom prst="rect">
              <a:avLst/>
            </a:prstGeom>
          </p:spPr>
        </p:pic>
        <p:pic>
          <p:nvPicPr>
            <p:cNvPr id="211" name="object 21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796413" y="4419566"/>
              <a:ext cx="468898" cy="468898"/>
            </a:xfrm>
            <a:prstGeom prst="rect">
              <a:avLst/>
            </a:prstGeom>
          </p:spPr>
        </p:pic>
        <p:pic>
          <p:nvPicPr>
            <p:cNvPr id="212" name="object 21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70727" y="4333771"/>
              <a:ext cx="1089085" cy="304744"/>
            </a:xfrm>
            <a:prstGeom prst="rect">
              <a:avLst/>
            </a:prstGeom>
          </p:spPr>
        </p:pic>
      </p:grpSp>
      <p:sp>
        <p:nvSpPr>
          <p:cNvPr id="213" name="object 213" descr=""/>
          <p:cNvSpPr txBox="1"/>
          <p:nvPr/>
        </p:nvSpPr>
        <p:spPr>
          <a:xfrm>
            <a:off x="3793153" y="4465946"/>
            <a:ext cx="168211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Synchronous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14" name="object 214" descr=""/>
          <p:cNvGrpSpPr/>
          <p:nvPr/>
        </p:nvGrpSpPr>
        <p:grpSpPr>
          <a:xfrm>
            <a:off x="3203955" y="4747802"/>
            <a:ext cx="2477135" cy="41275"/>
            <a:chOff x="3203955" y="4747802"/>
            <a:chExt cx="2477135" cy="41275"/>
          </a:xfrm>
        </p:grpSpPr>
        <p:sp>
          <p:nvSpPr>
            <p:cNvPr id="215" name="object 215" descr=""/>
            <p:cNvSpPr/>
            <p:nvPr/>
          </p:nvSpPr>
          <p:spPr>
            <a:xfrm>
              <a:off x="3208718" y="4768315"/>
              <a:ext cx="2424430" cy="0"/>
            </a:xfrm>
            <a:custGeom>
              <a:avLst/>
              <a:gdLst/>
              <a:ahLst/>
              <a:cxnLst/>
              <a:rect l="l" t="t" r="r" b="b"/>
              <a:pathLst>
                <a:path w="2424429" h="0">
                  <a:moveTo>
                    <a:pt x="0" y="0"/>
                  </a:moveTo>
                  <a:lnTo>
                    <a:pt x="242384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5632563" y="475256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0" y="0"/>
                  </a:lnTo>
                  <a:lnTo>
                    <a:pt x="43224" y="15749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5632563" y="475256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43224" y="15749"/>
                  </a:lnTo>
                  <a:lnTo>
                    <a:pt x="0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8" name="object 218" descr=""/>
          <p:cNvSpPr txBox="1"/>
          <p:nvPr/>
        </p:nvSpPr>
        <p:spPr>
          <a:xfrm>
            <a:off x="2236702" y="4805943"/>
            <a:ext cx="11480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Persistent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Storage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9" name="object 219" descr=""/>
          <p:cNvSpPr txBox="1"/>
          <p:nvPr/>
        </p:nvSpPr>
        <p:spPr>
          <a:xfrm>
            <a:off x="5506771" y="4816706"/>
            <a:ext cx="11480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Persistent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Storage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20" name="object 220" descr=""/>
          <p:cNvGrpSpPr/>
          <p:nvPr/>
        </p:nvGrpSpPr>
        <p:grpSpPr>
          <a:xfrm>
            <a:off x="3328355" y="3828629"/>
            <a:ext cx="2330450" cy="258445"/>
            <a:chOff x="3328355" y="3828629"/>
            <a:chExt cx="2330450" cy="258445"/>
          </a:xfrm>
        </p:grpSpPr>
        <p:sp>
          <p:nvSpPr>
            <p:cNvPr id="221" name="object 221" descr=""/>
            <p:cNvSpPr/>
            <p:nvPr/>
          </p:nvSpPr>
          <p:spPr>
            <a:xfrm>
              <a:off x="3376343" y="3849117"/>
              <a:ext cx="1102995" cy="192405"/>
            </a:xfrm>
            <a:custGeom>
              <a:avLst/>
              <a:gdLst/>
              <a:ahLst/>
              <a:cxnLst/>
              <a:rect l="l" t="t" r="r" b="b"/>
              <a:pathLst>
                <a:path w="1102995" h="192404">
                  <a:moveTo>
                    <a:pt x="0" y="0"/>
                  </a:moveTo>
                  <a:lnTo>
                    <a:pt x="12574" y="174"/>
                  </a:lnTo>
                  <a:lnTo>
                    <a:pt x="17224" y="249"/>
                  </a:lnTo>
                  <a:lnTo>
                    <a:pt x="21849" y="324"/>
                  </a:lnTo>
                  <a:lnTo>
                    <a:pt x="26499" y="424"/>
                  </a:lnTo>
                  <a:lnTo>
                    <a:pt x="33455" y="560"/>
                  </a:lnTo>
                  <a:lnTo>
                    <a:pt x="82071" y="1783"/>
                  </a:lnTo>
                  <a:lnTo>
                    <a:pt x="137380" y="3798"/>
                  </a:lnTo>
                  <a:lnTo>
                    <a:pt x="219584" y="7999"/>
                  </a:lnTo>
                  <a:lnTo>
                    <a:pt x="273727" y="11546"/>
                  </a:lnTo>
                  <a:lnTo>
                    <a:pt x="327219" y="15670"/>
                  </a:lnTo>
                  <a:lnTo>
                    <a:pt x="379949" y="20349"/>
                  </a:lnTo>
                  <a:lnTo>
                    <a:pt x="431807" y="25550"/>
                  </a:lnTo>
                  <a:lnTo>
                    <a:pt x="482684" y="31257"/>
                  </a:lnTo>
                  <a:lnTo>
                    <a:pt x="532472" y="37448"/>
                  </a:lnTo>
                  <a:lnTo>
                    <a:pt x="581061" y="44103"/>
                  </a:lnTo>
                  <a:lnTo>
                    <a:pt x="628342" y="51199"/>
                  </a:lnTo>
                  <a:lnTo>
                    <a:pt x="674206" y="58715"/>
                  </a:lnTo>
                  <a:lnTo>
                    <a:pt x="718544" y="66631"/>
                  </a:lnTo>
                  <a:lnTo>
                    <a:pt x="761248" y="74924"/>
                  </a:lnTo>
                  <a:lnTo>
                    <a:pt x="815455" y="86518"/>
                  </a:lnTo>
                  <a:lnTo>
                    <a:pt x="866303" y="98687"/>
                  </a:lnTo>
                  <a:lnTo>
                    <a:pt x="913535" y="111381"/>
                  </a:lnTo>
                  <a:lnTo>
                    <a:pt x="956892" y="124545"/>
                  </a:lnTo>
                  <a:lnTo>
                    <a:pt x="996116" y="138127"/>
                  </a:lnTo>
                  <a:lnTo>
                    <a:pt x="1042824" y="157399"/>
                  </a:lnTo>
                  <a:lnTo>
                    <a:pt x="1080722" y="177199"/>
                  </a:lnTo>
                  <a:lnTo>
                    <a:pt x="1099597" y="190049"/>
                  </a:lnTo>
                  <a:lnTo>
                    <a:pt x="1102522" y="1923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3333118" y="3833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24" y="31449"/>
                  </a:moveTo>
                  <a:lnTo>
                    <a:pt x="0" y="15449"/>
                  </a:lnTo>
                  <a:lnTo>
                    <a:pt x="43324" y="0"/>
                  </a:lnTo>
                  <a:lnTo>
                    <a:pt x="43124" y="314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3333118" y="38333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24" y="0"/>
                  </a:moveTo>
                  <a:lnTo>
                    <a:pt x="0" y="15449"/>
                  </a:lnTo>
                  <a:lnTo>
                    <a:pt x="43124" y="31449"/>
                  </a:lnTo>
                  <a:lnTo>
                    <a:pt x="4332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4465615" y="4033016"/>
              <a:ext cx="36830" cy="45085"/>
            </a:xfrm>
            <a:custGeom>
              <a:avLst/>
              <a:gdLst/>
              <a:ahLst/>
              <a:cxnLst/>
              <a:rect l="l" t="t" r="r" b="b"/>
              <a:pathLst>
                <a:path w="36829" h="45085">
                  <a:moveTo>
                    <a:pt x="36499" y="44899"/>
                  </a:moveTo>
                  <a:lnTo>
                    <a:pt x="0" y="16899"/>
                  </a:lnTo>
                  <a:lnTo>
                    <a:pt x="26524" y="0"/>
                  </a:lnTo>
                  <a:lnTo>
                    <a:pt x="36499" y="4489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4465615" y="4033016"/>
              <a:ext cx="36830" cy="45085"/>
            </a:xfrm>
            <a:custGeom>
              <a:avLst/>
              <a:gdLst/>
              <a:ahLst/>
              <a:cxnLst/>
              <a:rect l="l" t="t" r="r" b="b"/>
              <a:pathLst>
                <a:path w="36829" h="45085">
                  <a:moveTo>
                    <a:pt x="0" y="16899"/>
                  </a:moveTo>
                  <a:lnTo>
                    <a:pt x="36499" y="44899"/>
                  </a:lnTo>
                  <a:lnTo>
                    <a:pt x="26524" y="0"/>
                  </a:lnTo>
                  <a:lnTo>
                    <a:pt x="0" y="168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4556890" y="3962667"/>
              <a:ext cx="1054100" cy="95250"/>
            </a:xfrm>
            <a:custGeom>
              <a:avLst/>
              <a:gdLst/>
              <a:ahLst/>
              <a:cxnLst/>
              <a:rect l="l" t="t" r="r" b="b"/>
              <a:pathLst>
                <a:path w="1054100" h="95250">
                  <a:moveTo>
                    <a:pt x="1053847" y="0"/>
                  </a:moveTo>
                  <a:lnTo>
                    <a:pt x="1009316" y="435"/>
                  </a:lnTo>
                  <a:lnTo>
                    <a:pt x="948588" y="1409"/>
                  </a:lnTo>
                  <a:lnTo>
                    <a:pt x="894948" y="2649"/>
                  </a:lnTo>
                  <a:lnTo>
                    <a:pt x="841735" y="4203"/>
                  </a:lnTo>
                  <a:lnTo>
                    <a:pt x="789048" y="6078"/>
                  </a:lnTo>
                  <a:lnTo>
                    <a:pt x="736998" y="8257"/>
                  </a:lnTo>
                  <a:lnTo>
                    <a:pt x="685698" y="10724"/>
                  </a:lnTo>
                  <a:lnTo>
                    <a:pt x="628102" y="13882"/>
                  </a:lnTo>
                  <a:lnTo>
                    <a:pt x="571774" y="17387"/>
                  </a:lnTo>
                  <a:lnTo>
                    <a:pt x="516872" y="21223"/>
                  </a:lnTo>
                  <a:lnTo>
                    <a:pt x="463553" y="25371"/>
                  </a:lnTo>
                  <a:lnTo>
                    <a:pt x="411976" y="29816"/>
                  </a:lnTo>
                  <a:lnTo>
                    <a:pt x="362297" y="34539"/>
                  </a:lnTo>
                  <a:lnTo>
                    <a:pt x="314674" y="39524"/>
                  </a:lnTo>
                  <a:lnTo>
                    <a:pt x="251761" y="46911"/>
                  </a:lnTo>
                  <a:lnTo>
                    <a:pt x="193630" y="54729"/>
                  </a:lnTo>
                  <a:lnTo>
                    <a:pt x="140713" y="62928"/>
                  </a:lnTo>
                  <a:lnTo>
                    <a:pt x="93442" y="71460"/>
                  </a:lnTo>
                  <a:lnTo>
                    <a:pt x="52249" y="80274"/>
                  </a:lnTo>
                  <a:lnTo>
                    <a:pt x="9974" y="91624"/>
                  </a:lnTo>
                  <a:lnTo>
                    <a:pt x="1099" y="94524"/>
                  </a:lnTo>
                  <a:lnTo>
                    <a:pt x="0" y="948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5610688" y="39469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124" y="31474"/>
                  </a:moveTo>
                  <a:lnTo>
                    <a:pt x="0" y="0"/>
                  </a:lnTo>
                  <a:lnTo>
                    <a:pt x="43274" y="15574"/>
                  </a:lnTo>
                  <a:lnTo>
                    <a:pt x="124" y="3147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5610688" y="39469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124" y="31474"/>
                  </a:moveTo>
                  <a:lnTo>
                    <a:pt x="43274" y="15574"/>
                  </a:lnTo>
                  <a:lnTo>
                    <a:pt x="0" y="0"/>
                  </a:lnTo>
                  <a:lnTo>
                    <a:pt x="124" y="3147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4521115" y="4044541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37299"/>
                  </a:moveTo>
                  <a:lnTo>
                    <a:pt x="26924" y="0"/>
                  </a:lnTo>
                  <a:lnTo>
                    <a:pt x="44599" y="26049"/>
                  </a:lnTo>
                  <a:lnTo>
                    <a:pt x="0" y="3729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4521115" y="4044541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26924" y="0"/>
                  </a:moveTo>
                  <a:lnTo>
                    <a:pt x="0" y="37299"/>
                  </a:lnTo>
                  <a:lnTo>
                    <a:pt x="44599" y="26049"/>
                  </a:lnTo>
                  <a:lnTo>
                    <a:pt x="2692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4320" y="1378902"/>
            <a:ext cx="2802890" cy="650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/>
              <a:t>Model</a:t>
            </a:r>
            <a:r>
              <a:rPr dirty="0" sz="4100" spc="-25"/>
              <a:t> </a:t>
            </a:r>
            <a:r>
              <a:rPr dirty="0" sz="4100" spc="-20"/>
              <a:t>Case</a:t>
            </a:r>
            <a:endParaRPr sz="4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248084" y="1412087"/>
            <a:ext cx="3743325" cy="3127375"/>
          </a:xfrm>
          <a:custGeom>
            <a:avLst/>
            <a:gdLst/>
            <a:ahLst/>
            <a:cxnLst/>
            <a:rect l="l" t="t" r="r" b="b"/>
            <a:pathLst>
              <a:path w="3743325" h="3127375">
                <a:moveTo>
                  <a:pt x="3743096" y="2281009"/>
                </a:moveTo>
                <a:lnTo>
                  <a:pt x="0" y="2281009"/>
                </a:lnTo>
                <a:lnTo>
                  <a:pt x="0" y="3127006"/>
                </a:lnTo>
                <a:lnTo>
                  <a:pt x="3743096" y="3127006"/>
                </a:lnTo>
                <a:lnTo>
                  <a:pt x="3743096" y="2281009"/>
                </a:lnTo>
                <a:close/>
              </a:path>
              <a:path w="3743325" h="3127375">
                <a:moveTo>
                  <a:pt x="3743096" y="0"/>
                </a:moveTo>
                <a:lnTo>
                  <a:pt x="0" y="0"/>
                </a:lnTo>
                <a:lnTo>
                  <a:pt x="0" y="2244839"/>
                </a:lnTo>
                <a:lnTo>
                  <a:pt x="3743096" y="2244839"/>
                </a:lnTo>
                <a:lnTo>
                  <a:pt x="3743096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302048" y="3741478"/>
            <a:ext cx="16802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Persistent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Storage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(DELL)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372664" y="2782069"/>
            <a:ext cx="3458845" cy="765175"/>
          </a:xfrm>
          <a:custGeom>
            <a:avLst/>
            <a:gdLst/>
            <a:ahLst/>
            <a:cxnLst/>
            <a:rect l="l" t="t" r="r" b="b"/>
            <a:pathLst>
              <a:path w="3458845" h="765175">
                <a:moveTo>
                  <a:pt x="0" y="0"/>
                </a:moveTo>
                <a:lnTo>
                  <a:pt x="3458243" y="0"/>
                </a:lnTo>
                <a:lnTo>
                  <a:pt x="3458243" y="764773"/>
                </a:lnTo>
                <a:lnTo>
                  <a:pt x="0" y="76477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377426" y="2830462"/>
            <a:ext cx="12147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1594" marR="346075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Cluster-</a:t>
            </a:r>
            <a:r>
              <a:rPr dirty="0" sz="1100" spc="-20">
                <a:latin typeface="Arial"/>
                <a:cs typeface="Arial"/>
              </a:rPr>
              <a:t>wide </a:t>
            </a:r>
            <a:r>
              <a:rPr dirty="0" sz="1100">
                <a:latin typeface="Arial"/>
                <a:cs typeface="Arial"/>
              </a:rPr>
              <a:t>Object</a:t>
            </a:r>
            <a:r>
              <a:rPr dirty="0" sz="1100" spc="1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[1][2]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367901" y="1680669"/>
            <a:ext cx="3319779" cy="2716530"/>
            <a:chOff x="5367901" y="1680669"/>
            <a:chExt cx="3319779" cy="271653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9134" y="2860381"/>
              <a:ext cx="647973" cy="62773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6785" y="2859394"/>
              <a:ext cx="647973" cy="627723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372664" y="168543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071" y="0"/>
                  </a:lnTo>
                  <a:lnTo>
                    <a:pt x="1679071" y="998062"/>
                  </a:lnTo>
                  <a:lnTo>
                    <a:pt x="0" y="9980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4064" y="1948823"/>
              <a:ext cx="647973" cy="62772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2437" y="1940421"/>
              <a:ext cx="647983" cy="62772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596511" y="2568094"/>
              <a:ext cx="1773555" cy="1272540"/>
            </a:xfrm>
            <a:custGeom>
              <a:avLst/>
              <a:gdLst/>
              <a:ahLst/>
              <a:cxnLst/>
              <a:rect l="l" t="t" r="r" b="b"/>
              <a:pathLst>
                <a:path w="1773554" h="1272539">
                  <a:moveTo>
                    <a:pt x="1064247" y="291299"/>
                  </a:moveTo>
                  <a:lnTo>
                    <a:pt x="1064247" y="1050347"/>
                  </a:lnTo>
                  <a:lnTo>
                    <a:pt x="0" y="1050347"/>
                  </a:lnTo>
                  <a:lnTo>
                    <a:pt x="0" y="149"/>
                  </a:lnTo>
                </a:path>
                <a:path w="1773554" h="1272539">
                  <a:moveTo>
                    <a:pt x="1766596" y="292274"/>
                  </a:moveTo>
                  <a:lnTo>
                    <a:pt x="1765921" y="0"/>
                  </a:lnTo>
                </a:path>
                <a:path w="1773554" h="1272539">
                  <a:moveTo>
                    <a:pt x="1064247" y="919023"/>
                  </a:moveTo>
                  <a:lnTo>
                    <a:pt x="1064022" y="1255847"/>
                  </a:lnTo>
                </a:path>
                <a:path w="1773554" h="1272539">
                  <a:moveTo>
                    <a:pt x="1766596" y="920023"/>
                  </a:moveTo>
                  <a:lnTo>
                    <a:pt x="1773121" y="1271922"/>
                  </a:lnTo>
                </a:path>
              </a:pathLst>
            </a:custGeom>
            <a:ln w="952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4235" y="3824044"/>
              <a:ext cx="572638" cy="572621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7415087" y="4324074"/>
            <a:ext cx="4953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Volume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83408" y="3839942"/>
            <a:ext cx="572638" cy="572623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8122184" y="4313225"/>
            <a:ext cx="4953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Volume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392614" y="1680669"/>
            <a:ext cx="3430270" cy="2849880"/>
            <a:chOff x="5392614" y="1680669"/>
            <a:chExt cx="3430270" cy="2849880"/>
          </a:xfrm>
        </p:grpSpPr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92614" y="3882517"/>
              <a:ext cx="647973" cy="647973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7138710" y="168543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046" y="0"/>
                  </a:lnTo>
                  <a:lnTo>
                    <a:pt x="1679046" y="998062"/>
                  </a:lnTo>
                  <a:lnTo>
                    <a:pt x="0" y="9980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192681" y="1733822"/>
            <a:ext cx="9398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Namespace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[1]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47489" y="1412087"/>
            <a:ext cx="8239125" cy="3125470"/>
            <a:chOff x="447489" y="1412087"/>
            <a:chExt cx="8239125" cy="3125470"/>
          </a:xfrm>
        </p:grpSpPr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0110" y="1948823"/>
              <a:ext cx="647973" cy="627721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38483" y="1940421"/>
              <a:ext cx="647973" cy="62772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96987" y="2865144"/>
              <a:ext cx="634373" cy="614548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4190591" y="4114541"/>
              <a:ext cx="949960" cy="0"/>
            </a:xfrm>
            <a:custGeom>
              <a:avLst/>
              <a:gdLst/>
              <a:ahLst/>
              <a:cxnLst/>
              <a:rect l="l" t="t" r="r" b="b"/>
              <a:pathLst>
                <a:path w="949960" h="0">
                  <a:moveTo>
                    <a:pt x="0" y="0"/>
                  </a:moveTo>
                  <a:lnTo>
                    <a:pt x="94979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0864" y="4073541"/>
              <a:ext cx="105499" cy="81999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47484" y="1412087"/>
              <a:ext cx="3743325" cy="3125470"/>
            </a:xfrm>
            <a:custGeom>
              <a:avLst/>
              <a:gdLst/>
              <a:ahLst/>
              <a:cxnLst/>
              <a:rect l="l" t="t" r="r" b="b"/>
              <a:pathLst>
                <a:path w="3743325" h="3125470">
                  <a:moveTo>
                    <a:pt x="3743096" y="2279459"/>
                  </a:moveTo>
                  <a:lnTo>
                    <a:pt x="0" y="2279459"/>
                  </a:lnTo>
                  <a:lnTo>
                    <a:pt x="0" y="3125457"/>
                  </a:lnTo>
                  <a:lnTo>
                    <a:pt x="3743096" y="3125457"/>
                  </a:lnTo>
                  <a:lnTo>
                    <a:pt x="3743096" y="2279459"/>
                  </a:lnTo>
                  <a:close/>
                </a:path>
                <a:path w="3743325" h="3125470">
                  <a:moveTo>
                    <a:pt x="3743096" y="0"/>
                  </a:moveTo>
                  <a:lnTo>
                    <a:pt x="0" y="0"/>
                  </a:lnTo>
                  <a:lnTo>
                    <a:pt x="0" y="2244915"/>
                  </a:lnTo>
                  <a:lnTo>
                    <a:pt x="3743096" y="2244915"/>
                  </a:lnTo>
                  <a:lnTo>
                    <a:pt x="3743096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87850" y="4627671"/>
            <a:ext cx="965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>
                <a:latin typeface="Arial"/>
                <a:cs typeface="Arial"/>
              </a:rPr>
              <a:t>13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Batang"/>
                <a:cs typeface="Batang"/>
              </a:rPr>
              <a:t>클러스터</a:t>
            </a:r>
            <a:r>
              <a:rPr dirty="0" spc="-229">
                <a:latin typeface="Batang"/>
                <a:cs typeface="Batang"/>
              </a:rPr>
              <a:t> </a:t>
            </a:r>
            <a:r>
              <a:rPr dirty="0">
                <a:latin typeface="Batang"/>
                <a:cs typeface="Batang"/>
              </a:rPr>
              <a:t>장애</a:t>
            </a:r>
            <a:r>
              <a:rPr dirty="0" spc="-225">
                <a:latin typeface="Batang"/>
                <a:cs typeface="Batang"/>
              </a:rPr>
              <a:t> </a:t>
            </a:r>
            <a:r>
              <a:rPr dirty="0">
                <a:latin typeface="Batang"/>
                <a:cs typeface="Batang"/>
              </a:rPr>
              <a:t>시</a:t>
            </a:r>
            <a:r>
              <a:rPr dirty="0" spc="-229">
                <a:latin typeface="Batang"/>
                <a:cs typeface="Batang"/>
              </a:rPr>
              <a:t> </a:t>
            </a:r>
            <a:r>
              <a:rPr dirty="0" spc="-80"/>
              <a:t>Fail</a:t>
            </a:r>
            <a:r>
              <a:rPr dirty="0" spc="-110"/>
              <a:t> </a:t>
            </a:r>
            <a:r>
              <a:rPr dirty="0"/>
              <a:t>Over</a:t>
            </a:r>
            <a:r>
              <a:rPr dirty="0">
                <a:latin typeface="Batang"/>
                <a:cs typeface="Batang"/>
              </a:rPr>
              <a:t>와</a:t>
            </a:r>
            <a:r>
              <a:rPr dirty="0" spc="-225">
                <a:latin typeface="Batang"/>
                <a:cs typeface="Batang"/>
              </a:rPr>
              <a:t> </a:t>
            </a:r>
            <a:r>
              <a:rPr dirty="0">
                <a:latin typeface="Batang"/>
                <a:cs typeface="Batang"/>
              </a:rPr>
              <a:t>동기화</a:t>
            </a:r>
            <a:r>
              <a:rPr dirty="0" spc="-229">
                <a:latin typeface="Batang"/>
                <a:cs typeface="Batang"/>
              </a:rPr>
              <a:t> </a:t>
            </a:r>
            <a:r>
              <a:rPr dirty="0" spc="-25">
                <a:latin typeface="Batang"/>
                <a:cs typeface="Batang"/>
              </a:rPr>
              <a:t>대상</a:t>
            </a:r>
          </a:p>
        </p:txBody>
      </p:sp>
      <p:sp>
        <p:nvSpPr>
          <p:cNvPr id="30" name="object 30" descr=""/>
          <p:cNvSpPr txBox="1"/>
          <p:nvPr/>
        </p:nvSpPr>
        <p:spPr>
          <a:xfrm>
            <a:off x="4380436" y="2721153"/>
            <a:ext cx="6661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2.</a:t>
            </a:r>
            <a:r>
              <a:rPr dirty="0" sz="1100" spc="-35">
                <a:latin typeface="Arial"/>
                <a:cs typeface="Arial"/>
              </a:rPr>
              <a:t> PV </a:t>
            </a:r>
            <a:r>
              <a:rPr dirty="0" sz="1100" spc="-20">
                <a:latin typeface="Arial"/>
                <a:cs typeface="Arial"/>
              </a:rPr>
              <a:t>(API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386591" y="2888793"/>
            <a:ext cx="6534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Batang"/>
                <a:cs typeface="Batang"/>
              </a:rPr>
              <a:t>오브젝트</a:t>
            </a:r>
            <a:r>
              <a:rPr dirty="0" sz="1100" spc="-1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468766" y="3678175"/>
            <a:ext cx="4533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3.</a:t>
            </a:r>
            <a:r>
              <a:rPr dirty="0" sz="1100" spc="-65">
                <a:latin typeface="Arial"/>
                <a:cs typeface="Arial"/>
              </a:rPr>
              <a:t> </a:t>
            </a:r>
            <a:r>
              <a:rPr dirty="0" sz="1100" spc="-25">
                <a:latin typeface="Batang"/>
                <a:cs typeface="Batang"/>
              </a:rPr>
              <a:t>볼륨</a:t>
            </a:r>
            <a:endParaRPr sz="1100">
              <a:latin typeface="Batang"/>
              <a:cs typeface="Batang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14163" y="3739926"/>
            <a:ext cx="16675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Persistent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Storage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(DELL)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572083" y="2782069"/>
            <a:ext cx="3458845" cy="765175"/>
          </a:xfrm>
          <a:custGeom>
            <a:avLst/>
            <a:gdLst/>
            <a:ahLst/>
            <a:cxnLst/>
            <a:rect l="l" t="t" r="r" b="b"/>
            <a:pathLst>
              <a:path w="3458845" h="765175">
                <a:moveTo>
                  <a:pt x="0" y="0"/>
                </a:moveTo>
                <a:lnTo>
                  <a:pt x="3458383" y="0"/>
                </a:lnTo>
                <a:lnTo>
                  <a:pt x="3458383" y="764698"/>
                </a:lnTo>
                <a:lnTo>
                  <a:pt x="0" y="7646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576853" y="2830462"/>
            <a:ext cx="34423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1594" marR="257429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Cluster-</a:t>
            </a:r>
            <a:r>
              <a:rPr dirty="0" sz="1100" spc="-20">
                <a:latin typeface="Arial"/>
                <a:cs typeface="Arial"/>
              </a:rPr>
              <a:t>wide </a:t>
            </a:r>
            <a:r>
              <a:rPr dirty="0" sz="1100">
                <a:latin typeface="Arial"/>
                <a:cs typeface="Arial"/>
              </a:rPr>
              <a:t>Object</a:t>
            </a:r>
            <a:r>
              <a:rPr dirty="0" sz="1100" spc="1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[1][2]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567336" y="1680709"/>
            <a:ext cx="3319779" cy="2730500"/>
            <a:chOff x="567336" y="1680709"/>
            <a:chExt cx="3319779" cy="2730500"/>
          </a:xfrm>
        </p:grpSpPr>
        <p:pic>
          <p:nvPicPr>
            <p:cNvPr id="37" name="object 3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543" y="2860381"/>
              <a:ext cx="647973" cy="62773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6194" y="2859394"/>
              <a:ext cx="647973" cy="627723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72098" y="168547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096" y="0"/>
                  </a:lnTo>
                  <a:lnTo>
                    <a:pt x="1679096" y="998097"/>
                  </a:lnTo>
                  <a:lnTo>
                    <a:pt x="0" y="9980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3491" y="1948871"/>
              <a:ext cx="647998" cy="627748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1894" y="1940468"/>
              <a:ext cx="647998" cy="627751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795778" y="2568094"/>
              <a:ext cx="1773555" cy="1270635"/>
            </a:xfrm>
            <a:custGeom>
              <a:avLst/>
              <a:gdLst/>
              <a:ahLst/>
              <a:cxnLst/>
              <a:rect l="l" t="t" r="r" b="b"/>
              <a:pathLst>
                <a:path w="1773554" h="1270635">
                  <a:moveTo>
                    <a:pt x="1064390" y="291299"/>
                  </a:moveTo>
                  <a:lnTo>
                    <a:pt x="1064390" y="145674"/>
                  </a:lnTo>
                  <a:lnTo>
                    <a:pt x="0" y="145674"/>
                  </a:lnTo>
                  <a:lnTo>
                    <a:pt x="0" y="0"/>
                  </a:lnTo>
                </a:path>
                <a:path w="1773554" h="1270635">
                  <a:moveTo>
                    <a:pt x="1766738" y="292274"/>
                  </a:moveTo>
                  <a:lnTo>
                    <a:pt x="1766138" y="74"/>
                  </a:lnTo>
                </a:path>
                <a:path w="1773554" h="1270635">
                  <a:moveTo>
                    <a:pt x="1064390" y="919023"/>
                  </a:moveTo>
                  <a:lnTo>
                    <a:pt x="1064390" y="1254422"/>
                  </a:lnTo>
                </a:path>
                <a:path w="1773554" h="1270635">
                  <a:moveTo>
                    <a:pt x="1766738" y="920023"/>
                  </a:moveTo>
                  <a:lnTo>
                    <a:pt x="1773338" y="1270422"/>
                  </a:lnTo>
                </a:path>
              </a:pathLst>
            </a:custGeom>
            <a:ln w="952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3694" y="3822604"/>
              <a:ext cx="572648" cy="572636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2893" y="3838504"/>
              <a:ext cx="572648" cy="572636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2627247" y="4322636"/>
            <a:ext cx="11899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06755" algn="l"/>
              </a:tabLst>
            </a:pPr>
            <a:r>
              <a:rPr dirty="0" sz="1100" spc="-10">
                <a:latin typeface="Arial"/>
                <a:cs typeface="Arial"/>
              </a:rPr>
              <a:t>Volume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baseline="5050" sz="1650" spc="-15">
                <a:latin typeface="Arial"/>
                <a:cs typeface="Arial"/>
              </a:rPr>
              <a:t>Volume</a:t>
            </a:r>
            <a:endParaRPr baseline="5050" sz="1650">
              <a:latin typeface="Arial"/>
              <a:cs typeface="Arial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592028" y="1680709"/>
            <a:ext cx="3430270" cy="2848610"/>
            <a:chOff x="592028" y="1680709"/>
            <a:chExt cx="3430270" cy="2848610"/>
          </a:xfrm>
        </p:grpSpPr>
        <p:pic>
          <p:nvPicPr>
            <p:cNvPr id="47" name="object 4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028" y="3880967"/>
              <a:ext cx="647973" cy="647973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2338132" y="168547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109" y="0"/>
                  </a:lnTo>
                  <a:lnTo>
                    <a:pt x="1679109" y="998097"/>
                  </a:lnTo>
                  <a:lnTo>
                    <a:pt x="0" y="9980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514163" y="1460474"/>
            <a:ext cx="6210935" cy="631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799965" algn="l"/>
              </a:tabLst>
            </a:pPr>
            <a:r>
              <a:rPr dirty="0" sz="1100">
                <a:latin typeface="Arial"/>
                <a:cs typeface="Arial"/>
              </a:rPr>
              <a:t>OCP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Cluster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(Active)</a:t>
            </a:r>
            <a:r>
              <a:rPr dirty="0" sz="1100">
                <a:latin typeface="Arial"/>
                <a:cs typeface="Arial"/>
              </a:rPr>
              <a:t>	OCP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Cluster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(Passive)</a:t>
            </a:r>
            <a:endParaRPr sz="1100">
              <a:latin typeface="Arial"/>
              <a:cs typeface="Arial"/>
            </a:endParaRPr>
          </a:p>
          <a:p>
            <a:pPr marL="124460">
              <a:lnSpc>
                <a:spcPts val="1310"/>
              </a:lnSpc>
              <a:spcBef>
                <a:spcPts val="830"/>
              </a:spcBef>
              <a:tabLst>
                <a:tab pos="1890395" algn="l"/>
                <a:tab pos="3832225" algn="l"/>
                <a:tab pos="4925060" algn="l"/>
              </a:tabLst>
            </a:pPr>
            <a:r>
              <a:rPr dirty="0" sz="1100" spc="-20">
                <a:latin typeface="Arial"/>
                <a:cs typeface="Arial"/>
              </a:rPr>
              <a:t>Namespace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[1]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-20">
                <a:latin typeface="Arial"/>
                <a:cs typeface="Arial"/>
              </a:rPr>
              <a:t>Namespace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[1]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-160">
                <a:latin typeface="Arial"/>
                <a:cs typeface="Arial"/>
              </a:rPr>
              <a:t>1.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사용자</a:t>
            </a:r>
            <a:r>
              <a:rPr dirty="0" sz="1100" spc="-25">
                <a:latin typeface="Batang"/>
                <a:cs typeface="Batang"/>
              </a:rPr>
              <a:t> </a:t>
            </a:r>
            <a:r>
              <a:rPr dirty="0" sz="1100" spc="-25">
                <a:latin typeface="Arial"/>
                <a:cs typeface="Arial"/>
              </a:rPr>
              <a:t>API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-20">
                <a:latin typeface="Arial"/>
                <a:cs typeface="Arial"/>
              </a:rPr>
              <a:t>Namespace</a:t>
            </a:r>
            <a:r>
              <a:rPr dirty="0" sz="1100" spc="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[1]</a:t>
            </a:r>
            <a:endParaRPr sz="1100">
              <a:latin typeface="Arial"/>
              <a:cs typeface="Arial"/>
            </a:endParaRPr>
          </a:p>
          <a:p>
            <a:pPr marL="4013200">
              <a:lnSpc>
                <a:spcPts val="1310"/>
              </a:lnSpc>
            </a:pPr>
            <a:r>
              <a:rPr dirty="0" sz="1100" spc="-10">
                <a:latin typeface="Arial"/>
                <a:cs typeface="Arial"/>
              </a:rPr>
              <a:t>Object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496394" y="1940468"/>
            <a:ext cx="3865245" cy="1539240"/>
            <a:chOff x="1496394" y="1940468"/>
            <a:chExt cx="3865245" cy="1539240"/>
          </a:xfrm>
        </p:grpSpPr>
        <p:pic>
          <p:nvPicPr>
            <p:cNvPr id="51" name="object 5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9525" y="1948871"/>
              <a:ext cx="647993" cy="627748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7918" y="1940468"/>
              <a:ext cx="647998" cy="627751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6394" y="2865144"/>
              <a:ext cx="634383" cy="614548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4030466" y="3164418"/>
              <a:ext cx="1235075" cy="0"/>
            </a:xfrm>
            <a:custGeom>
              <a:avLst/>
              <a:gdLst/>
              <a:ahLst/>
              <a:cxnLst/>
              <a:rect l="l" t="t" r="r" b="b"/>
              <a:pathLst>
                <a:path w="1235075" h="0">
                  <a:moveTo>
                    <a:pt x="0" y="0"/>
                  </a:moveTo>
                  <a:lnTo>
                    <a:pt x="1234497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55439" y="3123443"/>
              <a:ext cx="105499" cy="81974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4017242" y="2184520"/>
              <a:ext cx="1248410" cy="0"/>
            </a:xfrm>
            <a:custGeom>
              <a:avLst/>
              <a:gdLst/>
              <a:ahLst/>
              <a:cxnLst/>
              <a:rect l="l" t="t" r="r" b="b"/>
              <a:pathLst>
                <a:path w="1248410" h="0">
                  <a:moveTo>
                    <a:pt x="0" y="0"/>
                  </a:moveTo>
                  <a:lnTo>
                    <a:pt x="1247997" y="0"/>
                  </a:lnTo>
                </a:path>
              </a:pathLst>
            </a:custGeom>
            <a:ln w="19049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5714" y="2143530"/>
              <a:ext cx="105499" cy="81979"/>
            </a:xfrm>
            <a:prstGeom prst="rect">
              <a:avLst/>
            </a:prstGeom>
          </p:spPr>
        </p:pic>
      </p:grpSp>
      <p:sp>
        <p:nvSpPr>
          <p:cNvPr id="58" name="object 58" descr=""/>
          <p:cNvSpPr txBox="1"/>
          <p:nvPr/>
        </p:nvSpPr>
        <p:spPr>
          <a:xfrm>
            <a:off x="736811" y="4628869"/>
            <a:ext cx="6348730" cy="39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14999"/>
              </a:lnSpc>
              <a:spcBef>
                <a:spcPts val="100"/>
              </a:spcBef>
              <a:buAutoNum type="arabicPlain"/>
              <a:tabLst>
                <a:tab pos="125095" algn="l"/>
              </a:tabLst>
            </a:pPr>
            <a:r>
              <a:rPr dirty="0" sz="700" spc="-20">
                <a:latin typeface="Arial"/>
                <a:cs typeface="Arial"/>
              </a:rPr>
              <a:t>	</a:t>
            </a:r>
            <a:r>
              <a:rPr dirty="0" sz="700" spc="-20">
                <a:latin typeface="Arial"/>
                <a:cs typeface="Arial"/>
              </a:rPr>
              <a:t>PVC</a:t>
            </a:r>
            <a:r>
              <a:rPr dirty="0" sz="700" spc="-20">
                <a:latin typeface="Batang"/>
                <a:cs typeface="Batang"/>
              </a:rPr>
              <a:t>는</a:t>
            </a:r>
            <a:r>
              <a:rPr dirty="0" sz="700" spc="-3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특정</a:t>
            </a:r>
            <a:r>
              <a:rPr dirty="0" sz="700" spc="-30">
                <a:latin typeface="Batang"/>
                <a:cs typeface="Batang"/>
              </a:rPr>
              <a:t> </a:t>
            </a:r>
            <a:r>
              <a:rPr dirty="0" sz="700" spc="-10">
                <a:latin typeface="Arial"/>
                <a:cs typeface="Arial"/>
              </a:rPr>
              <a:t>Namespace</a:t>
            </a:r>
            <a:r>
              <a:rPr dirty="0" sz="700" spc="-10">
                <a:latin typeface="Batang"/>
                <a:cs typeface="Batang"/>
              </a:rPr>
              <a:t>에</a:t>
            </a:r>
            <a:r>
              <a:rPr dirty="0" sz="700" spc="-3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포함되는</a:t>
            </a:r>
            <a:r>
              <a:rPr dirty="0" sz="700" spc="-35">
                <a:latin typeface="Batang"/>
                <a:cs typeface="Batang"/>
              </a:rPr>
              <a:t> </a:t>
            </a:r>
            <a:r>
              <a:rPr dirty="0" sz="700">
                <a:latin typeface="Arial"/>
                <a:cs typeface="Arial"/>
              </a:rPr>
              <a:t>Namespace-object</a:t>
            </a:r>
            <a:r>
              <a:rPr dirty="0" sz="700">
                <a:latin typeface="Batang"/>
                <a:cs typeface="Batang"/>
              </a:rPr>
              <a:t>이며</a:t>
            </a:r>
            <a:r>
              <a:rPr dirty="0" sz="700">
                <a:latin typeface="Arial"/>
                <a:cs typeface="Arial"/>
              </a:rPr>
              <a:t>,</a:t>
            </a:r>
            <a:r>
              <a:rPr dirty="0" sz="700" spc="10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PV</a:t>
            </a:r>
            <a:r>
              <a:rPr dirty="0" sz="700" spc="-10">
                <a:latin typeface="Batang"/>
                <a:cs typeface="Batang"/>
              </a:rPr>
              <a:t>는</a:t>
            </a:r>
            <a:r>
              <a:rPr dirty="0" sz="700" spc="-30">
                <a:latin typeface="Batang"/>
                <a:cs typeface="Batang"/>
              </a:rPr>
              <a:t> </a:t>
            </a:r>
            <a:r>
              <a:rPr dirty="0" sz="700" spc="-10">
                <a:latin typeface="Arial"/>
                <a:cs typeface="Arial"/>
              </a:rPr>
              <a:t>StorageClass</a:t>
            </a:r>
            <a:r>
              <a:rPr dirty="0" sz="700" spc="-10">
                <a:latin typeface="Batang"/>
                <a:cs typeface="Batang"/>
              </a:rPr>
              <a:t>나</a:t>
            </a:r>
            <a:r>
              <a:rPr dirty="0" sz="700" spc="-30">
                <a:latin typeface="Batang"/>
                <a:cs typeface="Batang"/>
              </a:rPr>
              <a:t> </a:t>
            </a:r>
            <a:r>
              <a:rPr dirty="0" sz="700" spc="-10">
                <a:latin typeface="Arial"/>
                <a:cs typeface="Arial"/>
              </a:rPr>
              <a:t>ClusterRole</a:t>
            </a:r>
            <a:r>
              <a:rPr dirty="0" sz="700" spc="-10">
                <a:latin typeface="Batang"/>
                <a:cs typeface="Batang"/>
              </a:rPr>
              <a:t>과</a:t>
            </a:r>
            <a:r>
              <a:rPr dirty="0" sz="700" spc="-3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같이</a:t>
            </a:r>
            <a:r>
              <a:rPr dirty="0" sz="700" spc="-35">
                <a:latin typeface="Batang"/>
                <a:cs typeface="Batang"/>
              </a:rPr>
              <a:t> </a:t>
            </a:r>
            <a:r>
              <a:rPr dirty="0" sz="700">
                <a:latin typeface="Arial"/>
                <a:cs typeface="Arial"/>
              </a:rPr>
              <a:t>Cluster-wide</a:t>
            </a:r>
            <a:r>
              <a:rPr dirty="0" sz="700" spc="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Object</a:t>
            </a:r>
            <a:r>
              <a:rPr dirty="0" sz="700">
                <a:latin typeface="Batang"/>
                <a:cs typeface="Batang"/>
              </a:rPr>
              <a:t>에</a:t>
            </a:r>
            <a:r>
              <a:rPr dirty="0" sz="700" spc="-30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해당합니다</a:t>
            </a:r>
            <a:r>
              <a:rPr dirty="0" sz="700" spc="-10">
                <a:latin typeface="Arial"/>
                <a:cs typeface="Arial"/>
              </a:rPr>
              <a:t>.</a:t>
            </a:r>
            <a:r>
              <a:rPr dirty="0" sz="700" spc="10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PV</a:t>
            </a:r>
            <a:r>
              <a:rPr dirty="0" sz="700" spc="-10">
                <a:latin typeface="Batang"/>
                <a:cs typeface="Batang"/>
              </a:rPr>
              <a:t>를</a:t>
            </a:r>
            <a:r>
              <a:rPr dirty="0" sz="700" spc="-30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동기화하려면 </a:t>
            </a:r>
            <a:r>
              <a:rPr dirty="0" sz="700">
                <a:latin typeface="Arial"/>
                <a:cs typeface="Arial"/>
              </a:rPr>
              <a:t>Cluster-admin</a:t>
            </a:r>
            <a:r>
              <a:rPr dirty="0" sz="700" spc="85">
                <a:latin typeface="Arial"/>
                <a:cs typeface="Arial"/>
              </a:rPr>
              <a:t> </a:t>
            </a:r>
            <a:r>
              <a:rPr dirty="0" sz="700">
                <a:latin typeface="Batang"/>
                <a:cs typeface="Batang"/>
              </a:rPr>
              <a:t>권한이</a:t>
            </a:r>
            <a:r>
              <a:rPr dirty="0" sz="700" spc="40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필요하므로</a:t>
            </a:r>
            <a:r>
              <a:rPr dirty="0" sz="700" spc="-10">
                <a:latin typeface="Arial"/>
                <a:cs typeface="Arial"/>
              </a:rPr>
              <a:t>,</a:t>
            </a:r>
            <a:r>
              <a:rPr dirty="0" sz="700" spc="85">
                <a:latin typeface="Arial"/>
                <a:cs typeface="Arial"/>
              </a:rPr>
              <a:t> </a:t>
            </a:r>
            <a:r>
              <a:rPr dirty="0" sz="700">
                <a:latin typeface="Batang"/>
                <a:cs typeface="Batang"/>
              </a:rPr>
              <a:t>클러스터</a:t>
            </a:r>
            <a:r>
              <a:rPr dirty="0" sz="700" spc="4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관리자가</a:t>
            </a:r>
            <a:r>
              <a:rPr dirty="0" sz="700" spc="45">
                <a:latin typeface="Batang"/>
                <a:cs typeface="Batang"/>
              </a:rPr>
              <a:t> </a:t>
            </a:r>
            <a:r>
              <a:rPr dirty="0" sz="700" spc="130">
                <a:latin typeface="Batang"/>
                <a:cs typeface="Batang"/>
              </a:rPr>
              <a:t>대응해🅓</a:t>
            </a:r>
            <a:r>
              <a:rPr dirty="0" sz="700" spc="40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합니다</a:t>
            </a:r>
            <a:r>
              <a:rPr dirty="0" sz="700" spc="-10">
                <a:latin typeface="Arial"/>
                <a:cs typeface="Arial"/>
              </a:rPr>
              <a:t>.</a:t>
            </a:r>
            <a:r>
              <a:rPr dirty="0" sz="700" spc="85">
                <a:latin typeface="Arial"/>
                <a:cs typeface="Arial"/>
              </a:rPr>
              <a:t> </a:t>
            </a:r>
            <a:r>
              <a:rPr dirty="0" u="sng" sz="700">
                <a:solidFill>
                  <a:srgbClr val="604877"/>
                </a:solidFill>
                <a:uFill>
                  <a:solidFill>
                    <a:srgbClr val="604877"/>
                  </a:solidFill>
                </a:uFill>
                <a:latin typeface="Arial"/>
                <a:cs typeface="Arial"/>
                <a:hlinkClick r:id="rId11"/>
              </a:rPr>
              <a:t>https://kubernetes.io/docs/concepts/overview/working-with-</a:t>
            </a:r>
            <a:r>
              <a:rPr dirty="0" u="sng" sz="700" spc="-10">
                <a:solidFill>
                  <a:srgbClr val="604877"/>
                </a:solidFill>
                <a:uFill>
                  <a:solidFill>
                    <a:srgbClr val="604877"/>
                  </a:solidFill>
                </a:uFill>
                <a:latin typeface="Arial"/>
                <a:cs typeface="Arial"/>
                <a:hlinkClick r:id="rId11"/>
              </a:rPr>
              <a:t>objects/namespaces/</a:t>
            </a:r>
            <a:endParaRPr sz="7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spcBef>
                <a:spcPts val="125"/>
              </a:spcBef>
              <a:buAutoNum type="arabicPlain"/>
              <a:tabLst>
                <a:tab pos="151130" algn="l"/>
              </a:tabLst>
            </a:pPr>
            <a:r>
              <a:rPr dirty="0" sz="700" spc="-10">
                <a:latin typeface="Arial"/>
                <a:cs typeface="Arial"/>
              </a:rPr>
              <a:t>PV</a:t>
            </a:r>
            <a:r>
              <a:rPr dirty="0" sz="700" spc="-10">
                <a:latin typeface="Batang"/>
                <a:cs typeface="Batang"/>
              </a:rPr>
              <a:t>이외에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Arial"/>
                <a:cs typeface="Arial"/>
              </a:rPr>
              <a:t>Custom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 spc="-20">
                <a:latin typeface="Arial"/>
                <a:cs typeface="Arial"/>
              </a:rPr>
              <a:t>Resource</a:t>
            </a:r>
            <a:r>
              <a:rPr dirty="0" sz="700" spc="-20">
                <a:latin typeface="Batang"/>
                <a:cs typeface="Batang"/>
              </a:rPr>
              <a:t>를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사용하는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Arial"/>
                <a:cs typeface="Arial"/>
              </a:rPr>
              <a:t>Logging</a:t>
            </a:r>
            <a:r>
              <a:rPr dirty="0" sz="700">
                <a:latin typeface="Batang"/>
                <a:cs typeface="Batang"/>
              </a:rPr>
              <a:t>등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개별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Arial"/>
                <a:cs typeface="Arial"/>
              </a:rPr>
              <a:t>Operator</a:t>
            </a:r>
            <a:r>
              <a:rPr dirty="0" sz="700">
                <a:latin typeface="Batang"/>
                <a:cs typeface="Batang"/>
              </a:rPr>
              <a:t>를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설치하는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경우</a:t>
            </a:r>
            <a:r>
              <a:rPr dirty="0" sz="700" spc="-10">
                <a:latin typeface="Arial"/>
                <a:cs typeface="Arial"/>
              </a:rPr>
              <a:t>,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>
                <a:latin typeface="Batang"/>
                <a:cs typeface="Batang"/>
              </a:rPr>
              <a:t>양쪽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클러스터에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설정을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 spc="130">
                <a:latin typeface="Batang"/>
                <a:cs typeface="Batang"/>
              </a:rPr>
              <a:t>배포해🅓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 spc="-20">
                <a:latin typeface="Batang"/>
                <a:cs typeface="Batang"/>
              </a:rPr>
              <a:t>합니다</a:t>
            </a:r>
            <a:r>
              <a:rPr dirty="0" sz="700" spc="-20">
                <a:latin typeface="Arial"/>
                <a:cs typeface="Arial"/>
              </a:rPr>
              <a:t>.</a:t>
            </a:r>
            <a:endParaRPr sz="700">
              <a:latin typeface="Arial"/>
              <a:cs typeface="Arial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811241" y="904238"/>
            <a:ext cx="6235700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1620" marR="5080" indent="-249554">
              <a:lnSpc>
                <a:spcPct val="114999"/>
              </a:lnSpc>
              <a:spcBef>
                <a:spcPts val="100"/>
              </a:spcBef>
              <a:buChar char="●"/>
              <a:tabLst>
                <a:tab pos="261620" algn="l"/>
              </a:tabLst>
            </a:pPr>
            <a:r>
              <a:rPr dirty="0" sz="1100" spc="-280">
                <a:latin typeface="Arial"/>
                <a:cs typeface="Arial"/>
              </a:rPr>
              <a:t>1</a:t>
            </a:r>
            <a:r>
              <a:rPr dirty="0" sz="1100" spc="25">
                <a:latin typeface="Arial"/>
                <a:cs typeface="Arial"/>
              </a:rPr>
              <a:t> - </a:t>
            </a:r>
            <a:r>
              <a:rPr dirty="0" sz="1100">
                <a:latin typeface="Arial"/>
                <a:cs typeface="Arial"/>
              </a:rPr>
              <a:t>2</a:t>
            </a:r>
            <a:r>
              <a:rPr dirty="0" sz="1100" spc="240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구간에서는</a:t>
            </a:r>
            <a:r>
              <a:rPr dirty="0" sz="1100" spc="4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수동</a:t>
            </a:r>
            <a:r>
              <a:rPr dirty="0" sz="1100" spc="-3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방식</a:t>
            </a:r>
            <a:r>
              <a:rPr dirty="0" sz="1100" spc="-4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또는</a:t>
            </a:r>
            <a:r>
              <a:rPr dirty="0" sz="1100" spc="-30">
                <a:latin typeface="Batang"/>
                <a:cs typeface="Batang"/>
              </a:rPr>
              <a:t> </a:t>
            </a:r>
            <a:r>
              <a:rPr dirty="0" sz="1100" spc="-30">
                <a:latin typeface="Arial"/>
                <a:cs typeface="Arial"/>
              </a:rPr>
              <a:t>RHACM </a:t>
            </a:r>
            <a:r>
              <a:rPr dirty="0" sz="1100">
                <a:latin typeface="Batang"/>
                <a:cs typeface="Batang"/>
              </a:rPr>
              <a:t>사용</a:t>
            </a:r>
            <a:r>
              <a:rPr dirty="0" sz="1100">
                <a:latin typeface="MS PGothic"/>
                <a:cs typeface="MS PGothic"/>
              </a:rPr>
              <a:t>、</a:t>
            </a:r>
            <a:r>
              <a:rPr dirty="0" sz="1100">
                <a:latin typeface="Arial"/>
                <a:cs typeface="Arial"/>
              </a:rPr>
              <a:t>2</a:t>
            </a:r>
            <a:r>
              <a:rPr dirty="0" sz="1100" spc="25">
                <a:latin typeface="Arial"/>
                <a:cs typeface="Arial"/>
              </a:rPr>
              <a:t> - </a:t>
            </a:r>
            <a:r>
              <a:rPr dirty="0" sz="1100">
                <a:latin typeface="Arial"/>
                <a:cs typeface="Arial"/>
              </a:rPr>
              <a:t>3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구간에서는</a:t>
            </a:r>
            <a:r>
              <a:rPr dirty="0" sz="1100" spc="50">
                <a:latin typeface="Batang"/>
                <a:cs typeface="Batang"/>
              </a:rPr>
              <a:t> </a:t>
            </a:r>
            <a:r>
              <a:rPr dirty="0" sz="1100">
                <a:latin typeface="Arial"/>
                <a:cs typeface="Arial"/>
              </a:rPr>
              <a:t>DELL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CSM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Replication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Batang"/>
                <a:cs typeface="Batang"/>
              </a:rPr>
              <a:t>사용 </a:t>
            </a:r>
            <a:r>
              <a:rPr dirty="0" sz="1100" spc="-10">
                <a:latin typeface="Arial"/>
                <a:cs typeface="Arial"/>
              </a:rPr>
              <a:t>(RHACM</a:t>
            </a:r>
            <a:r>
              <a:rPr dirty="0" sz="1100" spc="-10">
                <a:latin typeface="Batang"/>
                <a:cs typeface="Batang"/>
              </a:rPr>
              <a:t>과</a:t>
            </a:r>
            <a:r>
              <a:rPr dirty="0" sz="1100" spc="-70">
                <a:latin typeface="Batang"/>
                <a:cs typeface="Batang"/>
              </a:rPr>
              <a:t> </a:t>
            </a:r>
            <a:r>
              <a:rPr dirty="0" sz="1100" spc="-20">
                <a:latin typeface="Arial"/>
                <a:cs typeface="Arial"/>
              </a:rPr>
              <a:t>RHODF</a:t>
            </a:r>
            <a:r>
              <a:rPr dirty="0" sz="1100" spc="-20">
                <a:latin typeface="Batang"/>
                <a:cs typeface="Batang"/>
              </a:rPr>
              <a:t>는</a:t>
            </a:r>
            <a:r>
              <a:rPr dirty="0" sz="1100" spc="-7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제외된</a:t>
            </a:r>
            <a:r>
              <a:rPr dirty="0" sz="1100" spc="-20">
                <a:latin typeface="Batang"/>
                <a:cs typeface="Batang"/>
              </a:rPr>
              <a:t> </a:t>
            </a:r>
            <a:r>
              <a:rPr dirty="0" sz="1100" spc="-10">
                <a:latin typeface="Batang"/>
                <a:cs typeface="Batang"/>
              </a:rPr>
              <a:t>방식입니다</a:t>
            </a:r>
            <a:r>
              <a:rPr dirty="0" sz="1100" spc="-10">
                <a:latin typeface="Arial"/>
                <a:cs typeface="Arial"/>
              </a:rPr>
              <a:t>.)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4333958" y="2245875"/>
            <a:ext cx="8166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878787"/>
                </a:solidFill>
                <a:latin typeface="Batang"/>
                <a:cs typeface="Batang"/>
              </a:rPr>
              <a:t>수동</a:t>
            </a:r>
            <a:r>
              <a:rPr dirty="0" sz="1100" spc="-35">
                <a:solidFill>
                  <a:srgbClr val="878787"/>
                </a:solidFill>
                <a:latin typeface="Batang"/>
                <a:cs typeface="Batang"/>
              </a:rPr>
              <a:t> </a:t>
            </a:r>
            <a:r>
              <a:rPr dirty="0" sz="1100">
                <a:solidFill>
                  <a:srgbClr val="878787"/>
                </a:solidFill>
                <a:latin typeface="Arial"/>
                <a:cs typeface="Arial"/>
              </a:rPr>
              <a:t>or</a:t>
            </a:r>
            <a:r>
              <a:rPr dirty="0" sz="1100" spc="-3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878787"/>
                </a:solidFill>
                <a:latin typeface="Arial"/>
                <a:cs typeface="Arial"/>
              </a:rPr>
              <a:t>ACM</a:t>
            </a:r>
            <a:endParaRPr sz="1100">
              <a:latin typeface="Arial"/>
              <a:cs typeface="Arial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4296126" y="3261175"/>
            <a:ext cx="8547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760" marR="5080" indent="-99695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999999"/>
                </a:solidFill>
                <a:latin typeface="Arial"/>
                <a:cs typeface="Arial"/>
              </a:rPr>
              <a:t>DELL</a:t>
            </a:r>
            <a:r>
              <a:rPr dirty="0" sz="10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999999"/>
                </a:solidFill>
                <a:latin typeface="Arial"/>
                <a:cs typeface="Arial"/>
              </a:rPr>
              <a:t>CSM</a:t>
            </a:r>
            <a:r>
              <a:rPr dirty="0" sz="10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999999"/>
                </a:solidFill>
                <a:latin typeface="Arial"/>
                <a:cs typeface="Arial"/>
              </a:rPr>
              <a:t>for </a:t>
            </a:r>
            <a:r>
              <a:rPr dirty="0" sz="1000" spc="-10">
                <a:solidFill>
                  <a:srgbClr val="999999"/>
                </a:solidFill>
                <a:latin typeface="Arial"/>
                <a:cs typeface="Arial"/>
              </a:rPr>
              <a:t>Replication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4296126" y="4175574"/>
            <a:ext cx="8547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760" marR="5080" indent="-99695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999999"/>
                </a:solidFill>
                <a:latin typeface="Arial"/>
                <a:cs typeface="Arial"/>
              </a:rPr>
              <a:t>DELL</a:t>
            </a:r>
            <a:r>
              <a:rPr dirty="0" sz="10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999999"/>
                </a:solidFill>
                <a:latin typeface="Arial"/>
                <a:cs typeface="Arial"/>
              </a:rPr>
              <a:t>CSM</a:t>
            </a:r>
            <a:r>
              <a:rPr dirty="0" sz="1000" spc="-2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999999"/>
                </a:solidFill>
                <a:latin typeface="Arial"/>
                <a:cs typeface="Arial"/>
              </a:rPr>
              <a:t>for </a:t>
            </a:r>
            <a:r>
              <a:rPr dirty="0" sz="1000" spc="-10">
                <a:solidFill>
                  <a:srgbClr val="999999"/>
                </a:solidFill>
                <a:latin typeface="Arial"/>
                <a:cs typeface="Arial"/>
              </a:rPr>
              <a:t>Replication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6440" y="4586149"/>
            <a:ext cx="5157470" cy="31369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600" spc="-25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  <a:p>
            <a:pPr marL="462915">
              <a:lnSpc>
                <a:spcPct val="100000"/>
              </a:lnSpc>
              <a:spcBef>
                <a:spcPts val="380"/>
              </a:spcBef>
            </a:pPr>
            <a:r>
              <a:rPr dirty="0" sz="700" spc="-25">
                <a:latin typeface="Arial"/>
                <a:cs typeface="Arial"/>
              </a:rPr>
              <a:t>[1]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CLI(oc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apply</a:t>
            </a:r>
            <a:r>
              <a:rPr dirty="0" sz="700">
                <a:latin typeface="Batang"/>
                <a:cs typeface="Batang"/>
              </a:rPr>
              <a:t>나</a:t>
            </a:r>
            <a:r>
              <a:rPr dirty="0" sz="700" spc="-50">
                <a:latin typeface="Batang"/>
                <a:cs typeface="Batang"/>
              </a:rPr>
              <a:t> </a:t>
            </a:r>
            <a:r>
              <a:rPr dirty="0" sz="700">
                <a:latin typeface="Arial"/>
                <a:cs typeface="Arial"/>
              </a:rPr>
              <a:t>oc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create)</a:t>
            </a:r>
            <a:r>
              <a:rPr dirty="0" sz="700">
                <a:latin typeface="Batang"/>
                <a:cs typeface="Batang"/>
              </a:rPr>
              <a:t>를</a:t>
            </a:r>
            <a:r>
              <a:rPr dirty="0" sz="700" spc="-5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사용한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작업을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전제로</a:t>
            </a:r>
            <a:r>
              <a:rPr dirty="0" sz="700" spc="-50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하며</a:t>
            </a:r>
            <a:r>
              <a:rPr dirty="0" sz="700" spc="-10">
                <a:latin typeface="Arial"/>
                <a:cs typeface="Arial"/>
              </a:rPr>
              <a:t>,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Deployment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>
                <a:latin typeface="Batang"/>
                <a:cs typeface="Batang"/>
              </a:rPr>
              <a:t>등의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매니페스트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Arial"/>
                <a:cs typeface="Arial"/>
              </a:rPr>
              <a:t>Git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>
                <a:latin typeface="Batang"/>
                <a:cs typeface="Batang"/>
              </a:rPr>
              <a:t>저장소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등에서</a:t>
            </a:r>
            <a:r>
              <a:rPr dirty="0" sz="700" spc="-55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관리합니다</a:t>
            </a:r>
            <a:r>
              <a:rPr dirty="0" sz="700" spc="-10">
                <a:latin typeface="Arial"/>
                <a:cs typeface="Arial"/>
              </a:rPr>
              <a:t>.</a:t>
            </a:r>
            <a:endParaRPr sz="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0"/>
              <a:t>1.</a:t>
            </a:r>
            <a:r>
              <a:rPr dirty="0" spc="-140"/>
              <a:t> </a:t>
            </a:r>
            <a:r>
              <a:rPr dirty="0">
                <a:latin typeface="Batang"/>
                <a:cs typeface="Batang"/>
              </a:rPr>
              <a:t>수동으로</a:t>
            </a:r>
            <a:r>
              <a:rPr dirty="0" spc="-250">
                <a:latin typeface="Batang"/>
                <a:cs typeface="Batang"/>
              </a:rPr>
              <a:t> </a:t>
            </a:r>
            <a:r>
              <a:rPr dirty="0" spc="-25">
                <a:latin typeface="Batang"/>
                <a:cs typeface="Batang"/>
              </a:rPr>
              <a:t>작업시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199578" y="1412087"/>
            <a:ext cx="4791710" cy="2245360"/>
            <a:chOff x="4199578" y="1412087"/>
            <a:chExt cx="4791710" cy="2245360"/>
          </a:xfrm>
        </p:grpSpPr>
        <p:sp>
          <p:nvSpPr>
            <p:cNvPr id="5" name="object 5" descr=""/>
            <p:cNvSpPr/>
            <p:nvPr/>
          </p:nvSpPr>
          <p:spPr>
            <a:xfrm>
              <a:off x="4247566" y="2468799"/>
              <a:ext cx="459740" cy="250190"/>
            </a:xfrm>
            <a:custGeom>
              <a:avLst/>
              <a:gdLst/>
              <a:ahLst/>
              <a:cxnLst/>
              <a:rect l="l" t="t" r="r" b="b"/>
              <a:pathLst>
                <a:path w="459739" h="250189">
                  <a:moveTo>
                    <a:pt x="459449" y="0"/>
                  </a:moveTo>
                  <a:lnTo>
                    <a:pt x="459449" y="249894"/>
                  </a:lnTo>
                  <a:lnTo>
                    <a:pt x="0" y="24989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204341" y="27029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204341" y="27029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707015" y="2468799"/>
              <a:ext cx="483870" cy="250190"/>
            </a:xfrm>
            <a:custGeom>
              <a:avLst/>
              <a:gdLst/>
              <a:ahLst/>
              <a:cxnLst/>
              <a:rect l="l" t="t" r="r" b="b"/>
              <a:pathLst>
                <a:path w="483870" h="250189">
                  <a:moveTo>
                    <a:pt x="0" y="0"/>
                  </a:moveTo>
                  <a:lnTo>
                    <a:pt x="0" y="249894"/>
                  </a:lnTo>
                  <a:lnTo>
                    <a:pt x="483749" y="24989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190764" y="27029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190764" y="270296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248089" y="1412087"/>
              <a:ext cx="3743325" cy="2245360"/>
            </a:xfrm>
            <a:custGeom>
              <a:avLst/>
              <a:gdLst/>
              <a:ahLst/>
              <a:cxnLst/>
              <a:rect l="l" t="t" r="r" b="b"/>
              <a:pathLst>
                <a:path w="3743325" h="2245360">
                  <a:moveTo>
                    <a:pt x="3743092" y="2244830"/>
                  </a:moveTo>
                  <a:lnTo>
                    <a:pt x="0" y="2244830"/>
                  </a:lnTo>
                  <a:lnTo>
                    <a:pt x="0" y="0"/>
                  </a:lnTo>
                  <a:lnTo>
                    <a:pt x="3743092" y="0"/>
                  </a:lnTo>
                  <a:lnTo>
                    <a:pt x="3743092" y="224483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7216" y="1435889"/>
            <a:ext cx="647998" cy="647998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811253" y="847689"/>
            <a:ext cx="7559040" cy="80645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61620" indent="-248920">
              <a:lnSpc>
                <a:spcPct val="100000"/>
              </a:lnSpc>
              <a:spcBef>
                <a:spcPts val="295"/>
              </a:spcBef>
              <a:buFont typeface="Arial"/>
              <a:buChar char="●"/>
              <a:tabLst>
                <a:tab pos="261620" algn="l"/>
              </a:tabLst>
            </a:pPr>
            <a:r>
              <a:rPr dirty="0" sz="1100">
                <a:latin typeface="Batang"/>
                <a:cs typeface="Batang"/>
              </a:rPr>
              <a:t>애플리케이션</a:t>
            </a:r>
            <a:r>
              <a:rPr dirty="0" sz="1100" spc="3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운영자등</a:t>
            </a:r>
            <a:r>
              <a:rPr dirty="0" sz="1100" spc="-1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사용자가</a:t>
            </a:r>
            <a:r>
              <a:rPr dirty="0" sz="1100" spc="-1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애플리케이션을</a:t>
            </a:r>
            <a:r>
              <a:rPr dirty="0" sz="1100" spc="6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클러스터에</a:t>
            </a:r>
            <a:r>
              <a:rPr dirty="0" sz="1100" spc="1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배치할</a:t>
            </a:r>
            <a:r>
              <a:rPr dirty="0" sz="1100" spc="-4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때</a:t>
            </a:r>
            <a:r>
              <a:rPr dirty="0" sz="1100" spc="-9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양쪽</a:t>
            </a:r>
            <a:r>
              <a:rPr dirty="0" sz="1100" spc="-6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클러스터에</a:t>
            </a:r>
            <a:r>
              <a:rPr dirty="0" sz="1100" spc="26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작업을</a:t>
            </a:r>
            <a:r>
              <a:rPr dirty="0" sz="1100" spc="-40">
                <a:latin typeface="Batang"/>
                <a:cs typeface="Batang"/>
              </a:rPr>
              <a:t> </a:t>
            </a:r>
            <a:r>
              <a:rPr dirty="0" sz="1100" spc="195">
                <a:latin typeface="Batang"/>
                <a:cs typeface="Batang"/>
              </a:rPr>
              <a:t>수행해🅓</a:t>
            </a:r>
            <a:r>
              <a:rPr dirty="0" sz="1100" spc="-15">
                <a:latin typeface="Batang"/>
                <a:cs typeface="Batang"/>
              </a:rPr>
              <a:t> </a:t>
            </a:r>
            <a:r>
              <a:rPr dirty="0" sz="1100" spc="-105">
                <a:latin typeface="Batang"/>
                <a:cs typeface="Batang"/>
              </a:rPr>
              <a:t>합니다</a:t>
            </a:r>
            <a:r>
              <a:rPr dirty="0" sz="1100" spc="-105">
                <a:latin typeface="Arial"/>
                <a:cs typeface="Arial"/>
              </a:rPr>
              <a:t>.[1]</a:t>
            </a:r>
            <a:endParaRPr sz="1100">
              <a:latin typeface="Arial"/>
              <a:cs typeface="Arial"/>
            </a:endParaRPr>
          </a:p>
          <a:p>
            <a:pPr marL="261620" indent="-248920">
              <a:lnSpc>
                <a:spcPct val="100000"/>
              </a:lnSpc>
              <a:spcBef>
                <a:spcPts val="200"/>
              </a:spcBef>
              <a:buFont typeface="Arial"/>
              <a:buChar char="●"/>
              <a:tabLst>
                <a:tab pos="261620" algn="l"/>
              </a:tabLst>
            </a:pPr>
            <a:r>
              <a:rPr dirty="0" sz="1100">
                <a:latin typeface="Batang"/>
                <a:cs typeface="Batang"/>
              </a:rPr>
              <a:t>애플리케이션</a:t>
            </a:r>
            <a:r>
              <a:rPr dirty="0" sz="1100" spc="5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외에도</a:t>
            </a:r>
            <a:r>
              <a:rPr dirty="0" sz="1100" spc="-2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클러스터 업그레이드나</a:t>
            </a:r>
            <a:r>
              <a:rPr dirty="0" sz="1100" spc="55">
                <a:latin typeface="Batang"/>
                <a:cs typeface="Batang"/>
              </a:rPr>
              <a:t> </a:t>
            </a:r>
            <a:r>
              <a:rPr dirty="0" sz="1100">
                <a:latin typeface="Arial"/>
                <a:cs typeface="Arial"/>
              </a:rPr>
              <a:t>Operator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설치</a:t>
            </a:r>
            <a:r>
              <a:rPr dirty="0" sz="1100" spc="-5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등</a:t>
            </a:r>
            <a:r>
              <a:rPr dirty="0" sz="1100" spc="-7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클러스터 관리자의 작업도</a:t>
            </a:r>
            <a:r>
              <a:rPr dirty="0" sz="1100" spc="-30">
                <a:latin typeface="Batang"/>
                <a:cs typeface="Batang"/>
              </a:rPr>
              <a:t> </a:t>
            </a:r>
            <a:r>
              <a:rPr dirty="0" sz="1100" spc="-10">
                <a:latin typeface="Batang"/>
                <a:cs typeface="Batang"/>
              </a:rPr>
              <a:t>포함됩니다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100">
              <a:latin typeface="Arial"/>
              <a:cs typeface="Arial"/>
            </a:endParaRPr>
          </a:p>
          <a:p>
            <a:pPr marL="4503420">
              <a:lnSpc>
                <a:spcPct val="100000"/>
              </a:lnSpc>
            </a:pPr>
            <a:r>
              <a:rPr dirty="0" sz="1100">
                <a:latin typeface="Arial"/>
                <a:cs typeface="Arial"/>
              </a:rPr>
              <a:t>OCP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Cluster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(Passive)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248089" y="3693092"/>
            <a:ext cx="3743325" cy="846455"/>
          </a:xfrm>
          <a:custGeom>
            <a:avLst/>
            <a:gdLst/>
            <a:ahLst/>
            <a:cxnLst/>
            <a:rect l="l" t="t" r="r" b="b"/>
            <a:pathLst>
              <a:path w="3743325" h="846454">
                <a:moveTo>
                  <a:pt x="3743092" y="845998"/>
                </a:moveTo>
                <a:lnTo>
                  <a:pt x="0" y="845998"/>
                </a:lnTo>
                <a:lnTo>
                  <a:pt x="0" y="0"/>
                </a:lnTo>
                <a:lnTo>
                  <a:pt x="3743092" y="0"/>
                </a:lnTo>
                <a:lnTo>
                  <a:pt x="3743092" y="845998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5302048" y="3741478"/>
            <a:ext cx="16802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Persistent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Storage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(DELL)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372664" y="2782069"/>
            <a:ext cx="3458845" cy="765175"/>
          </a:xfrm>
          <a:custGeom>
            <a:avLst/>
            <a:gdLst/>
            <a:ahLst/>
            <a:cxnLst/>
            <a:rect l="l" t="t" r="r" b="b"/>
            <a:pathLst>
              <a:path w="3458845" h="765175">
                <a:moveTo>
                  <a:pt x="0" y="0"/>
                </a:moveTo>
                <a:lnTo>
                  <a:pt x="3458243" y="0"/>
                </a:lnTo>
                <a:lnTo>
                  <a:pt x="3458243" y="764773"/>
                </a:lnTo>
                <a:lnTo>
                  <a:pt x="0" y="76477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250663" y="2039888"/>
            <a:ext cx="2341245" cy="1151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935" marR="1467485" indent="-214629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Batang"/>
                <a:cs typeface="Batang"/>
              </a:rPr>
              <a:t>애플리케이션 </a:t>
            </a:r>
            <a:r>
              <a:rPr dirty="0" sz="1100" spc="-25">
                <a:latin typeface="Batang"/>
                <a:cs typeface="Batang"/>
              </a:rPr>
              <a:t>운영자</a:t>
            </a:r>
            <a:endParaRPr sz="1100">
              <a:latin typeface="Batang"/>
              <a:cs typeface="Batang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100">
              <a:latin typeface="Batang"/>
              <a:cs typeface="Batang"/>
            </a:endParaRPr>
          </a:p>
          <a:p>
            <a:pPr marL="12700">
              <a:lnSpc>
                <a:spcPts val="1160"/>
              </a:lnSpc>
              <a:spcBef>
                <a:spcPts val="5"/>
              </a:spcBef>
            </a:pPr>
            <a:r>
              <a:rPr dirty="0" sz="1100">
                <a:latin typeface="Arial"/>
                <a:cs typeface="Arial"/>
              </a:rPr>
              <a:t>CLI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(oc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apply)</a:t>
            </a:r>
            <a:endParaRPr sz="1100">
              <a:latin typeface="Arial"/>
              <a:cs typeface="Arial"/>
            </a:endParaRPr>
          </a:p>
          <a:p>
            <a:pPr marL="1188085">
              <a:lnSpc>
                <a:spcPts val="1160"/>
              </a:lnSpc>
            </a:pPr>
            <a:r>
              <a:rPr dirty="0" sz="1100">
                <a:latin typeface="Arial"/>
                <a:cs typeface="Arial"/>
              </a:rPr>
              <a:t>Cluster-</a:t>
            </a:r>
            <a:r>
              <a:rPr dirty="0" sz="1100" spc="-20">
                <a:latin typeface="Arial"/>
                <a:cs typeface="Arial"/>
              </a:rPr>
              <a:t>wide</a:t>
            </a:r>
            <a:endParaRPr sz="1100">
              <a:latin typeface="Arial"/>
              <a:cs typeface="Arial"/>
            </a:endParaRPr>
          </a:p>
          <a:p>
            <a:pPr marL="1188085">
              <a:lnSpc>
                <a:spcPct val="100000"/>
              </a:lnSpc>
            </a:pPr>
            <a:r>
              <a:rPr dirty="0" sz="1100" spc="-10">
                <a:latin typeface="Arial"/>
                <a:cs typeface="Arial"/>
              </a:rPr>
              <a:t>Object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367901" y="1680669"/>
            <a:ext cx="3319779" cy="1807845"/>
            <a:chOff x="5367901" y="1680669"/>
            <a:chExt cx="3319779" cy="1807845"/>
          </a:xfrm>
        </p:grpSpPr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39134" y="2860381"/>
              <a:ext cx="647973" cy="627736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6785" y="2859394"/>
              <a:ext cx="647973" cy="627723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5372664" y="168543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071" y="0"/>
                  </a:lnTo>
                  <a:lnTo>
                    <a:pt x="1679071" y="998062"/>
                  </a:lnTo>
                  <a:lnTo>
                    <a:pt x="0" y="9980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5426645" y="1733822"/>
            <a:ext cx="7632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Namespace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474063" y="1940421"/>
            <a:ext cx="2900680" cy="2456815"/>
            <a:chOff x="5474063" y="1940421"/>
            <a:chExt cx="2900680" cy="2456815"/>
          </a:xfrm>
        </p:grpSpPr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4063" y="1948823"/>
              <a:ext cx="647973" cy="627721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2437" y="1940421"/>
              <a:ext cx="647983" cy="627723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6596511" y="2568094"/>
              <a:ext cx="1773555" cy="1272540"/>
            </a:xfrm>
            <a:custGeom>
              <a:avLst/>
              <a:gdLst/>
              <a:ahLst/>
              <a:cxnLst/>
              <a:rect l="l" t="t" r="r" b="b"/>
              <a:pathLst>
                <a:path w="1773554" h="1272539">
                  <a:moveTo>
                    <a:pt x="1064247" y="291299"/>
                  </a:moveTo>
                  <a:lnTo>
                    <a:pt x="1064247" y="1050272"/>
                  </a:lnTo>
                  <a:lnTo>
                    <a:pt x="0" y="1050272"/>
                  </a:lnTo>
                  <a:lnTo>
                    <a:pt x="0" y="149"/>
                  </a:lnTo>
                </a:path>
                <a:path w="1773554" h="1272539">
                  <a:moveTo>
                    <a:pt x="1766596" y="292274"/>
                  </a:moveTo>
                  <a:lnTo>
                    <a:pt x="1765921" y="0"/>
                  </a:lnTo>
                </a:path>
                <a:path w="1773554" h="1272539">
                  <a:moveTo>
                    <a:pt x="1064247" y="919023"/>
                  </a:moveTo>
                  <a:lnTo>
                    <a:pt x="1064022" y="1255847"/>
                  </a:lnTo>
                </a:path>
                <a:path w="1773554" h="1272539">
                  <a:moveTo>
                    <a:pt x="1766596" y="920023"/>
                  </a:moveTo>
                  <a:lnTo>
                    <a:pt x="1773121" y="1271922"/>
                  </a:lnTo>
                </a:path>
              </a:pathLst>
            </a:custGeom>
            <a:ln w="952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74235" y="3824044"/>
              <a:ext cx="572638" cy="572621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7415087" y="4324074"/>
            <a:ext cx="4953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Volume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83408" y="3839942"/>
            <a:ext cx="572638" cy="572623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8122184" y="4313225"/>
            <a:ext cx="4953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Volume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392614" y="1680669"/>
            <a:ext cx="3430270" cy="2849880"/>
            <a:chOff x="5392614" y="1680669"/>
            <a:chExt cx="3430270" cy="2849880"/>
          </a:xfrm>
        </p:grpSpPr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92614" y="3882517"/>
              <a:ext cx="647973" cy="647973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7138710" y="168543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046" y="0"/>
                  </a:lnTo>
                  <a:lnTo>
                    <a:pt x="1679046" y="998062"/>
                  </a:lnTo>
                  <a:lnTo>
                    <a:pt x="0" y="9980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7192681" y="1733822"/>
            <a:ext cx="7632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Namespace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447489" y="1412087"/>
            <a:ext cx="8239125" cy="3125470"/>
            <a:chOff x="447489" y="1412087"/>
            <a:chExt cx="8239125" cy="3125470"/>
          </a:xfrm>
        </p:grpSpPr>
        <p:pic>
          <p:nvPicPr>
            <p:cNvPr id="36" name="object 3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0110" y="1948823"/>
              <a:ext cx="647973" cy="627721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38483" y="1940421"/>
              <a:ext cx="647973" cy="62772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81062" y="2865144"/>
              <a:ext cx="634373" cy="614548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447484" y="1412087"/>
              <a:ext cx="3743325" cy="3125470"/>
            </a:xfrm>
            <a:custGeom>
              <a:avLst/>
              <a:gdLst/>
              <a:ahLst/>
              <a:cxnLst/>
              <a:rect l="l" t="t" r="r" b="b"/>
              <a:pathLst>
                <a:path w="3743325" h="3125470">
                  <a:moveTo>
                    <a:pt x="3743096" y="2279459"/>
                  </a:moveTo>
                  <a:lnTo>
                    <a:pt x="0" y="2279459"/>
                  </a:lnTo>
                  <a:lnTo>
                    <a:pt x="0" y="3125457"/>
                  </a:lnTo>
                  <a:lnTo>
                    <a:pt x="3743096" y="3125457"/>
                  </a:lnTo>
                  <a:lnTo>
                    <a:pt x="3743096" y="2279459"/>
                  </a:lnTo>
                  <a:close/>
                </a:path>
                <a:path w="3743325" h="3125470">
                  <a:moveTo>
                    <a:pt x="3743096" y="0"/>
                  </a:moveTo>
                  <a:lnTo>
                    <a:pt x="0" y="0"/>
                  </a:lnTo>
                  <a:lnTo>
                    <a:pt x="0" y="2244915"/>
                  </a:lnTo>
                  <a:lnTo>
                    <a:pt x="3743096" y="2244915"/>
                  </a:lnTo>
                  <a:lnTo>
                    <a:pt x="3743096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3491" y="1948871"/>
            <a:ext cx="647998" cy="627748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1894" y="1940468"/>
            <a:ext cx="647998" cy="627751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73694" y="3822605"/>
            <a:ext cx="572648" cy="572636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82893" y="3838504"/>
            <a:ext cx="572648" cy="572636"/>
          </a:xfrm>
          <a:prstGeom prst="rect">
            <a:avLst/>
          </a:prstGeom>
        </p:spPr>
      </p:pic>
      <p:graphicFrame>
        <p:nvGraphicFramePr>
          <p:cNvPr id="44" name="object 44" descr=""/>
          <p:cNvGraphicFramePr>
            <a:graphicFrameLocks noGrp="1"/>
          </p:cNvGraphicFramePr>
          <p:nvPr/>
        </p:nvGraphicFramePr>
        <p:xfrm>
          <a:off x="447489" y="1412087"/>
          <a:ext cx="3819525" cy="3127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60"/>
                <a:gridCol w="1223645"/>
                <a:gridCol w="455295"/>
                <a:gridCol w="86994"/>
                <a:gridCol w="521969"/>
                <a:gridCol w="703580"/>
                <a:gridCol w="459740"/>
                <a:gridCol w="166370"/>
              </a:tblGrid>
              <a:tr h="273050">
                <a:tc gridSpan="8"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OCP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Cluster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(Active)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8201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ysDash"/>
                    </a:lnR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Namespace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B w="9525">
                      <a:solidFill>
                        <a:srgbClr val="313131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Namespace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solidFill>
                      <a:srgbClr val="EFEFEF"/>
                    </a:solidFill>
                  </a:tcPr>
                </a:tc>
              </a:tr>
              <a:tr h="1346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ysDash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313131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ysDash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31313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B w="9525">
                      <a:solidFill>
                        <a:srgbClr val="313131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B w="9525">
                      <a:solidFill>
                        <a:srgbClr val="313131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lnR w="12700">
                      <a:solidFill>
                        <a:srgbClr val="313131"/>
                      </a:solidFill>
                      <a:prstDash val="solid"/>
                    </a:lnR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31313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ysDash"/>
                    </a:lnB>
                    <a:solidFill>
                      <a:srgbClr val="EFEFE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solidFill>
                      <a:srgbClr val="EFEFEF"/>
                    </a:solidFill>
                  </a:tcPr>
                </a:tc>
              </a:tr>
              <a:tr h="8318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313131"/>
                      </a:solidFill>
                      <a:prstDash val="solid"/>
                    </a:lnR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313131"/>
                      </a:solidFill>
                      <a:prstDash val="solid"/>
                    </a:lnL>
                    <a:lnR w="12700">
                      <a:solidFill>
                        <a:srgbClr val="31313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  <a:lnB w="9525">
                      <a:solidFill>
                        <a:srgbClr val="000000"/>
                      </a:solidFill>
                      <a:prstDash val="sysDash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313131"/>
                      </a:solidFill>
                      <a:prstDash val="solid"/>
                    </a:lnL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64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ysDash"/>
                    </a:lnR>
                    <a:solidFill>
                      <a:srgbClr val="EFEFEF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66040" marR="25787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Cluster-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wide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Object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  <a:lnB w="9525">
                      <a:solidFill>
                        <a:srgbClr val="000000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solidFill>
                      <a:srgbClr val="EFEFEF"/>
                    </a:solidFill>
                  </a:tcPr>
                </a:tc>
              </a:tr>
              <a:tr h="10985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313131"/>
                      </a:solidFill>
                      <a:prstDash val="solid"/>
                    </a:lnR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313131"/>
                      </a:solidFill>
                      <a:prstDash val="solid"/>
                    </a:lnL>
                    <a:lnR w="19050">
                      <a:solidFill>
                        <a:srgbClr val="31313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313131"/>
                      </a:solidFill>
                      <a:prstDash val="solid"/>
                    </a:lnL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51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313131"/>
                      </a:solidFill>
                      <a:prstDash val="solid"/>
                    </a:lnR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313131"/>
                      </a:solidFill>
                      <a:prstDash val="solid"/>
                    </a:lnL>
                    <a:lnR w="19050">
                      <a:solidFill>
                        <a:srgbClr val="313131"/>
                      </a:solidFill>
                      <a:prstDash val="solid"/>
                    </a:lnR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313131"/>
                      </a:solidFill>
                      <a:prstDash val="solid"/>
                    </a:lnL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15010">
                <a:tc gridSpan="8">
                  <a:txBody>
                    <a:bodyPr/>
                    <a:lstStyle/>
                    <a:p>
                      <a:pPr marL="66040">
                        <a:lnSpc>
                          <a:spcPts val="77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Persistent</a:t>
                      </a:r>
                      <a:r>
                        <a:rPr dirty="0" sz="11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Storage</a:t>
                      </a:r>
                      <a:r>
                        <a:rPr dirty="0" sz="11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(DELL)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179320">
                        <a:lnSpc>
                          <a:spcPct val="100000"/>
                        </a:lnSpc>
                        <a:tabLst>
                          <a:tab pos="2886710" algn="l"/>
                        </a:tabLst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Volume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5050" sz="1650" spc="-15">
                          <a:latin typeface="Arial"/>
                          <a:cs typeface="Arial"/>
                        </a:rPr>
                        <a:t>Volume</a:t>
                      </a:r>
                      <a:endParaRPr baseline="5050" sz="1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45" name="object 4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8543" y="2860381"/>
            <a:ext cx="647973" cy="627736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6194" y="2859394"/>
            <a:ext cx="647973" cy="627723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2028" y="3880967"/>
            <a:ext cx="647973" cy="647973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9525" y="1948871"/>
            <a:ext cx="647993" cy="627748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37918" y="1940468"/>
            <a:ext cx="647998" cy="627751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88432" y="2865144"/>
            <a:ext cx="634383" cy="6145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7850" y="4627671"/>
            <a:ext cx="965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>
                <a:latin typeface="Arial"/>
                <a:cs typeface="Arial"/>
              </a:rPr>
              <a:t>15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dirty="0" spc="-55"/>
              <a:t> </a:t>
            </a:r>
            <a:r>
              <a:rPr dirty="0" spc="-40"/>
              <a:t>RHACM</a:t>
            </a:r>
            <a:r>
              <a:rPr dirty="0" spc="-55"/>
              <a:t> </a:t>
            </a:r>
            <a:r>
              <a:rPr dirty="0"/>
              <a:t>GitOps</a:t>
            </a:r>
            <a:r>
              <a:rPr dirty="0" spc="-55"/>
              <a:t> </a:t>
            </a:r>
            <a:r>
              <a:rPr dirty="0" spc="-10"/>
              <a:t>Operator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36811" y="4690210"/>
            <a:ext cx="6527165" cy="271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700" spc="-25">
                <a:latin typeface="Arial"/>
                <a:cs typeface="Arial"/>
              </a:rPr>
              <a:t>[1] </a:t>
            </a:r>
            <a:r>
              <a:rPr dirty="0" sz="700">
                <a:latin typeface="Batang"/>
                <a:cs typeface="Batang"/>
              </a:rPr>
              <a:t>사용자는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양쪽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클러스터에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로그인하지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않고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매니페스트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등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애플리케이션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설정을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 spc="-10">
                <a:latin typeface="Arial"/>
                <a:cs typeface="Arial"/>
              </a:rPr>
              <a:t>RHACM</a:t>
            </a:r>
            <a:r>
              <a:rPr dirty="0" sz="700" spc="-25">
                <a:latin typeface="Arial"/>
                <a:cs typeface="Arial"/>
              </a:rPr>
              <a:t> </a:t>
            </a:r>
            <a:r>
              <a:rPr dirty="0" sz="700">
                <a:latin typeface="Batang"/>
                <a:cs typeface="Batang"/>
              </a:rPr>
              <a:t>콘솔에서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수행하며</a:t>
            </a:r>
            <a:r>
              <a:rPr dirty="0" sz="700" spc="-10">
                <a:latin typeface="Arial"/>
                <a:cs typeface="Arial"/>
              </a:rPr>
              <a:t>,</a:t>
            </a:r>
            <a:r>
              <a:rPr dirty="0" sz="700" spc="-2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GitOps</a:t>
            </a:r>
            <a:r>
              <a:rPr dirty="0" sz="700" spc="-2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Operator</a:t>
            </a:r>
            <a:r>
              <a:rPr dirty="0" sz="700">
                <a:latin typeface="Batang"/>
                <a:cs typeface="Batang"/>
              </a:rPr>
              <a:t>가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애플리케이션을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지정된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클러스터에 </a:t>
            </a:r>
            <a:r>
              <a:rPr dirty="0" sz="700">
                <a:latin typeface="Batang"/>
                <a:cs typeface="Batang"/>
              </a:rPr>
              <a:t>배치합니다</a:t>
            </a:r>
            <a:r>
              <a:rPr dirty="0" sz="700">
                <a:latin typeface="Arial"/>
                <a:cs typeface="Arial"/>
              </a:rPr>
              <a:t>.</a:t>
            </a:r>
            <a:r>
              <a:rPr dirty="0" sz="700" spc="265">
                <a:latin typeface="Arial"/>
                <a:cs typeface="Arial"/>
              </a:rPr>
              <a:t>   </a:t>
            </a:r>
            <a:r>
              <a:rPr dirty="0" u="sng" sz="70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2"/>
              </a:rPr>
              <a:t>https://cloud.redhat.com/blog/understanding-gitops-with-red-hat-advanced-cluster-</a:t>
            </a:r>
            <a:r>
              <a:rPr dirty="0" u="sng" sz="700" spc="-1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2"/>
              </a:rPr>
              <a:t>management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150191" y="1412087"/>
            <a:ext cx="4841240" cy="2245360"/>
            <a:chOff x="4150191" y="1412087"/>
            <a:chExt cx="4841240" cy="2245360"/>
          </a:xfrm>
        </p:grpSpPr>
        <p:sp>
          <p:nvSpPr>
            <p:cNvPr id="6" name="object 6" descr=""/>
            <p:cNvSpPr/>
            <p:nvPr/>
          </p:nvSpPr>
          <p:spPr>
            <a:xfrm>
              <a:off x="5214589" y="1660676"/>
              <a:ext cx="1765300" cy="80645"/>
            </a:xfrm>
            <a:custGeom>
              <a:avLst/>
              <a:gdLst/>
              <a:ahLst/>
              <a:cxnLst/>
              <a:rect l="l" t="t" r="r" b="b"/>
              <a:pathLst>
                <a:path w="1765300" h="80644">
                  <a:moveTo>
                    <a:pt x="0" y="0"/>
                  </a:moveTo>
                  <a:lnTo>
                    <a:pt x="910948" y="0"/>
                  </a:lnTo>
                  <a:lnTo>
                    <a:pt x="910948" y="80099"/>
                  </a:lnTo>
                  <a:lnTo>
                    <a:pt x="1764746" y="800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0191" y="1440829"/>
              <a:ext cx="1064397" cy="43969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247791" y="2401082"/>
              <a:ext cx="501015" cy="149225"/>
            </a:xfrm>
            <a:custGeom>
              <a:avLst/>
              <a:gdLst/>
              <a:ahLst/>
              <a:cxnLst/>
              <a:rect l="l" t="t" r="r" b="b"/>
              <a:pathLst>
                <a:path w="501014" h="149225">
                  <a:moveTo>
                    <a:pt x="500848" y="0"/>
                  </a:moveTo>
                  <a:lnTo>
                    <a:pt x="500848" y="149112"/>
                  </a:lnTo>
                  <a:lnTo>
                    <a:pt x="0" y="149112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204566" y="25344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204566" y="25344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748640" y="2401082"/>
              <a:ext cx="442595" cy="149225"/>
            </a:xfrm>
            <a:custGeom>
              <a:avLst/>
              <a:gdLst/>
              <a:ahLst/>
              <a:cxnLst/>
              <a:rect l="l" t="t" r="r" b="b"/>
              <a:pathLst>
                <a:path w="442595" h="149225">
                  <a:moveTo>
                    <a:pt x="0" y="0"/>
                  </a:moveTo>
                  <a:lnTo>
                    <a:pt x="0" y="149112"/>
                  </a:lnTo>
                  <a:lnTo>
                    <a:pt x="442349" y="149112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190989" y="25344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0" y="0"/>
                  </a:lnTo>
                  <a:lnTo>
                    <a:pt x="43224" y="15749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190989" y="25344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74"/>
                  </a:moveTo>
                  <a:lnTo>
                    <a:pt x="43224" y="15749"/>
                  </a:lnTo>
                  <a:lnTo>
                    <a:pt x="0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248089" y="1412087"/>
              <a:ext cx="3743325" cy="2245360"/>
            </a:xfrm>
            <a:custGeom>
              <a:avLst/>
              <a:gdLst/>
              <a:ahLst/>
              <a:cxnLst/>
              <a:rect l="l" t="t" r="r" b="b"/>
              <a:pathLst>
                <a:path w="3743325" h="2245360">
                  <a:moveTo>
                    <a:pt x="3743092" y="2244830"/>
                  </a:moveTo>
                  <a:lnTo>
                    <a:pt x="0" y="2244830"/>
                  </a:lnTo>
                  <a:lnTo>
                    <a:pt x="0" y="0"/>
                  </a:lnTo>
                  <a:lnTo>
                    <a:pt x="3743092" y="0"/>
                  </a:lnTo>
                  <a:lnTo>
                    <a:pt x="3743092" y="224483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450245" y="1972166"/>
            <a:ext cx="5975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9055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GitOps Operator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6916" y="2641744"/>
            <a:ext cx="660373" cy="660373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811241" y="862645"/>
            <a:ext cx="7345680" cy="79121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61620" indent="-248920">
              <a:lnSpc>
                <a:spcPct val="100000"/>
              </a:lnSpc>
              <a:spcBef>
                <a:spcPts val="295"/>
              </a:spcBef>
              <a:buChar char="●"/>
              <a:tabLst>
                <a:tab pos="261620" algn="l"/>
              </a:tabLst>
            </a:pPr>
            <a:r>
              <a:rPr dirty="0" sz="1100" spc="-30">
                <a:latin typeface="Arial"/>
                <a:cs typeface="Arial"/>
              </a:rPr>
              <a:t>RHACM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GitOps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Operator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를</a:t>
            </a:r>
            <a:r>
              <a:rPr dirty="0" sz="1100" spc="-6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사용하는</a:t>
            </a:r>
            <a:r>
              <a:rPr dirty="0" sz="1100" spc="2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경우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애플리케이션</a:t>
            </a:r>
            <a:r>
              <a:rPr dirty="0" sz="1100" spc="7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운영자는</a:t>
            </a:r>
            <a:r>
              <a:rPr dirty="0" sz="1100" spc="30">
                <a:latin typeface="Batang"/>
                <a:cs typeface="Batang"/>
              </a:rPr>
              <a:t> </a:t>
            </a:r>
            <a:r>
              <a:rPr dirty="0" sz="1100" spc="-25">
                <a:latin typeface="Arial"/>
                <a:cs typeface="Arial"/>
              </a:rPr>
              <a:t>RHACM</a:t>
            </a:r>
            <a:r>
              <a:rPr dirty="0" sz="1100" spc="-25">
                <a:latin typeface="Batang"/>
                <a:cs typeface="Batang"/>
              </a:rPr>
              <a:t>에만</a:t>
            </a:r>
            <a:r>
              <a:rPr dirty="0" sz="1100" spc="-3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설정하여</a:t>
            </a:r>
            <a:r>
              <a:rPr dirty="0" sz="1100" spc="2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운영하면</a:t>
            </a:r>
            <a:r>
              <a:rPr dirty="0" sz="1100" spc="20">
                <a:latin typeface="Batang"/>
                <a:cs typeface="Batang"/>
              </a:rPr>
              <a:t> </a:t>
            </a:r>
            <a:r>
              <a:rPr dirty="0" sz="1100" spc="-10">
                <a:latin typeface="Batang"/>
                <a:cs typeface="Batang"/>
              </a:rPr>
              <a:t>됩니다</a:t>
            </a:r>
            <a:r>
              <a:rPr dirty="0" sz="1100" spc="-10">
                <a:latin typeface="Arial"/>
                <a:cs typeface="Arial"/>
              </a:rPr>
              <a:t>.[1]</a:t>
            </a:r>
            <a:endParaRPr sz="1100">
              <a:latin typeface="Arial"/>
              <a:cs typeface="Arial"/>
            </a:endParaRPr>
          </a:p>
          <a:p>
            <a:pPr marL="261620" indent="-248920">
              <a:lnSpc>
                <a:spcPct val="100000"/>
              </a:lnSpc>
              <a:spcBef>
                <a:spcPts val="200"/>
              </a:spcBef>
              <a:buFont typeface="Arial"/>
              <a:buChar char="●"/>
              <a:tabLst>
                <a:tab pos="261620" algn="l"/>
              </a:tabLst>
            </a:pPr>
            <a:r>
              <a:rPr dirty="0" sz="1100">
                <a:latin typeface="Batang"/>
                <a:cs typeface="Batang"/>
              </a:rPr>
              <a:t>클러스터 업그레이드나</a:t>
            </a:r>
            <a:r>
              <a:rPr dirty="0" sz="1100" spc="55">
                <a:latin typeface="Batang"/>
                <a:cs typeface="Batang"/>
              </a:rPr>
              <a:t> </a:t>
            </a:r>
            <a:r>
              <a:rPr dirty="0" sz="1100">
                <a:latin typeface="Arial"/>
                <a:cs typeface="Arial"/>
              </a:rPr>
              <a:t>Operator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설치</a:t>
            </a:r>
            <a:r>
              <a:rPr dirty="0" sz="1100" spc="-5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등</a:t>
            </a:r>
            <a:r>
              <a:rPr dirty="0" sz="1100" spc="-7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클러스터 관리자의 운영</a:t>
            </a:r>
            <a:r>
              <a:rPr dirty="0" sz="1100" spc="-5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작업도</a:t>
            </a:r>
            <a:r>
              <a:rPr dirty="0" sz="1100" spc="-25">
                <a:latin typeface="Batang"/>
                <a:cs typeface="Batang"/>
              </a:rPr>
              <a:t> </a:t>
            </a:r>
            <a:r>
              <a:rPr dirty="0" sz="1100" spc="-25">
                <a:latin typeface="Arial"/>
                <a:cs typeface="Arial"/>
              </a:rPr>
              <a:t>RHACM</a:t>
            </a:r>
            <a:r>
              <a:rPr dirty="0" sz="1100" spc="-25">
                <a:latin typeface="Batang"/>
                <a:cs typeface="Batang"/>
              </a:rPr>
              <a:t>에서</a:t>
            </a:r>
            <a:r>
              <a:rPr dirty="0" sz="1100" spc="-5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설정하여 운영하면 </a:t>
            </a:r>
            <a:r>
              <a:rPr dirty="0" sz="1100" spc="-20">
                <a:latin typeface="Batang"/>
                <a:cs typeface="Batang"/>
              </a:rPr>
              <a:t>됩니다</a:t>
            </a:r>
            <a:r>
              <a:rPr dirty="0" sz="1100" spc="-2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Arial"/>
              <a:cs typeface="Arial"/>
            </a:endParaRPr>
          </a:p>
          <a:p>
            <a:pPr marL="4503420">
              <a:lnSpc>
                <a:spcPct val="100000"/>
              </a:lnSpc>
            </a:pPr>
            <a:r>
              <a:rPr dirty="0" sz="1100">
                <a:latin typeface="Arial"/>
                <a:cs typeface="Arial"/>
              </a:rPr>
              <a:t>OCP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Cluster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(Passive)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248089" y="3693092"/>
            <a:ext cx="3743325" cy="846455"/>
          </a:xfrm>
          <a:custGeom>
            <a:avLst/>
            <a:gdLst/>
            <a:ahLst/>
            <a:cxnLst/>
            <a:rect l="l" t="t" r="r" b="b"/>
            <a:pathLst>
              <a:path w="3743325" h="846454">
                <a:moveTo>
                  <a:pt x="3743092" y="845998"/>
                </a:moveTo>
                <a:lnTo>
                  <a:pt x="0" y="845998"/>
                </a:lnTo>
                <a:lnTo>
                  <a:pt x="0" y="0"/>
                </a:lnTo>
                <a:lnTo>
                  <a:pt x="3743092" y="0"/>
                </a:lnTo>
                <a:lnTo>
                  <a:pt x="3743092" y="845998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5302048" y="3741478"/>
            <a:ext cx="16802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Persistent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Storage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(DELL)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5372664" y="2782069"/>
            <a:ext cx="3458845" cy="765175"/>
          </a:xfrm>
          <a:custGeom>
            <a:avLst/>
            <a:gdLst/>
            <a:ahLst/>
            <a:cxnLst/>
            <a:rect l="l" t="t" r="r" b="b"/>
            <a:pathLst>
              <a:path w="3458845" h="765175">
                <a:moveTo>
                  <a:pt x="0" y="0"/>
                </a:moveTo>
                <a:lnTo>
                  <a:pt x="3458243" y="0"/>
                </a:lnTo>
                <a:lnTo>
                  <a:pt x="3458243" y="764773"/>
                </a:lnTo>
                <a:lnTo>
                  <a:pt x="0" y="76477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5377426" y="2830462"/>
            <a:ext cx="12147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1594" marR="346075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Cluster-</a:t>
            </a:r>
            <a:r>
              <a:rPr dirty="0" sz="1100" spc="-20">
                <a:latin typeface="Arial"/>
                <a:cs typeface="Arial"/>
              </a:rPr>
              <a:t>wide </a:t>
            </a:r>
            <a:r>
              <a:rPr dirty="0" sz="1100" spc="-10">
                <a:latin typeface="Arial"/>
                <a:cs typeface="Arial"/>
              </a:rPr>
              <a:t>Object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5367901" y="1680669"/>
            <a:ext cx="3319779" cy="1807845"/>
            <a:chOff x="5367901" y="1680669"/>
            <a:chExt cx="3319779" cy="1807845"/>
          </a:xfrm>
        </p:grpSpPr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39134" y="2860381"/>
              <a:ext cx="647973" cy="627736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6785" y="2859394"/>
              <a:ext cx="647973" cy="627723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5372664" y="168543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071" y="0"/>
                  </a:lnTo>
                  <a:lnTo>
                    <a:pt x="1679071" y="998062"/>
                  </a:lnTo>
                  <a:lnTo>
                    <a:pt x="0" y="9980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5426645" y="1733822"/>
            <a:ext cx="7632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Namespace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474063" y="1940421"/>
            <a:ext cx="2900680" cy="2456815"/>
            <a:chOff x="5474063" y="1940421"/>
            <a:chExt cx="2900680" cy="2456815"/>
          </a:xfrm>
        </p:grpSpPr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74063" y="1948823"/>
              <a:ext cx="647973" cy="627721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2437" y="1940421"/>
              <a:ext cx="647983" cy="627723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6596511" y="2568094"/>
              <a:ext cx="1773555" cy="1272540"/>
            </a:xfrm>
            <a:custGeom>
              <a:avLst/>
              <a:gdLst/>
              <a:ahLst/>
              <a:cxnLst/>
              <a:rect l="l" t="t" r="r" b="b"/>
              <a:pathLst>
                <a:path w="1773554" h="1272539">
                  <a:moveTo>
                    <a:pt x="1064247" y="291299"/>
                  </a:moveTo>
                  <a:lnTo>
                    <a:pt x="1064247" y="1050272"/>
                  </a:lnTo>
                  <a:lnTo>
                    <a:pt x="0" y="1050272"/>
                  </a:lnTo>
                  <a:lnTo>
                    <a:pt x="0" y="149"/>
                  </a:lnTo>
                </a:path>
                <a:path w="1773554" h="1272539">
                  <a:moveTo>
                    <a:pt x="1766596" y="292274"/>
                  </a:moveTo>
                  <a:lnTo>
                    <a:pt x="1765921" y="0"/>
                  </a:lnTo>
                </a:path>
                <a:path w="1773554" h="1272539">
                  <a:moveTo>
                    <a:pt x="1064247" y="919023"/>
                  </a:moveTo>
                  <a:lnTo>
                    <a:pt x="1064022" y="1255847"/>
                  </a:lnTo>
                </a:path>
                <a:path w="1773554" h="1272539">
                  <a:moveTo>
                    <a:pt x="1766596" y="920023"/>
                  </a:moveTo>
                  <a:lnTo>
                    <a:pt x="1773121" y="1271922"/>
                  </a:lnTo>
                </a:path>
              </a:pathLst>
            </a:custGeom>
            <a:ln w="952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74235" y="3824044"/>
              <a:ext cx="572638" cy="572621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7415087" y="4324074"/>
            <a:ext cx="4953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Volume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83408" y="3839942"/>
            <a:ext cx="572638" cy="572623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8122184" y="4313225"/>
            <a:ext cx="4953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Volume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392614" y="1680669"/>
            <a:ext cx="3430270" cy="2849880"/>
            <a:chOff x="5392614" y="1680669"/>
            <a:chExt cx="3430270" cy="2849880"/>
          </a:xfrm>
        </p:grpSpPr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2614" y="3882517"/>
              <a:ext cx="647973" cy="647973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7138710" y="168543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046" y="0"/>
                  </a:lnTo>
                  <a:lnTo>
                    <a:pt x="1679046" y="998062"/>
                  </a:lnTo>
                  <a:lnTo>
                    <a:pt x="0" y="9980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7192681" y="1733822"/>
            <a:ext cx="7632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Namespace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6279637" y="1940421"/>
            <a:ext cx="2407285" cy="1539875"/>
            <a:chOff x="6279637" y="1940421"/>
            <a:chExt cx="2407285" cy="1539875"/>
          </a:xfrm>
        </p:grpSpPr>
        <p:pic>
          <p:nvPicPr>
            <p:cNvPr id="40" name="object 4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0110" y="1948823"/>
              <a:ext cx="647973" cy="627721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38484" y="1940421"/>
              <a:ext cx="647973" cy="627723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9637" y="2865144"/>
              <a:ext cx="634381" cy="614548"/>
            </a:xfrm>
            <a:prstGeom prst="rect">
              <a:avLst/>
            </a:prstGeom>
          </p:spPr>
        </p:pic>
      </p:grpSp>
      <p:pic>
        <p:nvPicPr>
          <p:cNvPr id="43" name="object 4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1894" y="1940468"/>
            <a:ext cx="647998" cy="627751"/>
          </a:xfrm>
          <a:prstGeom prst="rect">
            <a:avLst/>
          </a:prstGeom>
        </p:spPr>
      </p:pic>
      <p:grpSp>
        <p:nvGrpSpPr>
          <p:cNvPr id="44" name="object 44" descr=""/>
          <p:cNvGrpSpPr/>
          <p:nvPr/>
        </p:nvGrpSpPr>
        <p:grpSpPr>
          <a:xfrm>
            <a:off x="447489" y="1412087"/>
            <a:ext cx="3743325" cy="3125470"/>
            <a:chOff x="447489" y="1412087"/>
            <a:chExt cx="3743325" cy="3125470"/>
          </a:xfrm>
        </p:grpSpPr>
        <p:sp>
          <p:nvSpPr>
            <p:cNvPr id="45" name="object 45" descr=""/>
            <p:cNvSpPr/>
            <p:nvPr/>
          </p:nvSpPr>
          <p:spPr>
            <a:xfrm>
              <a:off x="447484" y="1412087"/>
              <a:ext cx="3743325" cy="3125470"/>
            </a:xfrm>
            <a:custGeom>
              <a:avLst/>
              <a:gdLst/>
              <a:ahLst/>
              <a:cxnLst/>
              <a:rect l="l" t="t" r="r" b="b"/>
              <a:pathLst>
                <a:path w="3743325" h="3125470">
                  <a:moveTo>
                    <a:pt x="3743096" y="2279459"/>
                  </a:moveTo>
                  <a:lnTo>
                    <a:pt x="0" y="2279459"/>
                  </a:lnTo>
                  <a:lnTo>
                    <a:pt x="0" y="3125457"/>
                  </a:lnTo>
                  <a:lnTo>
                    <a:pt x="3743096" y="3125457"/>
                  </a:lnTo>
                  <a:lnTo>
                    <a:pt x="3743096" y="2279459"/>
                  </a:lnTo>
                  <a:close/>
                </a:path>
                <a:path w="3743325" h="3125470">
                  <a:moveTo>
                    <a:pt x="3743096" y="0"/>
                  </a:moveTo>
                  <a:lnTo>
                    <a:pt x="0" y="0"/>
                  </a:lnTo>
                  <a:lnTo>
                    <a:pt x="0" y="2244915"/>
                  </a:lnTo>
                  <a:lnTo>
                    <a:pt x="3743096" y="2244915"/>
                  </a:lnTo>
                  <a:lnTo>
                    <a:pt x="3743096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8543" y="2860381"/>
              <a:ext cx="647973" cy="627736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6194" y="2859394"/>
              <a:ext cx="647973" cy="62772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491" y="1948871"/>
              <a:ext cx="647998" cy="627748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73694" y="3822604"/>
              <a:ext cx="572648" cy="572636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82893" y="3838504"/>
              <a:ext cx="572648" cy="572636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2028" y="3880967"/>
              <a:ext cx="647973" cy="647973"/>
            </a:xfrm>
            <a:prstGeom prst="rect">
              <a:avLst/>
            </a:prstGeom>
          </p:spPr>
        </p:pic>
      </p:grpSp>
      <p:graphicFrame>
        <p:nvGraphicFramePr>
          <p:cNvPr id="52" name="object 52" descr=""/>
          <p:cNvGraphicFramePr>
            <a:graphicFrameLocks noGrp="1"/>
          </p:cNvGraphicFramePr>
          <p:nvPr/>
        </p:nvGraphicFramePr>
        <p:xfrm>
          <a:off x="447489" y="1412087"/>
          <a:ext cx="3819525" cy="3127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60"/>
                <a:gridCol w="1223645"/>
                <a:gridCol w="455295"/>
                <a:gridCol w="86994"/>
                <a:gridCol w="521969"/>
                <a:gridCol w="703580"/>
                <a:gridCol w="459740"/>
                <a:gridCol w="166370"/>
              </a:tblGrid>
              <a:tr h="273050">
                <a:tc gridSpan="8"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OCP</a:t>
                      </a:r>
                      <a:r>
                        <a:rPr dirty="0" sz="11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Cluster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(Active)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8201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ysDash"/>
                    </a:lnR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Namespace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B w="9525">
                      <a:solidFill>
                        <a:srgbClr val="313131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Namespace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solidFill>
                      <a:srgbClr val="EFEFEF"/>
                    </a:solidFill>
                  </a:tcPr>
                </a:tc>
              </a:tr>
              <a:tr h="1346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ysDash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313131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ysDash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31313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B w="9525">
                      <a:solidFill>
                        <a:srgbClr val="313131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B w="9525">
                      <a:solidFill>
                        <a:srgbClr val="313131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lnR w="12700">
                      <a:solidFill>
                        <a:srgbClr val="313131"/>
                      </a:solidFill>
                      <a:prstDash val="solid"/>
                    </a:lnR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31313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B w="9525">
                      <a:solidFill>
                        <a:srgbClr val="000000"/>
                      </a:solidFill>
                      <a:prstDash val="sysDash"/>
                    </a:lnB>
                    <a:solidFill>
                      <a:srgbClr val="EFEFE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solidFill>
                      <a:srgbClr val="EFEFEF"/>
                    </a:solidFill>
                  </a:tcPr>
                </a:tc>
              </a:tr>
              <a:tr h="8318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313131"/>
                      </a:solidFill>
                      <a:prstDash val="solid"/>
                    </a:lnR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313131"/>
                      </a:solidFill>
                      <a:prstDash val="solid"/>
                    </a:lnL>
                    <a:lnR w="12700">
                      <a:solidFill>
                        <a:srgbClr val="31313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  <a:lnB w="9525">
                      <a:solidFill>
                        <a:srgbClr val="000000"/>
                      </a:solidFill>
                      <a:prstDash val="sysDash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313131"/>
                      </a:solidFill>
                      <a:prstDash val="solid"/>
                    </a:lnL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64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ysDash"/>
                    </a:lnR>
                    <a:solidFill>
                      <a:srgbClr val="EFEFEF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66040" marR="25787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Cluster-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wide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Object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000000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ysDash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  <a:lnB w="9525">
                      <a:solidFill>
                        <a:srgbClr val="000000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ysDash"/>
                    </a:lnL>
                    <a:solidFill>
                      <a:srgbClr val="EFEFEF"/>
                    </a:solidFill>
                  </a:tcPr>
                </a:tc>
              </a:tr>
              <a:tr h="10985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313131"/>
                      </a:solidFill>
                      <a:prstDash val="solid"/>
                    </a:lnR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313131"/>
                      </a:solidFill>
                      <a:prstDash val="solid"/>
                    </a:lnL>
                    <a:lnR w="19050">
                      <a:solidFill>
                        <a:srgbClr val="31313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313131"/>
                      </a:solidFill>
                      <a:prstDash val="solid"/>
                    </a:lnL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51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313131"/>
                      </a:solidFill>
                      <a:prstDash val="solid"/>
                    </a:lnR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313131"/>
                      </a:solidFill>
                      <a:prstDash val="solid"/>
                    </a:lnL>
                    <a:lnR w="19050">
                      <a:solidFill>
                        <a:srgbClr val="313131"/>
                      </a:solidFill>
                      <a:prstDash val="solid"/>
                    </a:lnR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313131"/>
                      </a:solidFill>
                      <a:prstDash val="solid"/>
                    </a:lnL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15010">
                <a:tc gridSpan="8">
                  <a:txBody>
                    <a:bodyPr/>
                    <a:lstStyle/>
                    <a:p>
                      <a:pPr marL="66040">
                        <a:lnSpc>
                          <a:spcPts val="770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Persistent</a:t>
                      </a:r>
                      <a:r>
                        <a:rPr dirty="0" sz="11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Storage</a:t>
                      </a:r>
                      <a:r>
                        <a:rPr dirty="0" sz="11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(DELL)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179320">
                        <a:lnSpc>
                          <a:spcPct val="100000"/>
                        </a:lnSpc>
                        <a:tabLst>
                          <a:tab pos="2886710" algn="l"/>
                        </a:tabLst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Volume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5050" sz="1650" spc="-15">
                          <a:latin typeface="Arial"/>
                          <a:cs typeface="Arial"/>
                        </a:rPr>
                        <a:t>Volume</a:t>
                      </a:r>
                      <a:endParaRPr baseline="5050" sz="1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53" name="object 5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39525" y="1948871"/>
            <a:ext cx="647993" cy="627748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37918" y="1940468"/>
            <a:ext cx="647998" cy="627751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80472" y="2865144"/>
            <a:ext cx="634381" cy="6145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248089" y="1412087"/>
            <a:ext cx="3743325" cy="2245360"/>
          </a:xfrm>
          <a:custGeom>
            <a:avLst/>
            <a:gdLst/>
            <a:ahLst/>
            <a:cxnLst/>
            <a:rect l="l" t="t" r="r" b="b"/>
            <a:pathLst>
              <a:path w="3743325" h="2245360">
                <a:moveTo>
                  <a:pt x="3743092" y="2244830"/>
                </a:moveTo>
                <a:lnTo>
                  <a:pt x="0" y="2244830"/>
                </a:lnTo>
                <a:lnTo>
                  <a:pt x="0" y="0"/>
                </a:lnTo>
                <a:lnTo>
                  <a:pt x="3743092" y="0"/>
                </a:lnTo>
                <a:lnTo>
                  <a:pt x="3743092" y="224483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302048" y="1460474"/>
            <a:ext cx="14230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OCP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Cluster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(Passive)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248089" y="3693092"/>
            <a:ext cx="3743325" cy="846455"/>
          </a:xfrm>
          <a:custGeom>
            <a:avLst/>
            <a:gdLst/>
            <a:ahLst/>
            <a:cxnLst/>
            <a:rect l="l" t="t" r="r" b="b"/>
            <a:pathLst>
              <a:path w="3743325" h="846454">
                <a:moveTo>
                  <a:pt x="3743092" y="845998"/>
                </a:moveTo>
                <a:lnTo>
                  <a:pt x="0" y="845998"/>
                </a:lnTo>
                <a:lnTo>
                  <a:pt x="0" y="0"/>
                </a:lnTo>
                <a:lnTo>
                  <a:pt x="3743092" y="0"/>
                </a:lnTo>
                <a:lnTo>
                  <a:pt x="3743092" y="845998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302048" y="3741478"/>
            <a:ext cx="16802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Persistent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Storage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(DELL)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372664" y="2782069"/>
            <a:ext cx="3458845" cy="765175"/>
          </a:xfrm>
          <a:custGeom>
            <a:avLst/>
            <a:gdLst/>
            <a:ahLst/>
            <a:cxnLst/>
            <a:rect l="l" t="t" r="r" b="b"/>
            <a:pathLst>
              <a:path w="3458845" h="765175">
                <a:moveTo>
                  <a:pt x="0" y="0"/>
                </a:moveTo>
                <a:lnTo>
                  <a:pt x="3458243" y="0"/>
                </a:lnTo>
                <a:lnTo>
                  <a:pt x="3458243" y="764773"/>
                </a:lnTo>
                <a:lnTo>
                  <a:pt x="0" y="76477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377426" y="2786831"/>
            <a:ext cx="1214755" cy="755650"/>
          </a:xfrm>
          <a:prstGeom prst="rect">
            <a:avLst/>
          </a:prstGeom>
          <a:solidFill>
            <a:srgbClr val="EFEFEF"/>
          </a:solidFill>
        </p:spPr>
        <p:txBody>
          <a:bodyPr wrap="square" lIns="0" tIns="55880" rIns="0" bIns="0" rtlCol="0" vert="horz">
            <a:spAutoFit/>
          </a:bodyPr>
          <a:lstStyle/>
          <a:p>
            <a:pPr marL="61594" marR="346075">
              <a:lnSpc>
                <a:spcPct val="100000"/>
              </a:lnSpc>
              <a:spcBef>
                <a:spcPts val="440"/>
              </a:spcBef>
            </a:pPr>
            <a:r>
              <a:rPr dirty="0" sz="1100">
                <a:latin typeface="Arial"/>
                <a:cs typeface="Arial"/>
              </a:rPr>
              <a:t>Cluster-</a:t>
            </a:r>
            <a:r>
              <a:rPr dirty="0" sz="1100" spc="-20">
                <a:latin typeface="Arial"/>
                <a:cs typeface="Arial"/>
              </a:rPr>
              <a:t>wide </a:t>
            </a:r>
            <a:r>
              <a:rPr dirty="0" sz="1100" spc="-10">
                <a:latin typeface="Arial"/>
                <a:cs typeface="Arial"/>
              </a:rPr>
              <a:t>Object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367901" y="1680669"/>
            <a:ext cx="3319779" cy="1807845"/>
            <a:chOff x="5367901" y="1680669"/>
            <a:chExt cx="3319779" cy="180784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9134" y="2860381"/>
              <a:ext cx="647973" cy="62773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6785" y="2859394"/>
              <a:ext cx="647973" cy="62772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5372664" y="168543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071" y="0"/>
                  </a:lnTo>
                  <a:lnTo>
                    <a:pt x="1679071" y="998062"/>
                  </a:lnTo>
                  <a:lnTo>
                    <a:pt x="0" y="9980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426645" y="1733822"/>
            <a:ext cx="7632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Namespace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474063" y="1940421"/>
            <a:ext cx="2900680" cy="2456815"/>
            <a:chOff x="5474063" y="1940421"/>
            <a:chExt cx="2900680" cy="2456815"/>
          </a:xfrm>
        </p:grpSpPr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4063" y="1948823"/>
              <a:ext cx="647973" cy="62772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2437" y="1940421"/>
              <a:ext cx="647983" cy="627723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596511" y="2568094"/>
              <a:ext cx="1773555" cy="1272540"/>
            </a:xfrm>
            <a:custGeom>
              <a:avLst/>
              <a:gdLst/>
              <a:ahLst/>
              <a:cxnLst/>
              <a:rect l="l" t="t" r="r" b="b"/>
              <a:pathLst>
                <a:path w="1773554" h="1272539">
                  <a:moveTo>
                    <a:pt x="1064247" y="291299"/>
                  </a:moveTo>
                  <a:lnTo>
                    <a:pt x="1064247" y="1050272"/>
                  </a:lnTo>
                  <a:lnTo>
                    <a:pt x="0" y="1050272"/>
                  </a:lnTo>
                  <a:lnTo>
                    <a:pt x="0" y="149"/>
                  </a:lnTo>
                </a:path>
                <a:path w="1773554" h="1272539">
                  <a:moveTo>
                    <a:pt x="1766596" y="292274"/>
                  </a:moveTo>
                  <a:lnTo>
                    <a:pt x="1765921" y="0"/>
                  </a:lnTo>
                </a:path>
                <a:path w="1773554" h="1272539">
                  <a:moveTo>
                    <a:pt x="1064247" y="919023"/>
                  </a:moveTo>
                  <a:lnTo>
                    <a:pt x="1064022" y="1255847"/>
                  </a:lnTo>
                </a:path>
                <a:path w="1773554" h="1272539">
                  <a:moveTo>
                    <a:pt x="1766596" y="920023"/>
                  </a:moveTo>
                  <a:lnTo>
                    <a:pt x="1773121" y="1271922"/>
                  </a:lnTo>
                </a:path>
              </a:pathLst>
            </a:custGeom>
            <a:ln w="952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4235" y="3824044"/>
              <a:ext cx="572638" cy="572621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7415087" y="4324074"/>
            <a:ext cx="4953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Volume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83408" y="3839942"/>
            <a:ext cx="572638" cy="572623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8122184" y="4313225"/>
            <a:ext cx="4953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Volume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392614" y="1680669"/>
            <a:ext cx="3430270" cy="2849880"/>
            <a:chOff x="5392614" y="1680669"/>
            <a:chExt cx="3430270" cy="2849880"/>
          </a:xfrm>
        </p:grpSpPr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92614" y="3882517"/>
              <a:ext cx="647973" cy="647973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7138710" y="168543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046" y="0"/>
                  </a:lnTo>
                  <a:lnTo>
                    <a:pt x="1679046" y="998062"/>
                  </a:lnTo>
                  <a:lnTo>
                    <a:pt x="0" y="9980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192681" y="1733822"/>
            <a:ext cx="7632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Namespace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447489" y="1412087"/>
            <a:ext cx="8239125" cy="3125470"/>
            <a:chOff x="447489" y="1412087"/>
            <a:chExt cx="8239125" cy="3125470"/>
          </a:xfrm>
        </p:grpSpPr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0110" y="1948823"/>
              <a:ext cx="647973" cy="627721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38483" y="1940421"/>
              <a:ext cx="647973" cy="627723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447484" y="1412087"/>
              <a:ext cx="3743325" cy="3125470"/>
            </a:xfrm>
            <a:custGeom>
              <a:avLst/>
              <a:gdLst/>
              <a:ahLst/>
              <a:cxnLst/>
              <a:rect l="l" t="t" r="r" b="b"/>
              <a:pathLst>
                <a:path w="3743325" h="3125470">
                  <a:moveTo>
                    <a:pt x="3743096" y="2279459"/>
                  </a:moveTo>
                  <a:lnTo>
                    <a:pt x="0" y="2279459"/>
                  </a:lnTo>
                  <a:lnTo>
                    <a:pt x="0" y="3125457"/>
                  </a:lnTo>
                  <a:lnTo>
                    <a:pt x="3743096" y="3125457"/>
                  </a:lnTo>
                  <a:lnTo>
                    <a:pt x="3743096" y="2279459"/>
                  </a:lnTo>
                  <a:close/>
                </a:path>
                <a:path w="3743325" h="3125470">
                  <a:moveTo>
                    <a:pt x="3743096" y="0"/>
                  </a:moveTo>
                  <a:lnTo>
                    <a:pt x="0" y="0"/>
                  </a:lnTo>
                  <a:lnTo>
                    <a:pt x="0" y="2244915"/>
                  </a:lnTo>
                  <a:lnTo>
                    <a:pt x="3743096" y="2244915"/>
                  </a:lnTo>
                  <a:lnTo>
                    <a:pt x="3743096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514163" y="3739926"/>
            <a:ext cx="16675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Persistent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Storage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(DELL)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572083" y="2782069"/>
            <a:ext cx="3458845" cy="765175"/>
          </a:xfrm>
          <a:custGeom>
            <a:avLst/>
            <a:gdLst/>
            <a:ahLst/>
            <a:cxnLst/>
            <a:rect l="l" t="t" r="r" b="b"/>
            <a:pathLst>
              <a:path w="3458845" h="765175">
                <a:moveTo>
                  <a:pt x="0" y="0"/>
                </a:moveTo>
                <a:lnTo>
                  <a:pt x="3458383" y="0"/>
                </a:lnTo>
                <a:lnTo>
                  <a:pt x="3458383" y="764698"/>
                </a:lnTo>
                <a:lnTo>
                  <a:pt x="0" y="7646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576853" y="2830462"/>
            <a:ext cx="34423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1594" marR="257429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Cluster-</a:t>
            </a:r>
            <a:r>
              <a:rPr dirty="0" sz="1100" spc="-20">
                <a:latin typeface="Arial"/>
                <a:cs typeface="Arial"/>
              </a:rPr>
              <a:t>wide </a:t>
            </a:r>
            <a:r>
              <a:rPr dirty="0" sz="1100" spc="-10">
                <a:latin typeface="Arial"/>
                <a:cs typeface="Arial"/>
              </a:rPr>
              <a:t>Object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567336" y="1680709"/>
            <a:ext cx="3319779" cy="1807845"/>
            <a:chOff x="567336" y="1680709"/>
            <a:chExt cx="3319779" cy="1807845"/>
          </a:xfrm>
        </p:grpSpPr>
        <p:pic>
          <p:nvPicPr>
            <p:cNvPr id="33" name="object 3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543" y="2860381"/>
              <a:ext cx="647973" cy="627736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6194" y="2859394"/>
              <a:ext cx="647973" cy="627723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72098" y="168547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096" y="0"/>
                  </a:lnTo>
                  <a:lnTo>
                    <a:pt x="1679096" y="998097"/>
                  </a:lnTo>
                  <a:lnTo>
                    <a:pt x="0" y="9980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514163" y="1460474"/>
            <a:ext cx="1337310" cy="466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OCP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Cluster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(Active)</a:t>
            </a:r>
            <a:endParaRPr sz="1100">
              <a:latin typeface="Arial"/>
              <a:cs typeface="Arial"/>
            </a:endParaRPr>
          </a:p>
          <a:p>
            <a:pPr marL="124460">
              <a:lnSpc>
                <a:spcPct val="100000"/>
              </a:lnSpc>
              <a:spcBef>
                <a:spcPts val="830"/>
              </a:spcBef>
            </a:pPr>
            <a:r>
              <a:rPr dirty="0" sz="1100" spc="-10">
                <a:latin typeface="Arial"/>
                <a:cs typeface="Arial"/>
              </a:rPr>
              <a:t>Namespace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673491" y="1940468"/>
            <a:ext cx="3182620" cy="2470785"/>
            <a:chOff x="673491" y="1940468"/>
            <a:chExt cx="3182620" cy="2470785"/>
          </a:xfrm>
        </p:grpSpPr>
        <p:pic>
          <p:nvPicPr>
            <p:cNvPr id="38" name="object 3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3491" y="1948871"/>
              <a:ext cx="647998" cy="627748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1894" y="1940468"/>
              <a:ext cx="647998" cy="627751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795778" y="2568094"/>
              <a:ext cx="1773555" cy="1270635"/>
            </a:xfrm>
            <a:custGeom>
              <a:avLst/>
              <a:gdLst/>
              <a:ahLst/>
              <a:cxnLst/>
              <a:rect l="l" t="t" r="r" b="b"/>
              <a:pathLst>
                <a:path w="1773554" h="1270635">
                  <a:moveTo>
                    <a:pt x="1064390" y="291299"/>
                  </a:moveTo>
                  <a:lnTo>
                    <a:pt x="1064390" y="145599"/>
                  </a:lnTo>
                  <a:lnTo>
                    <a:pt x="0" y="145599"/>
                  </a:lnTo>
                  <a:lnTo>
                    <a:pt x="0" y="0"/>
                  </a:lnTo>
                </a:path>
                <a:path w="1773554" h="1270635">
                  <a:moveTo>
                    <a:pt x="1766738" y="292274"/>
                  </a:moveTo>
                  <a:lnTo>
                    <a:pt x="1766138" y="74"/>
                  </a:lnTo>
                </a:path>
                <a:path w="1773554" h="1270635">
                  <a:moveTo>
                    <a:pt x="1064390" y="919023"/>
                  </a:moveTo>
                  <a:lnTo>
                    <a:pt x="1064390" y="1254422"/>
                  </a:lnTo>
                </a:path>
                <a:path w="1773554" h="1270635">
                  <a:moveTo>
                    <a:pt x="1766738" y="920023"/>
                  </a:moveTo>
                  <a:lnTo>
                    <a:pt x="1773338" y="1270422"/>
                  </a:lnTo>
                </a:path>
              </a:pathLst>
            </a:custGeom>
            <a:ln w="952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3694" y="3822604"/>
              <a:ext cx="572648" cy="572636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2893" y="3838504"/>
              <a:ext cx="572648" cy="572636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2627247" y="4322636"/>
            <a:ext cx="11899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06755" algn="l"/>
              </a:tabLst>
            </a:pPr>
            <a:r>
              <a:rPr dirty="0" sz="1100" spc="-10">
                <a:latin typeface="Arial"/>
                <a:cs typeface="Arial"/>
              </a:rPr>
              <a:t>Volume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baseline="5050" sz="1650" spc="-15">
                <a:latin typeface="Arial"/>
                <a:cs typeface="Arial"/>
              </a:rPr>
              <a:t>Volume</a:t>
            </a:r>
            <a:endParaRPr baseline="5050" sz="165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592028" y="1680709"/>
            <a:ext cx="3430270" cy="2848610"/>
            <a:chOff x="592028" y="1680709"/>
            <a:chExt cx="3430270" cy="2848610"/>
          </a:xfrm>
        </p:grpSpPr>
        <p:pic>
          <p:nvPicPr>
            <p:cNvPr id="45" name="object 4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028" y="3880967"/>
              <a:ext cx="647973" cy="647973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2338132" y="1685471"/>
              <a:ext cx="1679575" cy="998219"/>
            </a:xfrm>
            <a:custGeom>
              <a:avLst/>
              <a:gdLst/>
              <a:ahLst/>
              <a:cxnLst/>
              <a:rect l="l" t="t" r="r" b="b"/>
              <a:pathLst>
                <a:path w="1679575" h="998219">
                  <a:moveTo>
                    <a:pt x="0" y="0"/>
                  </a:moveTo>
                  <a:lnTo>
                    <a:pt x="1679109" y="0"/>
                  </a:lnTo>
                  <a:lnTo>
                    <a:pt x="1679109" y="998097"/>
                  </a:lnTo>
                  <a:lnTo>
                    <a:pt x="0" y="9980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2404809" y="1733860"/>
            <a:ext cx="7505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Arial"/>
                <a:cs typeface="Arial"/>
              </a:rPr>
              <a:t>Namespace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2439525" y="1940468"/>
            <a:ext cx="2797175" cy="2215515"/>
            <a:chOff x="2439525" y="1940468"/>
            <a:chExt cx="2797175" cy="2215515"/>
          </a:xfrm>
        </p:grpSpPr>
        <p:pic>
          <p:nvPicPr>
            <p:cNvPr id="49" name="object 4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9525" y="1948871"/>
              <a:ext cx="647993" cy="627748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7918" y="1940468"/>
              <a:ext cx="647998" cy="627751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4190591" y="4114541"/>
              <a:ext cx="949960" cy="0"/>
            </a:xfrm>
            <a:custGeom>
              <a:avLst/>
              <a:gdLst/>
              <a:ahLst/>
              <a:cxnLst/>
              <a:rect l="l" t="t" r="r" b="b"/>
              <a:pathLst>
                <a:path w="949960" h="0">
                  <a:moveTo>
                    <a:pt x="0" y="0"/>
                  </a:moveTo>
                  <a:lnTo>
                    <a:pt x="94979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0864" y="4073541"/>
              <a:ext cx="105499" cy="81999"/>
            </a:xfrm>
            <a:prstGeom prst="rect">
              <a:avLst/>
            </a:prstGeom>
          </p:spPr>
        </p:pic>
      </p:grpSp>
      <p:sp>
        <p:nvSpPr>
          <p:cNvPr id="53" name="object 53" descr=""/>
          <p:cNvSpPr txBox="1"/>
          <p:nvPr/>
        </p:nvSpPr>
        <p:spPr>
          <a:xfrm>
            <a:off x="287850" y="4586149"/>
            <a:ext cx="6957059" cy="31369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600" spc="-25">
                <a:latin typeface="Arial"/>
                <a:cs typeface="Arial"/>
              </a:rPr>
              <a:t>16</a:t>
            </a:r>
            <a:endParaRPr sz="600">
              <a:latin typeface="Arial"/>
              <a:cs typeface="Arial"/>
            </a:endParaRPr>
          </a:p>
          <a:p>
            <a:pPr marL="461645">
              <a:lnSpc>
                <a:spcPct val="100000"/>
              </a:lnSpc>
              <a:spcBef>
                <a:spcPts val="380"/>
              </a:spcBef>
            </a:pPr>
            <a:r>
              <a:rPr dirty="0" sz="700" spc="-25">
                <a:latin typeface="Arial"/>
                <a:cs typeface="Arial"/>
              </a:rPr>
              <a:t>[1]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 spc="-20">
                <a:latin typeface="Arial"/>
                <a:cs typeface="Arial"/>
              </a:rPr>
              <a:t>Red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Hat</a:t>
            </a:r>
            <a:r>
              <a:rPr dirty="0" sz="700">
                <a:latin typeface="Batang"/>
                <a:cs typeface="Batang"/>
              </a:rPr>
              <a:t>이</a:t>
            </a:r>
            <a:r>
              <a:rPr dirty="0" sz="700" spc="-4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제공</a:t>
            </a:r>
            <a:r>
              <a:rPr dirty="0" sz="700" spc="-5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및</a:t>
            </a:r>
            <a:r>
              <a:rPr dirty="0" sz="700" spc="-5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지원하는</a:t>
            </a:r>
            <a:r>
              <a:rPr dirty="0" sz="700" spc="-4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제품이</a:t>
            </a:r>
            <a:r>
              <a:rPr dirty="0" sz="700" spc="-50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아니므로</a:t>
            </a:r>
            <a:r>
              <a:rPr dirty="0" sz="700" spc="-10">
                <a:latin typeface="Arial"/>
                <a:cs typeface="Arial"/>
              </a:rPr>
              <a:t>, </a:t>
            </a:r>
            <a:r>
              <a:rPr dirty="0" sz="700">
                <a:latin typeface="Batang"/>
                <a:cs typeface="Batang"/>
              </a:rPr>
              <a:t>사양이나</a:t>
            </a:r>
            <a:r>
              <a:rPr dirty="0" sz="700" spc="-4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세부</a:t>
            </a:r>
            <a:r>
              <a:rPr dirty="0" sz="700" spc="-5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사항은</a:t>
            </a:r>
            <a:r>
              <a:rPr dirty="0" sz="700" spc="-5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가이드나</a:t>
            </a:r>
            <a:r>
              <a:rPr dirty="0" sz="700" spc="-45">
                <a:latin typeface="Batang"/>
                <a:cs typeface="Batang"/>
              </a:rPr>
              <a:t> </a:t>
            </a:r>
            <a:r>
              <a:rPr dirty="0" sz="700">
                <a:latin typeface="Arial"/>
                <a:cs typeface="Arial"/>
              </a:rPr>
              <a:t>DELL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>
                <a:latin typeface="Batang"/>
                <a:cs typeface="Batang"/>
              </a:rPr>
              <a:t>사에</a:t>
            </a:r>
            <a:r>
              <a:rPr dirty="0" sz="700" spc="-5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문의해주시기</a:t>
            </a:r>
            <a:r>
              <a:rPr dirty="0" sz="700" spc="-45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바랍니다</a:t>
            </a:r>
            <a:r>
              <a:rPr dirty="0" sz="700" spc="-10">
                <a:latin typeface="Arial"/>
                <a:cs typeface="Arial"/>
              </a:rPr>
              <a:t>. </a:t>
            </a:r>
            <a:r>
              <a:rPr dirty="0" u="sng" sz="70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8"/>
              </a:rPr>
              <a:t>https://dell.github.io/csm-</a:t>
            </a:r>
            <a:r>
              <a:rPr dirty="0" u="sng" sz="700" spc="-1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8"/>
              </a:rPr>
              <a:t>docs/docs/replication/</a:t>
            </a:r>
            <a:endParaRPr sz="700">
              <a:latin typeface="Arial"/>
              <a:cs typeface="Arial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3.</a:t>
            </a:r>
            <a:r>
              <a:rPr dirty="0" spc="-105"/>
              <a:t> </a:t>
            </a:r>
            <a:r>
              <a:rPr dirty="0"/>
              <a:t>DELL</a:t>
            </a:r>
            <a:r>
              <a:rPr dirty="0" spc="-105"/>
              <a:t> </a:t>
            </a:r>
            <a:r>
              <a:rPr dirty="0" spc="-30"/>
              <a:t>CSM</a:t>
            </a:r>
            <a:r>
              <a:rPr dirty="0" spc="-105"/>
              <a:t> </a:t>
            </a:r>
            <a:r>
              <a:rPr dirty="0" spc="95"/>
              <a:t>for</a:t>
            </a:r>
            <a:r>
              <a:rPr dirty="0" spc="-100"/>
              <a:t> </a:t>
            </a:r>
            <a:r>
              <a:rPr dirty="0" spc="-10"/>
              <a:t>Replication</a:t>
            </a:r>
          </a:p>
        </p:txBody>
      </p:sp>
      <p:sp>
        <p:nvSpPr>
          <p:cNvPr id="55" name="object 55" descr=""/>
          <p:cNvSpPr txBox="1"/>
          <p:nvPr/>
        </p:nvSpPr>
        <p:spPr>
          <a:xfrm>
            <a:off x="811241" y="1005580"/>
            <a:ext cx="65970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1620" indent="-248920">
              <a:lnSpc>
                <a:spcPct val="100000"/>
              </a:lnSpc>
              <a:spcBef>
                <a:spcPts val="100"/>
              </a:spcBef>
              <a:buChar char="●"/>
              <a:tabLst>
                <a:tab pos="261620" algn="l"/>
              </a:tabLst>
            </a:pPr>
            <a:r>
              <a:rPr dirty="0" sz="1100">
                <a:latin typeface="Arial"/>
                <a:cs typeface="Arial"/>
              </a:rPr>
              <a:t>DELL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CSM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Replication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을</a:t>
            </a:r>
            <a:r>
              <a:rPr dirty="0" sz="1100" spc="-7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사용하여</a:t>
            </a:r>
            <a:r>
              <a:rPr dirty="0" sz="1100" spc="15">
                <a:latin typeface="Batang"/>
                <a:cs typeface="Batang"/>
              </a:rPr>
              <a:t> </a:t>
            </a:r>
            <a:r>
              <a:rPr dirty="0" sz="1100" spc="-35">
                <a:latin typeface="Arial"/>
                <a:cs typeface="Arial"/>
              </a:rPr>
              <a:t>PV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오브젝트와</a:t>
            </a:r>
            <a:r>
              <a:rPr dirty="0" sz="1100" spc="3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영구</a:t>
            </a:r>
            <a:r>
              <a:rPr dirty="0" sz="1100" spc="-5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볼륨을</a:t>
            </a:r>
            <a:r>
              <a:rPr dirty="0" sz="1100" spc="-2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비동기</a:t>
            </a:r>
            <a:r>
              <a:rPr dirty="0" sz="1100" spc="-2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방식으로</a:t>
            </a:r>
            <a:r>
              <a:rPr dirty="0" sz="1100" spc="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동기화</a:t>
            </a:r>
            <a:r>
              <a:rPr dirty="0" sz="1100" spc="-20">
                <a:latin typeface="Batang"/>
                <a:cs typeface="Batang"/>
              </a:rPr>
              <a:t> </a:t>
            </a:r>
            <a:r>
              <a:rPr dirty="0" sz="1100" spc="-10">
                <a:latin typeface="Batang"/>
                <a:cs typeface="Batang"/>
              </a:rPr>
              <a:t>합니다</a:t>
            </a:r>
            <a:r>
              <a:rPr dirty="0" sz="1100" spc="-10">
                <a:latin typeface="Arial"/>
                <a:cs typeface="Arial"/>
              </a:rPr>
              <a:t>.[1]</a:t>
            </a:r>
            <a:endParaRPr sz="1100">
              <a:latin typeface="Arial"/>
              <a:cs typeface="Arial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4272423" y="4186200"/>
            <a:ext cx="937894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920" marR="5080" indent="-109855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DELL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CSM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for </a:t>
            </a:r>
            <a:r>
              <a:rPr dirty="0" sz="1100" spc="-10">
                <a:latin typeface="Arial"/>
                <a:cs typeface="Arial"/>
              </a:rPr>
              <a:t>Replication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4030466" y="3123443"/>
            <a:ext cx="1330960" cy="953135"/>
            <a:chOff x="4030466" y="3123443"/>
            <a:chExt cx="1330960" cy="953135"/>
          </a:xfrm>
        </p:grpSpPr>
        <p:pic>
          <p:nvPicPr>
            <p:cNvPr id="58" name="object 5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11491" y="3230468"/>
              <a:ext cx="845998" cy="845998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4030466" y="3164418"/>
              <a:ext cx="1235075" cy="0"/>
            </a:xfrm>
            <a:custGeom>
              <a:avLst/>
              <a:gdLst/>
              <a:ahLst/>
              <a:cxnLst/>
              <a:rect l="l" t="t" r="r" b="b"/>
              <a:pathLst>
                <a:path w="1235075" h="0">
                  <a:moveTo>
                    <a:pt x="0" y="0"/>
                  </a:moveTo>
                  <a:lnTo>
                    <a:pt x="1234497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5439" y="3123443"/>
              <a:ext cx="105499" cy="819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7850" y="4627671"/>
            <a:ext cx="965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>
                <a:latin typeface="Arial"/>
                <a:cs typeface="Arial"/>
              </a:rPr>
              <a:t>17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dirty="0" spc="-15"/>
              <a:t> </a:t>
            </a:r>
            <a:r>
              <a:rPr dirty="0" spc="-45"/>
              <a:t>Case</a:t>
            </a:r>
            <a:r>
              <a:rPr dirty="0" spc="-15"/>
              <a:t> </a:t>
            </a:r>
            <a:r>
              <a:rPr dirty="0" spc="-20">
                <a:latin typeface="Batang"/>
                <a:cs typeface="Batang"/>
              </a:rPr>
              <a:t>검토사항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36824" y="4573666"/>
            <a:ext cx="5889625" cy="51625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225"/>
              </a:spcBef>
              <a:buFont typeface="Arial"/>
              <a:buAutoNum type="arabicPlain"/>
              <a:tabLst>
                <a:tab pos="125095" algn="l"/>
              </a:tabLst>
            </a:pPr>
            <a:r>
              <a:rPr dirty="0" sz="700">
                <a:latin typeface="Batang"/>
                <a:cs typeface="Batang"/>
              </a:rPr>
              <a:t>클러스터간</a:t>
            </a:r>
            <a:r>
              <a:rPr dirty="0" sz="700" spc="-7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차이를</a:t>
            </a:r>
            <a:r>
              <a:rPr dirty="0" sz="700" spc="-7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감지할</a:t>
            </a:r>
            <a:r>
              <a:rPr dirty="0" sz="700" spc="-7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방법이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없기</a:t>
            </a:r>
            <a:r>
              <a:rPr dirty="0" sz="700" spc="-75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때문에</a:t>
            </a:r>
            <a:r>
              <a:rPr dirty="0" sz="700" spc="-10">
                <a:latin typeface="Arial"/>
                <a:cs typeface="Arial"/>
              </a:rPr>
              <a:t>,</a:t>
            </a:r>
            <a:r>
              <a:rPr dirty="0" sz="700" spc="-35">
                <a:latin typeface="Arial"/>
                <a:cs typeface="Arial"/>
              </a:rPr>
              <a:t> </a:t>
            </a:r>
            <a:r>
              <a:rPr dirty="0" sz="700">
                <a:latin typeface="Batang"/>
                <a:cs typeface="Batang"/>
              </a:rPr>
              <a:t>클러스터</a:t>
            </a:r>
            <a:r>
              <a:rPr dirty="0" sz="700" spc="-7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관리자와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애플리케이션</a:t>
            </a:r>
            <a:r>
              <a:rPr dirty="0" sz="700" spc="-7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운영자가</a:t>
            </a:r>
            <a:r>
              <a:rPr dirty="0" sz="700" spc="-7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담당하는</a:t>
            </a:r>
            <a:r>
              <a:rPr dirty="0" sz="700" spc="-7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범위를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명확히</a:t>
            </a:r>
            <a:r>
              <a:rPr dirty="0" sz="700" spc="-7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하여</a:t>
            </a:r>
            <a:r>
              <a:rPr dirty="0" sz="700" spc="-7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운영을</a:t>
            </a:r>
            <a:r>
              <a:rPr dirty="0" sz="700" spc="-75">
                <a:latin typeface="Batang"/>
                <a:cs typeface="Batang"/>
              </a:rPr>
              <a:t> </a:t>
            </a:r>
            <a:r>
              <a:rPr dirty="0" sz="700" spc="130">
                <a:latin typeface="Batang"/>
                <a:cs typeface="Batang"/>
              </a:rPr>
              <a:t>고려해🅓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 spc="-20">
                <a:latin typeface="Batang"/>
                <a:cs typeface="Batang"/>
              </a:rPr>
              <a:t>합니다</a:t>
            </a:r>
            <a:r>
              <a:rPr dirty="0" sz="700" spc="-20">
                <a:latin typeface="Arial"/>
                <a:cs typeface="Arial"/>
              </a:rPr>
              <a:t>.</a:t>
            </a:r>
            <a:endParaRPr sz="700">
              <a:latin typeface="Arial"/>
              <a:cs typeface="Arial"/>
            </a:endParaRPr>
          </a:p>
          <a:p>
            <a:pPr marL="12700" marR="5080" indent="138430">
              <a:lnSpc>
                <a:spcPct val="114999"/>
              </a:lnSpc>
              <a:buAutoNum type="arabicPlain"/>
              <a:tabLst>
                <a:tab pos="151130" algn="l"/>
              </a:tabLst>
            </a:pPr>
            <a:r>
              <a:rPr dirty="0" sz="700" spc="-20">
                <a:latin typeface="Arial"/>
                <a:cs typeface="Arial"/>
              </a:rPr>
              <a:t>PVC</a:t>
            </a:r>
            <a:r>
              <a:rPr dirty="0" sz="700" spc="-30">
                <a:latin typeface="Arial"/>
                <a:cs typeface="Arial"/>
              </a:rPr>
              <a:t> </a:t>
            </a:r>
            <a:r>
              <a:rPr dirty="0" sz="700">
                <a:latin typeface="Batang"/>
                <a:cs typeface="Batang"/>
              </a:rPr>
              <a:t>는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클러스터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간에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동기화되지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않고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 spc="-10">
                <a:latin typeface="Arial"/>
                <a:cs typeface="Arial"/>
              </a:rPr>
              <a:t>PV</a:t>
            </a:r>
            <a:r>
              <a:rPr dirty="0" sz="700" spc="-10">
                <a:latin typeface="Batang"/>
                <a:cs typeface="Batang"/>
              </a:rPr>
              <a:t>에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Arial"/>
                <a:cs typeface="Arial"/>
              </a:rPr>
              <a:t>Annotation</a:t>
            </a:r>
            <a:r>
              <a:rPr dirty="0" sz="700">
                <a:latin typeface="Batang"/>
                <a:cs typeface="Batang"/>
              </a:rPr>
              <a:t>이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설정되므로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이를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바탕으로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사용자가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필요한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 spc="-10">
                <a:latin typeface="Arial"/>
                <a:cs typeface="Arial"/>
              </a:rPr>
              <a:t>PV</a:t>
            </a:r>
            <a:r>
              <a:rPr dirty="0" sz="700" spc="-10">
                <a:latin typeface="Batang"/>
                <a:cs typeface="Batang"/>
              </a:rPr>
              <a:t>를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 spc="-20">
                <a:latin typeface="Arial"/>
                <a:cs typeface="Arial"/>
              </a:rPr>
              <a:t>Fail</a:t>
            </a:r>
            <a:r>
              <a:rPr dirty="0" sz="700" spc="-3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Over</a:t>
            </a:r>
            <a:r>
              <a:rPr dirty="0" sz="700" spc="-25">
                <a:latin typeface="Arial"/>
                <a:cs typeface="Arial"/>
              </a:rPr>
              <a:t> </a:t>
            </a:r>
            <a:r>
              <a:rPr dirty="0" sz="700">
                <a:latin typeface="Batang"/>
                <a:cs typeface="Batang"/>
              </a:rPr>
              <a:t>대상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클러스터에서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 spc="-20">
                <a:latin typeface="Batang"/>
                <a:cs typeface="Batang"/>
              </a:rPr>
              <a:t>생성해🅓 </a:t>
            </a:r>
            <a:r>
              <a:rPr dirty="0" sz="700">
                <a:latin typeface="Batang"/>
                <a:cs typeface="Batang"/>
              </a:rPr>
              <a:t>합니다</a:t>
            </a:r>
            <a:r>
              <a:rPr dirty="0" sz="700">
                <a:latin typeface="Arial"/>
                <a:cs typeface="Arial"/>
              </a:rPr>
              <a:t>.</a:t>
            </a:r>
            <a:r>
              <a:rPr dirty="0" u="sng" sz="70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2"/>
              </a:rPr>
              <a:t>https://dell.github.io/csm-</a:t>
            </a:r>
            <a:r>
              <a:rPr dirty="0" u="sng" sz="700" spc="-10">
                <a:solidFill>
                  <a:srgbClr val="6B9E24"/>
                </a:solidFill>
                <a:uFill>
                  <a:solidFill>
                    <a:srgbClr val="6B9E24"/>
                  </a:solidFill>
                </a:uFill>
                <a:latin typeface="Arial"/>
                <a:cs typeface="Arial"/>
                <a:hlinkClick r:id="rId2"/>
              </a:rPr>
              <a:t>docs/docs/replication/architecture/</a:t>
            </a:r>
            <a:endParaRPr sz="7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spcBef>
                <a:spcPts val="125"/>
              </a:spcBef>
              <a:buFont typeface="Arial"/>
              <a:buAutoNum type="arabicPlain"/>
              <a:tabLst>
                <a:tab pos="151130" algn="l"/>
              </a:tabLst>
            </a:pPr>
            <a:r>
              <a:rPr dirty="0" sz="700">
                <a:latin typeface="Batang"/>
                <a:cs typeface="Batang"/>
              </a:rPr>
              <a:t>명확한</a:t>
            </a:r>
            <a:r>
              <a:rPr dirty="0" sz="700" spc="-8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리스트가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있는것은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아니지만</a:t>
            </a:r>
            <a:r>
              <a:rPr dirty="0" sz="700" spc="-10">
                <a:latin typeface="Arial"/>
                <a:cs typeface="Arial"/>
              </a:rPr>
              <a:t>,</a:t>
            </a:r>
            <a:r>
              <a:rPr dirty="0" sz="700" spc="-25">
                <a:latin typeface="Arial"/>
                <a:cs typeface="Arial"/>
              </a:rPr>
              <a:t> </a:t>
            </a:r>
            <a:r>
              <a:rPr dirty="0" sz="700">
                <a:latin typeface="Batang"/>
                <a:cs typeface="Batang"/>
              </a:rPr>
              <a:t>다른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백업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도구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등을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함께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사용할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경우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Arial"/>
                <a:cs typeface="Arial"/>
              </a:rPr>
              <a:t>DELL</a:t>
            </a:r>
            <a:r>
              <a:rPr dirty="0" sz="700" spc="-3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CSM</a:t>
            </a:r>
            <a:r>
              <a:rPr dirty="0" sz="700" spc="-2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for</a:t>
            </a:r>
            <a:r>
              <a:rPr dirty="0" sz="700" spc="-2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Replication</a:t>
            </a:r>
            <a:r>
              <a:rPr dirty="0" sz="700">
                <a:latin typeface="Batang"/>
                <a:cs typeface="Batang"/>
              </a:rPr>
              <a:t>의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사양을</a:t>
            </a:r>
            <a:r>
              <a:rPr dirty="0" sz="700" spc="-70">
                <a:latin typeface="Batang"/>
                <a:cs typeface="Batang"/>
              </a:rPr>
              <a:t> </a:t>
            </a:r>
            <a:r>
              <a:rPr dirty="0" sz="700" spc="95">
                <a:latin typeface="Batang"/>
                <a:cs typeface="Batang"/>
              </a:rPr>
              <a:t>고려해🅓할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>
                <a:latin typeface="Batang"/>
                <a:cs typeface="Batang"/>
              </a:rPr>
              <a:t>필요가</a:t>
            </a:r>
            <a:r>
              <a:rPr dirty="0" sz="700" spc="-65">
                <a:latin typeface="Batang"/>
                <a:cs typeface="Batang"/>
              </a:rPr>
              <a:t> </a:t>
            </a:r>
            <a:r>
              <a:rPr dirty="0" sz="700" spc="-10">
                <a:latin typeface="Batang"/>
                <a:cs typeface="Batang"/>
              </a:rPr>
              <a:t>있습니다</a:t>
            </a:r>
            <a:r>
              <a:rPr dirty="0" sz="700" spc="-10">
                <a:latin typeface="Arial"/>
                <a:cs typeface="Arial"/>
              </a:rPr>
              <a:t>.</a:t>
            </a:r>
            <a:endParaRPr sz="700">
              <a:latin typeface="Arial"/>
              <a:cs typeface="Arial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327541" y="1023935"/>
          <a:ext cx="8544560" cy="3531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1730"/>
                <a:gridCol w="2490470"/>
                <a:gridCol w="2312035"/>
                <a:gridCol w="2513330"/>
              </a:tblGrid>
              <a:tr h="304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Batang"/>
                          <a:cs typeface="Batang"/>
                        </a:rPr>
                        <a:t>전제</a:t>
                      </a:r>
                      <a:endParaRPr sz="1100">
                        <a:latin typeface="Batang"/>
                        <a:cs typeface="Batang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Batang"/>
                          <a:cs typeface="Batang"/>
                        </a:rPr>
                        <a:t>우위성</a:t>
                      </a:r>
                      <a:endParaRPr sz="1100">
                        <a:latin typeface="Batang"/>
                        <a:cs typeface="Batang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Batang"/>
                          <a:cs typeface="Batang"/>
                        </a:rPr>
                        <a:t>과제</a:t>
                      </a:r>
                      <a:endParaRPr sz="1100">
                        <a:latin typeface="Batang"/>
                        <a:cs typeface="Batang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146113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70">
                          <a:latin typeface="Arial"/>
                          <a:cs typeface="Arial"/>
                        </a:rPr>
                        <a:t>1.</a:t>
                      </a:r>
                      <a:r>
                        <a:rPr dirty="0" sz="11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수동</a:t>
                      </a:r>
                      <a:r>
                        <a:rPr dirty="0" sz="1100" spc="-7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5">
                          <a:latin typeface="Batang"/>
                          <a:cs typeface="Batang"/>
                        </a:rPr>
                        <a:t>작업</a:t>
                      </a:r>
                      <a:endParaRPr sz="1100">
                        <a:latin typeface="Batang"/>
                        <a:cs typeface="Batang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408940" marR="205104" indent="-249554">
                        <a:lnSpc>
                          <a:spcPct val="114999"/>
                        </a:lnSpc>
                        <a:spcBef>
                          <a:spcPts val="280"/>
                        </a:spcBef>
                        <a:buFont typeface="Arial"/>
                        <a:buChar char="●"/>
                        <a:tabLst>
                          <a:tab pos="408940" algn="l"/>
                        </a:tabLst>
                      </a:pPr>
                      <a:r>
                        <a:rPr dirty="0" sz="1100">
                          <a:latin typeface="Batang"/>
                          <a:cs typeface="Batang"/>
                        </a:rPr>
                        <a:t>사용자가</a:t>
                      </a:r>
                      <a:r>
                        <a:rPr dirty="0" sz="1100" spc="-3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각</a:t>
                      </a:r>
                      <a:r>
                        <a:rPr dirty="0" sz="1100" spc="-10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클러스터에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애플리케이션의</a:t>
                      </a:r>
                      <a:r>
                        <a:rPr dirty="0" sz="1100" spc="4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매니페스트를 배포합니다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408940" marR="258445" indent="-249554">
                        <a:lnSpc>
                          <a:spcPct val="114999"/>
                        </a:lnSpc>
                        <a:buFont typeface="Arial"/>
                        <a:buChar char="●"/>
                        <a:tabLst>
                          <a:tab pos="408940" algn="l"/>
                        </a:tabLst>
                      </a:pPr>
                      <a:r>
                        <a:rPr dirty="0" sz="1100">
                          <a:latin typeface="Batang"/>
                          <a:cs typeface="Batang"/>
                        </a:rPr>
                        <a:t>클러스터</a:t>
                      </a:r>
                      <a:r>
                        <a:rPr dirty="0" sz="1100" spc="-1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업그레이드나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Operator</a:t>
                      </a:r>
                      <a:r>
                        <a:rPr dirty="0" sz="11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설치</a:t>
                      </a:r>
                      <a:r>
                        <a:rPr dirty="0" sz="1100" spc="-1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등</a:t>
                      </a:r>
                      <a:r>
                        <a:rPr dirty="0" sz="1100" spc="-4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0">
                          <a:latin typeface="Batang"/>
                          <a:cs typeface="Batang"/>
                        </a:rPr>
                        <a:t>클러스터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관리자의</a:t>
                      </a:r>
                      <a:r>
                        <a:rPr dirty="0" sz="1100" spc="-1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작업도</a:t>
                      </a:r>
                      <a:r>
                        <a:rPr dirty="0" sz="1100" spc="-4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포합됩니다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 marR="356235" indent="-249554">
                        <a:lnSpc>
                          <a:spcPct val="114999"/>
                        </a:lnSpc>
                        <a:spcBef>
                          <a:spcPts val="280"/>
                        </a:spcBef>
                        <a:buChar char="●"/>
                        <a:tabLst>
                          <a:tab pos="409575" algn="l"/>
                        </a:tabLst>
                      </a:pPr>
                      <a:r>
                        <a:rPr dirty="0" sz="1100" spc="-40">
                          <a:latin typeface="Arial"/>
                          <a:cs typeface="Arial"/>
                        </a:rPr>
                        <a:t>RHACM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(Hub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Cluster)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>
                          <a:latin typeface="Batang"/>
                          <a:cs typeface="Batang"/>
                        </a:rPr>
                        <a:t>의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리소스를</a:t>
                      </a:r>
                      <a:r>
                        <a:rPr dirty="0" sz="1100" spc="-3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필요로</a:t>
                      </a:r>
                      <a:r>
                        <a:rPr dirty="0" sz="1100" spc="-5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5">
                          <a:latin typeface="Batang"/>
                          <a:cs typeface="Batang"/>
                        </a:rPr>
                        <a:t>하지 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않습니다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 marR="155575" indent="-249554">
                        <a:lnSpc>
                          <a:spcPct val="114999"/>
                        </a:lnSpc>
                        <a:spcBef>
                          <a:spcPts val="280"/>
                        </a:spcBef>
                        <a:buFont typeface="Arial"/>
                        <a:buChar char="●"/>
                        <a:tabLst>
                          <a:tab pos="409575" algn="l"/>
                        </a:tabLst>
                      </a:pPr>
                      <a:r>
                        <a:rPr dirty="0" sz="1100">
                          <a:latin typeface="Batang"/>
                          <a:cs typeface="Batang"/>
                        </a:rPr>
                        <a:t>양쪽</a:t>
                      </a:r>
                      <a:r>
                        <a:rPr dirty="0" sz="1100" spc="-8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클러스터를</a:t>
                      </a:r>
                      <a:r>
                        <a:rPr dirty="0" sz="1100" spc="-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대상으로</a:t>
                      </a:r>
                      <a:r>
                        <a:rPr dirty="0" sz="1100" spc="-3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5">
                          <a:latin typeface="Batang"/>
                          <a:cs typeface="Batang"/>
                        </a:rPr>
                        <a:t>하기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때문에</a:t>
                      </a:r>
                      <a:r>
                        <a:rPr dirty="0" sz="1100" spc="-5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작업의</a:t>
                      </a:r>
                      <a:r>
                        <a:rPr dirty="0" sz="1100" spc="-5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0">
                          <a:latin typeface="Batang"/>
                          <a:cs typeface="Batang"/>
                        </a:rPr>
                        <a:t>효율성이 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떨어집니다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409575" marR="304800" indent="-249554">
                        <a:lnSpc>
                          <a:spcPct val="114999"/>
                        </a:lnSpc>
                        <a:buFont typeface="Arial"/>
                        <a:buChar char="●"/>
                        <a:tabLst>
                          <a:tab pos="409575" algn="l"/>
                        </a:tabLst>
                      </a:pPr>
                      <a:r>
                        <a:rPr dirty="0" sz="1100">
                          <a:latin typeface="Batang"/>
                          <a:cs typeface="Batang"/>
                        </a:rPr>
                        <a:t>운영</a:t>
                      </a:r>
                      <a:r>
                        <a:rPr dirty="0" sz="1100" spc="-8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실수</a:t>
                      </a:r>
                      <a:r>
                        <a:rPr dirty="0" sz="1100" spc="-8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등으로</a:t>
                      </a:r>
                      <a:r>
                        <a:rPr dirty="0" sz="1100" spc="-5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5">
                          <a:latin typeface="Batang"/>
                          <a:cs typeface="Batang"/>
                        </a:rPr>
                        <a:t>설정이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배포되지</a:t>
                      </a:r>
                      <a:r>
                        <a:rPr dirty="0" sz="1100" spc="-3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않을</a:t>
                      </a:r>
                      <a:r>
                        <a:rPr dirty="0" sz="1100" spc="-8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경우</a:t>
                      </a:r>
                      <a:r>
                        <a:rPr dirty="0" sz="1100" spc="-8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0">
                          <a:latin typeface="Batang"/>
                          <a:cs typeface="Batang"/>
                        </a:rPr>
                        <a:t>클러스터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간에</a:t>
                      </a:r>
                      <a:r>
                        <a:rPr dirty="0" sz="1100" spc="-8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차이가</a:t>
                      </a:r>
                      <a:r>
                        <a:rPr dirty="0" sz="1100" spc="-5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발생합니다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.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(Configuration)</a:t>
                      </a:r>
                      <a:r>
                        <a:rPr dirty="0" sz="1100" spc="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[1]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9024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70">
                          <a:latin typeface="Arial"/>
                          <a:cs typeface="Arial"/>
                        </a:rPr>
                        <a:t>1.</a:t>
                      </a:r>
                      <a:r>
                        <a:rPr dirty="0" sz="11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RHACM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6675" marR="497205">
                        <a:lnSpc>
                          <a:spcPct val="114999"/>
                        </a:lnSpc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GitOps Operator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408940" marR="205104" indent="-249554">
                        <a:lnSpc>
                          <a:spcPct val="114999"/>
                        </a:lnSpc>
                        <a:spcBef>
                          <a:spcPts val="280"/>
                        </a:spcBef>
                        <a:buChar char="●"/>
                        <a:tabLst>
                          <a:tab pos="408940" algn="l"/>
                        </a:tabLst>
                      </a:pPr>
                      <a:r>
                        <a:rPr dirty="0" sz="1100" spc="-40">
                          <a:latin typeface="Arial"/>
                          <a:cs typeface="Arial"/>
                        </a:rPr>
                        <a:t>RHACM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GitOps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를</a:t>
                      </a:r>
                      <a:r>
                        <a:rPr dirty="0" sz="1100" spc="-5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5">
                          <a:latin typeface="Batang"/>
                          <a:cs typeface="Batang"/>
                        </a:rPr>
                        <a:t>통해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애플리케이션의</a:t>
                      </a:r>
                      <a:r>
                        <a:rPr dirty="0" sz="1100" spc="4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매니페스트를 배포합니다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 marR="132715" indent="-249554">
                        <a:lnSpc>
                          <a:spcPct val="114999"/>
                        </a:lnSpc>
                        <a:spcBef>
                          <a:spcPts val="280"/>
                        </a:spcBef>
                        <a:buFont typeface="Arial"/>
                        <a:buChar char="●"/>
                        <a:tabLst>
                          <a:tab pos="409575" algn="l"/>
                        </a:tabLst>
                      </a:pPr>
                      <a:r>
                        <a:rPr dirty="0" sz="1100">
                          <a:latin typeface="Batang"/>
                          <a:cs typeface="Batang"/>
                        </a:rPr>
                        <a:t>수동작업으로</a:t>
                      </a:r>
                      <a:r>
                        <a:rPr dirty="0" sz="1100" spc="2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인한</a:t>
                      </a:r>
                      <a:r>
                        <a:rPr dirty="0" sz="1100" spc="-8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0">
                          <a:latin typeface="Batang"/>
                          <a:cs typeface="Batang"/>
                        </a:rPr>
                        <a:t>복잡성이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제거되어</a:t>
                      </a:r>
                      <a:r>
                        <a:rPr dirty="0" sz="1100" spc="-3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운영</a:t>
                      </a:r>
                      <a:r>
                        <a:rPr dirty="0" sz="1100" spc="-8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0">
                          <a:latin typeface="Batang"/>
                          <a:cs typeface="Batang"/>
                        </a:rPr>
                        <a:t>효율성이 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향상됩니다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 marR="557530" indent="-249554">
                        <a:lnSpc>
                          <a:spcPct val="114999"/>
                        </a:lnSpc>
                        <a:spcBef>
                          <a:spcPts val="280"/>
                        </a:spcBef>
                        <a:buChar char="●"/>
                        <a:tabLst>
                          <a:tab pos="409575" algn="l"/>
                        </a:tabLst>
                      </a:pPr>
                      <a:r>
                        <a:rPr dirty="0" sz="1100" spc="-40">
                          <a:latin typeface="Arial"/>
                          <a:cs typeface="Arial"/>
                        </a:rPr>
                        <a:t>RHACM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(Hub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Cluster)</a:t>
                      </a:r>
                      <a:r>
                        <a:rPr dirty="0" sz="11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>
                          <a:latin typeface="Batang"/>
                          <a:cs typeface="Batang"/>
                        </a:rPr>
                        <a:t>의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리소스가</a:t>
                      </a:r>
                      <a:r>
                        <a:rPr dirty="0" sz="1100" spc="-3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필요합니다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107569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80">
                          <a:latin typeface="Arial"/>
                          <a:cs typeface="Arial"/>
                        </a:rPr>
                        <a:t>2-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3.</a:t>
                      </a:r>
                      <a:r>
                        <a:rPr dirty="0" sz="11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DELL</a:t>
                      </a:r>
                      <a:r>
                        <a:rPr dirty="0" sz="11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CSM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1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Replication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408940" marR="381000" indent="-249554">
                        <a:lnSpc>
                          <a:spcPct val="114999"/>
                        </a:lnSpc>
                        <a:spcBef>
                          <a:spcPts val="280"/>
                        </a:spcBef>
                        <a:buChar char="●"/>
                        <a:tabLst>
                          <a:tab pos="408940" algn="l"/>
                        </a:tabLst>
                      </a:pPr>
                      <a:r>
                        <a:rPr dirty="0" sz="1100" spc="-30">
                          <a:latin typeface="Arial"/>
                          <a:cs typeface="Arial"/>
                        </a:rPr>
                        <a:t>PV</a:t>
                      </a:r>
                      <a:r>
                        <a:rPr dirty="0" sz="11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오브젝트와</a:t>
                      </a:r>
                      <a:r>
                        <a:rPr dirty="0" sz="1100" spc="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영구</a:t>
                      </a:r>
                      <a:r>
                        <a:rPr dirty="0" sz="1100" spc="-7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5">
                          <a:latin typeface="Batang"/>
                          <a:cs typeface="Batang"/>
                        </a:rPr>
                        <a:t>볼륨을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동기화</a:t>
                      </a:r>
                      <a:r>
                        <a:rPr dirty="0" sz="1100" spc="-5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0">
                          <a:latin typeface="Batang"/>
                          <a:cs typeface="Batang"/>
                        </a:rPr>
                        <a:t>합니다</a:t>
                      </a:r>
                      <a:r>
                        <a:rPr dirty="0" sz="1100" spc="-2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408940" marR="60960" indent="-249554">
                        <a:lnSpc>
                          <a:spcPct val="114999"/>
                        </a:lnSpc>
                        <a:buFont typeface="Arial"/>
                        <a:buChar char="●"/>
                        <a:tabLst>
                          <a:tab pos="408940" algn="l"/>
                        </a:tabLst>
                      </a:pPr>
                      <a:r>
                        <a:rPr dirty="0" sz="1100">
                          <a:latin typeface="Batang"/>
                          <a:cs typeface="Batang"/>
                        </a:rPr>
                        <a:t>동기화</a:t>
                      </a:r>
                      <a:r>
                        <a:rPr dirty="0" sz="1100" spc="-5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간격이나</a:t>
                      </a:r>
                      <a:r>
                        <a:rPr dirty="0" sz="1100" spc="-3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스토리지</a:t>
                      </a:r>
                      <a:r>
                        <a:rPr dirty="0" sz="1100" spc="-3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5">
                          <a:latin typeface="Batang"/>
                          <a:cs typeface="Batang"/>
                        </a:rPr>
                        <a:t>간의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지연</a:t>
                      </a:r>
                      <a:r>
                        <a:rPr dirty="0" sz="1100" spc="-8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시간</a:t>
                      </a:r>
                      <a:r>
                        <a:rPr dirty="0" sz="1100" spc="-8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등</a:t>
                      </a:r>
                      <a:r>
                        <a:rPr dirty="0" sz="1100" spc="-10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사양을</a:t>
                      </a:r>
                      <a:r>
                        <a:rPr dirty="0" sz="1100" spc="-5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확인합니다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 marR="226695" indent="-249554">
                        <a:lnSpc>
                          <a:spcPct val="114999"/>
                        </a:lnSpc>
                        <a:spcBef>
                          <a:spcPts val="280"/>
                        </a:spcBef>
                        <a:buChar char="●"/>
                        <a:tabLst>
                          <a:tab pos="409575" algn="l"/>
                        </a:tabLst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OpenShift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와</a:t>
                      </a:r>
                      <a:r>
                        <a:rPr dirty="0" sz="1100" spc="4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Kubernetes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를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지원하기</a:t>
                      </a:r>
                      <a:r>
                        <a:rPr dirty="0" sz="1100" spc="-3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때문에</a:t>
                      </a:r>
                      <a:r>
                        <a:rPr dirty="0" sz="1100" spc="-5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0">
                          <a:latin typeface="Batang"/>
                          <a:cs typeface="Batang"/>
                        </a:rPr>
                        <a:t>스토리지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계층뿐만</a:t>
                      </a:r>
                      <a:r>
                        <a:rPr dirty="0" sz="1100" spc="-3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아니라</a:t>
                      </a:r>
                      <a:r>
                        <a:rPr dirty="0" sz="1100" spc="-5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5">
                          <a:latin typeface="Arial"/>
                          <a:cs typeface="Arial"/>
                        </a:rPr>
                        <a:t>PV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오브젝트의</a:t>
                      </a:r>
                      <a:r>
                        <a:rPr dirty="0" sz="1100" spc="-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0">
                          <a:latin typeface="Batang"/>
                          <a:cs typeface="Batang"/>
                        </a:rPr>
                        <a:t>동기화도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지원합니다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1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40">
                          <a:latin typeface="Arial"/>
                          <a:cs typeface="Arial"/>
                        </a:rPr>
                        <a:t>[2]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 marR="342265" indent="-249554">
                        <a:lnSpc>
                          <a:spcPct val="114999"/>
                        </a:lnSpc>
                        <a:spcBef>
                          <a:spcPts val="280"/>
                        </a:spcBef>
                        <a:buChar char="●"/>
                        <a:tabLst>
                          <a:tab pos="409575" algn="l"/>
                        </a:tabLst>
                      </a:pPr>
                      <a:r>
                        <a:rPr dirty="0" sz="1100" spc="-20">
                          <a:latin typeface="Arial"/>
                          <a:cs typeface="Arial"/>
                        </a:rPr>
                        <a:t>OADP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Operator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등을 </a:t>
                      </a:r>
                      <a:r>
                        <a:rPr dirty="0" sz="1100" spc="-25">
                          <a:latin typeface="Batang"/>
                          <a:cs typeface="Batang"/>
                        </a:rPr>
                        <a:t>백업에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함께</a:t>
                      </a:r>
                      <a:r>
                        <a:rPr dirty="0" sz="1100" spc="-7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사용할</a:t>
                      </a:r>
                      <a:r>
                        <a:rPr dirty="0" sz="1100" spc="-4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경우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1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latin typeface="Batang"/>
                          <a:cs typeface="Batang"/>
                        </a:rPr>
                        <a:t>사용자의 </a:t>
                      </a:r>
                      <a:r>
                        <a:rPr dirty="0" sz="1100" spc="-10">
                          <a:latin typeface="Arial"/>
                          <a:cs typeface="Arial"/>
                        </a:rPr>
                        <a:t>Namespace</a:t>
                      </a:r>
                      <a:r>
                        <a:rPr dirty="0" sz="1100" spc="-10">
                          <a:latin typeface="Batang"/>
                          <a:cs typeface="Batang"/>
                        </a:rPr>
                        <a:t>만으로</a:t>
                      </a:r>
                      <a:r>
                        <a:rPr dirty="0" sz="1100" spc="-5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 spc="-20">
                          <a:latin typeface="Batang"/>
                          <a:cs typeface="Batang"/>
                        </a:rPr>
                        <a:t>제한하는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등의</a:t>
                      </a:r>
                      <a:r>
                        <a:rPr dirty="0" sz="1100" spc="-50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검토가</a:t>
                      </a:r>
                      <a:r>
                        <a:rPr dirty="0" sz="1100" spc="-15">
                          <a:latin typeface="Batang"/>
                          <a:cs typeface="Batang"/>
                        </a:rPr>
                        <a:t> </a:t>
                      </a:r>
                      <a:r>
                        <a:rPr dirty="0" sz="1100">
                          <a:latin typeface="Batang"/>
                          <a:cs typeface="Batang"/>
                        </a:rPr>
                        <a:t>필요합니다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1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40">
                          <a:latin typeface="Arial"/>
                          <a:cs typeface="Arial"/>
                        </a:rPr>
                        <a:t>[3]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811241" y="776985"/>
            <a:ext cx="58674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1620" indent="-24892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261620" algn="l"/>
              </a:tabLst>
            </a:pPr>
            <a:r>
              <a:rPr dirty="0" sz="1100">
                <a:latin typeface="Batang"/>
                <a:cs typeface="Batang"/>
              </a:rPr>
              <a:t>조합에</a:t>
            </a:r>
            <a:r>
              <a:rPr dirty="0" sz="1100" spc="-3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따라</a:t>
            </a:r>
            <a:r>
              <a:rPr dirty="0" sz="1100" spc="-55">
                <a:latin typeface="Batang"/>
                <a:cs typeface="Batang"/>
              </a:rPr>
              <a:t> </a:t>
            </a:r>
            <a:r>
              <a:rPr dirty="0" sz="1100" spc="-35">
                <a:latin typeface="Arial"/>
                <a:cs typeface="Arial"/>
              </a:rPr>
              <a:t>Fail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Over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대상에</a:t>
            </a:r>
            <a:r>
              <a:rPr dirty="0" sz="1100" spc="-30">
                <a:latin typeface="Batang"/>
                <a:cs typeface="Batang"/>
              </a:rPr>
              <a:t> </a:t>
            </a:r>
            <a:r>
              <a:rPr dirty="0" sz="1100" spc="-20">
                <a:latin typeface="Arial"/>
                <a:cs typeface="Arial"/>
              </a:rPr>
              <a:t>API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Batang"/>
                <a:cs typeface="Batang"/>
              </a:rPr>
              <a:t>오브젝트를</a:t>
            </a:r>
            <a:r>
              <a:rPr dirty="0" sz="1100" spc="20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복원할</a:t>
            </a:r>
            <a:r>
              <a:rPr dirty="0" sz="1100" spc="-3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때</a:t>
            </a:r>
            <a:r>
              <a:rPr dirty="0" sz="1100" spc="-8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제약이</a:t>
            </a:r>
            <a:r>
              <a:rPr dirty="0" sz="1100" spc="-3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발생할</a:t>
            </a:r>
            <a:r>
              <a:rPr dirty="0" sz="1100" spc="-35">
                <a:latin typeface="Batang"/>
                <a:cs typeface="Batang"/>
              </a:rPr>
              <a:t> </a:t>
            </a:r>
            <a:r>
              <a:rPr dirty="0" sz="1100">
                <a:latin typeface="Batang"/>
                <a:cs typeface="Batang"/>
              </a:rPr>
              <a:t>가능성이</a:t>
            </a:r>
            <a:r>
              <a:rPr dirty="0" sz="1100" spc="-10">
                <a:latin typeface="Batang"/>
                <a:cs typeface="Batang"/>
              </a:rPr>
              <a:t> 있습니다</a:t>
            </a:r>
            <a:r>
              <a:rPr dirty="0" sz="1100" spc="-1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3981" cy="514348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0134" y="4652990"/>
              <a:ext cx="1185197" cy="2795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4838" y="2651994"/>
              <a:ext cx="341961" cy="34194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34838" y="2075928"/>
              <a:ext cx="341961" cy="34196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4838" y="1499872"/>
              <a:ext cx="341961" cy="34196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4838" y="3228043"/>
              <a:ext cx="341961" cy="34194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6024318" y="1568761"/>
            <a:ext cx="18859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linkedin.com/company/red-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hat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24318" y="2144794"/>
            <a:ext cx="20701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youtube.com/user/RedHatVideos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024318" y="2720827"/>
            <a:ext cx="15087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facebook.com/redhatinc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24318" y="3296869"/>
            <a:ext cx="12045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twitter.com/RedHat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35824" y="-36"/>
            <a:ext cx="0" cy="5144135"/>
          </a:xfrm>
          <a:custGeom>
            <a:avLst/>
            <a:gdLst/>
            <a:ahLst/>
            <a:cxnLst/>
            <a:rect l="l" t="t" r="r" b="b"/>
            <a:pathLst>
              <a:path w="0" h="5144135">
                <a:moveTo>
                  <a:pt x="4" y="1712096"/>
                </a:moveTo>
                <a:lnTo>
                  <a:pt x="4" y="0"/>
                </a:lnTo>
              </a:path>
              <a:path w="0" h="5144135">
                <a:moveTo>
                  <a:pt x="0" y="5143526"/>
                </a:moveTo>
                <a:lnTo>
                  <a:pt x="0" y="4800927"/>
                </a:lnTo>
              </a:path>
            </a:pathLst>
          </a:custGeom>
          <a:ln w="9524">
            <a:solidFill>
              <a:srgbClr val="ED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550092" y="2238027"/>
            <a:ext cx="32277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Red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Hat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world’s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leading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provider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50092" y="2539778"/>
            <a:ext cx="29330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open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solutions.</a:t>
            </a:r>
            <a:r>
              <a:rPr dirty="0" sz="11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Award-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winning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550092" y="2841530"/>
            <a:ext cx="2934970" cy="49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support,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training,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consulting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make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Red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Hat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trusted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adviser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Fortune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500.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550206" y="1068317"/>
            <a:ext cx="3168015" cy="8331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300">
                <a:solidFill>
                  <a:srgbClr val="FFFFFF"/>
                </a:solidFill>
              </a:rPr>
              <a:t>Thank</a:t>
            </a:r>
            <a:r>
              <a:rPr dirty="0" sz="5300" spc="-155">
                <a:solidFill>
                  <a:srgbClr val="FFFFFF"/>
                </a:solidFill>
              </a:rPr>
              <a:t> </a:t>
            </a:r>
            <a:r>
              <a:rPr dirty="0" sz="5300" spc="-25">
                <a:solidFill>
                  <a:srgbClr val="FFFFFF"/>
                </a:solidFill>
              </a:rPr>
              <a:t>you</a:t>
            </a:r>
            <a:endParaRPr sz="5300"/>
          </a:p>
        </p:txBody>
      </p:sp>
      <p:sp>
        <p:nvSpPr>
          <p:cNvPr id="18" name="object 18" descr=""/>
          <p:cNvSpPr txBox="1"/>
          <p:nvPr/>
        </p:nvSpPr>
        <p:spPr>
          <a:xfrm>
            <a:off x="280751" y="4627671"/>
            <a:ext cx="110489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Arial"/>
                <a:cs typeface="Arial"/>
              </a:rPr>
              <a:t>18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Hat OpenShift DR 구성 방안_20250307.pptx</dc:title>
  <dcterms:created xsi:type="dcterms:W3CDTF">2025-05-22T07:27:03Z</dcterms:created>
  <dcterms:modified xsi:type="dcterms:W3CDTF">2025-05-22T07:27:03Z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2025-05-22T00:00:00Z</vt:filetime>
  </property>
  <property fmtid="{D5CDD505-2E9C-101B-9397-08002B2CF9AE}" pid="5" name="Producer">
    <vt:lpwstr>3-Heights(TM) PDF Security Shell 4.8.25.2 (http://www.pdf-tools.com)</vt:lpwstr>
  </property>
</Properties>
</file>